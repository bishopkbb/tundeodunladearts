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8"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9"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50021"/>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4997" autoAdjust="0"/>
    <p:restoredTop sz="94660"/>
  </p:normalViewPr>
  <p:slideViewPr>
    <p:cSldViewPr snapToGrid="0">
      <p:cViewPr>
        <p:scale>
          <a:sx n="80" d="100"/>
          <a:sy n="80" d="100"/>
        </p:scale>
        <p:origin x="-782" y="-230"/>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EC948E25-0857-4C90-BD75-1CF377C242AF}" type="datetimeFigureOut">
              <a:rPr lang="en-US" smtClean="0"/>
              <a:pPr/>
              <a:t>7/28/2024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1E8451-B048-438B-BDB0-64E1C22DA2F3}" type="slidenum">
              <a:rPr lang="en-US" smtClean="0"/>
              <a:pPr/>
              <a:t>‹#›</a:t>
            </a:fld>
            <a:endParaRPr lang="en-US"/>
          </a:p>
        </p:txBody>
      </p:sp>
    </p:spTree>
    <p:extLst>
      <p:ext uri="{BB962C8B-B14F-4D97-AF65-F5344CB8AC3E}">
        <p14:creationId xmlns:p14="http://schemas.microsoft.com/office/powerpoint/2010/main" xmlns="" val="18459477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C948E25-0857-4C90-BD75-1CF377C242AF}" type="datetimeFigureOut">
              <a:rPr lang="en-US" smtClean="0"/>
              <a:pPr/>
              <a:t>7/28/2024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1E8451-B048-438B-BDB0-64E1C22DA2F3}" type="slidenum">
              <a:rPr lang="en-US" smtClean="0"/>
              <a:pPr/>
              <a:t>‹#›</a:t>
            </a:fld>
            <a:endParaRPr lang="en-US"/>
          </a:p>
        </p:txBody>
      </p:sp>
    </p:spTree>
    <p:extLst>
      <p:ext uri="{BB962C8B-B14F-4D97-AF65-F5344CB8AC3E}">
        <p14:creationId xmlns:p14="http://schemas.microsoft.com/office/powerpoint/2010/main" xmlns="" val="42742982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EC948E25-0857-4C90-BD75-1CF377C242AF}" type="datetimeFigureOut">
              <a:rPr lang="en-US" smtClean="0"/>
              <a:pPr/>
              <a:t>7/28/2024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1E8451-B048-438B-BDB0-64E1C22DA2F3}" type="slidenum">
              <a:rPr lang="en-US" smtClean="0"/>
              <a:pPr/>
              <a:t>‹#›</a:t>
            </a:fld>
            <a:endParaRPr lang="en-US"/>
          </a:p>
        </p:txBody>
      </p:sp>
    </p:spTree>
    <p:extLst>
      <p:ext uri="{BB962C8B-B14F-4D97-AF65-F5344CB8AC3E}">
        <p14:creationId xmlns:p14="http://schemas.microsoft.com/office/powerpoint/2010/main" xmlns="" val="13939723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EC948E25-0857-4C90-BD75-1CF377C242AF}" type="datetimeFigureOut">
              <a:rPr lang="en-US" smtClean="0"/>
              <a:pPr/>
              <a:t>7/28/2024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1E8451-B048-438B-BDB0-64E1C22DA2F3}" type="slidenum">
              <a:rPr lang="en-US" smtClean="0"/>
              <a:pPr/>
              <a:t>‹#›</a:t>
            </a:fld>
            <a:endParaRPr lang="en-US"/>
          </a:p>
        </p:txBody>
      </p:sp>
    </p:spTree>
    <p:extLst>
      <p:ext uri="{BB962C8B-B14F-4D97-AF65-F5344CB8AC3E}">
        <p14:creationId xmlns:p14="http://schemas.microsoft.com/office/powerpoint/2010/main" xmlns="" val="12144050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EC948E25-0857-4C90-BD75-1CF377C242AF}" type="datetimeFigureOut">
              <a:rPr lang="en-US" smtClean="0"/>
              <a:pPr/>
              <a:t>7/28/2024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01E8451-B048-438B-BDB0-64E1C22DA2F3}" type="slidenum">
              <a:rPr lang="en-US" smtClean="0"/>
              <a:pPr/>
              <a:t>‹#›</a:t>
            </a:fld>
            <a:endParaRPr lang="en-US"/>
          </a:p>
        </p:txBody>
      </p:sp>
    </p:spTree>
    <p:extLst>
      <p:ext uri="{BB962C8B-B14F-4D97-AF65-F5344CB8AC3E}">
        <p14:creationId xmlns:p14="http://schemas.microsoft.com/office/powerpoint/2010/main" xmlns="" val="24749286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C948E25-0857-4C90-BD75-1CF377C242AF}" type="datetimeFigureOut">
              <a:rPr lang="en-US" smtClean="0"/>
              <a:pPr/>
              <a:t>7/28/2024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01E8451-B048-438B-BDB0-64E1C22DA2F3}" type="slidenum">
              <a:rPr lang="en-US" smtClean="0"/>
              <a:pPr/>
              <a:t>‹#›</a:t>
            </a:fld>
            <a:endParaRPr lang="en-US"/>
          </a:p>
        </p:txBody>
      </p:sp>
    </p:spTree>
    <p:extLst>
      <p:ext uri="{BB962C8B-B14F-4D97-AF65-F5344CB8AC3E}">
        <p14:creationId xmlns:p14="http://schemas.microsoft.com/office/powerpoint/2010/main" xmlns="" val="27533172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C948E25-0857-4C90-BD75-1CF377C242AF}" type="datetimeFigureOut">
              <a:rPr lang="en-US" smtClean="0"/>
              <a:pPr/>
              <a:t>7/28/2024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01E8451-B048-438B-BDB0-64E1C22DA2F3}" type="slidenum">
              <a:rPr lang="en-US" smtClean="0"/>
              <a:pPr/>
              <a:t>‹#›</a:t>
            </a:fld>
            <a:endParaRPr lang="en-US"/>
          </a:p>
        </p:txBody>
      </p:sp>
    </p:spTree>
    <p:extLst>
      <p:ext uri="{BB962C8B-B14F-4D97-AF65-F5344CB8AC3E}">
        <p14:creationId xmlns:p14="http://schemas.microsoft.com/office/powerpoint/2010/main" xmlns="" val="21052735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EC948E25-0857-4C90-BD75-1CF377C242AF}" type="datetimeFigureOut">
              <a:rPr lang="en-US" smtClean="0"/>
              <a:pPr/>
              <a:t>7/28/2024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1E8451-B048-438B-BDB0-64E1C22DA2F3}" type="slidenum">
              <a:rPr lang="en-US" smtClean="0"/>
              <a:pPr/>
              <a:t>‹#›</a:t>
            </a:fld>
            <a:endParaRPr lang="en-US"/>
          </a:p>
        </p:txBody>
      </p:sp>
    </p:spTree>
    <p:extLst>
      <p:ext uri="{BB962C8B-B14F-4D97-AF65-F5344CB8AC3E}">
        <p14:creationId xmlns:p14="http://schemas.microsoft.com/office/powerpoint/2010/main" xmlns="" val="25090623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EC948E25-0857-4C90-BD75-1CF377C242AF}" type="datetimeFigureOut">
              <a:rPr lang="en-US" smtClean="0"/>
              <a:pPr/>
              <a:t>7/28/2024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1E8451-B048-438B-BDB0-64E1C22DA2F3}" type="slidenum">
              <a:rPr lang="en-US" smtClean="0"/>
              <a:pPr/>
              <a:t>‹#›</a:t>
            </a:fld>
            <a:endParaRPr lang="en-US"/>
          </a:p>
        </p:txBody>
      </p:sp>
    </p:spTree>
    <p:extLst>
      <p:ext uri="{BB962C8B-B14F-4D97-AF65-F5344CB8AC3E}">
        <p14:creationId xmlns:p14="http://schemas.microsoft.com/office/powerpoint/2010/main" xmlns="" val="16217968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C948E25-0857-4C90-BD75-1CF377C242AF}" type="datetimeFigureOut">
              <a:rPr lang="en-US" smtClean="0"/>
              <a:pPr/>
              <a:t>7/28/2024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1E8451-B048-438B-BDB0-64E1C22DA2F3}" type="slidenum">
              <a:rPr lang="en-US" smtClean="0"/>
              <a:pPr/>
              <a:t>‹#›</a:t>
            </a:fld>
            <a:endParaRPr lang="en-US"/>
          </a:p>
        </p:txBody>
      </p:sp>
    </p:spTree>
    <p:extLst>
      <p:ext uri="{BB962C8B-B14F-4D97-AF65-F5344CB8AC3E}">
        <p14:creationId xmlns:p14="http://schemas.microsoft.com/office/powerpoint/2010/main" xmlns="" val="42512503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C948E25-0857-4C90-BD75-1CF377C242AF}" type="datetimeFigureOut">
              <a:rPr lang="en-US" smtClean="0"/>
              <a:pPr/>
              <a:t>7/28/2024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1E8451-B048-438B-BDB0-64E1C22DA2F3}" type="slidenum">
              <a:rPr lang="en-US" smtClean="0"/>
              <a:pPr/>
              <a:t>‹#›</a:t>
            </a:fld>
            <a:endParaRPr lang="en-US"/>
          </a:p>
        </p:txBody>
      </p:sp>
    </p:spTree>
    <p:extLst>
      <p:ext uri="{BB962C8B-B14F-4D97-AF65-F5344CB8AC3E}">
        <p14:creationId xmlns:p14="http://schemas.microsoft.com/office/powerpoint/2010/main" xmlns="" val="24254642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948E25-0857-4C90-BD75-1CF377C242AF}" type="datetimeFigureOut">
              <a:rPr lang="en-US" smtClean="0"/>
              <a:pPr/>
              <a:t>7/28/2024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1E8451-B048-438B-BDB0-64E1C22DA2F3}" type="slidenum">
              <a:rPr lang="en-US" smtClean="0"/>
              <a:pPr/>
              <a:t>‹#›</a:t>
            </a:fld>
            <a:endParaRPr lang="en-US"/>
          </a:p>
        </p:txBody>
      </p:sp>
    </p:spTree>
    <p:extLst>
      <p:ext uri="{BB962C8B-B14F-4D97-AF65-F5344CB8AC3E}">
        <p14:creationId xmlns:p14="http://schemas.microsoft.com/office/powerpoint/2010/main" xmlns="" val="24067678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s://tundeodunladeblog.files.wordpress.com/2014/05/1-2013-11-03-15-13-101.jpg" TargetMode="Externa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8.xml"/><Relationship Id="rId4" Type="http://schemas.openxmlformats.org/officeDocument/2006/relationships/image" Target="../media/image9.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787" y="292608"/>
            <a:ext cx="3679961" cy="1664208"/>
          </a:xfrm>
        </p:spPr>
        <p:txBody>
          <a:bodyPr>
            <a:normAutofit fontScale="90000"/>
          </a:bodyPr>
          <a:lstStyle/>
          <a:p>
            <a:r>
              <a:rPr lang="en-US" b="1" dirty="0" smtClean="0"/>
              <a:t>TUNDE ODUNLADE</a:t>
            </a:r>
            <a:r>
              <a:rPr lang="en-US" dirty="0"/>
              <a:t/>
            </a:r>
            <a:br>
              <a:rPr lang="en-US" dirty="0"/>
            </a:br>
            <a:r>
              <a:rPr lang="en-US" dirty="0" smtClean="0"/>
              <a:t/>
            </a:r>
            <a:br>
              <a:rPr lang="en-US" dirty="0" smtClean="0"/>
            </a:br>
            <a:r>
              <a:rPr lang="en-US" dirty="0" smtClean="0">
                <a:latin typeface="Tempus Sans ITC" panose="04020404030D07020202" pitchFamily="82" charset="0"/>
              </a:rPr>
              <a:t>Nigerian Artist And Musician</a:t>
            </a:r>
            <a:endParaRPr lang="en-US" dirty="0">
              <a:latin typeface="Tempus Sans ITC" panose="04020404030D07020202" pitchFamily="82" charset="0"/>
            </a:endParaRPr>
          </a:p>
        </p:txBody>
      </p:sp>
      <p:sp>
        <p:nvSpPr>
          <p:cNvPr id="3" name="Content Placeholder 2"/>
          <p:cNvSpPr>
            <a:spLocks noGrp="1"/>
          </p:cNvSpPr>
          <p:nvPr>
            <p:ph idx="1"/>
          </p:nvPr>
        </p:nvSpPr>
        <p:spPr>
          <a:xfrm>
            <a:off x="4848932" y="292608"/>
            <a:ext cx="7221147" cy="6385125"/>
          </a:xfrm>
        </p:spPr>
        <p:txBody>
          <a:bodyPr>
            <a:noAutofit/>
          </a:bodyPr>
          <a:lstStyle/>
          <a:p>
            <a:pPr marL="0" indent="0" algn="just">
              <a:buNone/>
            </a:pPr>
            <a:r>
              <a:rPr lang="en-US" sz="1100" dirty="0" smtClean="0"/>
              <a:t>Tunde Odunlade is a print and textile artist who has exhibited, taught, lectured, studied and traveled extensively within Nigeria and throughout Africa, North America, and Europe. In addition, he has performed as an actor with the Nigerian National Troop and various other theatrical organizations, and has recorded several CDs that integrate poetry and music. He lives in Ibadan, in the southwestern part of Nigeria.</a:t>
            </a:r>
          </a:p>
          <a:p>
            <a:pPr marL="0" indent="0" algn="just">
              <a:buNone/>
            </a:pPr>
            <a:r>
              <a:rPr lang="en-US" sz="1100" dirty="0" smtClean="0"/>
              <a:t>His art has been displayed in dozens of one-man and group shows. His work is in the collections of institutions including the Smithsonian Museum of African Art and the World Bank Headquarters in Washington, D.C., the Victoria and Albert Museum in London, the MacArthur Foundation Collection in Chicago, and the State House in Lagos, Nigeria. His work is also in the collections of many private individuals in the North America, Europe, and Nigeria.</a:t>
            </a:r>
          </a:p>
          <a:p>
            <a:pPr marL="0" indent="0" algn="just">
              <a:buNone/>
            </a:pPr>
            <a:r>
              <a:rPr lang="en-US" sz="1100" dirty="0" smtClean="0"/>
              <a:t>In the early 1970’s Tunde studied with </a:t>
            </a:r>
            <a:r>
              <a:rPr lang="en-US" sz="1100" dirty="0" err="1" smtClean="0"/>
              <a:t>Yinka</a:t>
            </a:r>
            <a:r>
              <a:rPr lang="en-US" sz="1100" dirty="0" smtClean="0"/>
              <a:t> </a:t>
            </a:r>
            <a:r>
              <a:rPr lang="en-US" sz="1100" dirty="0" err="1" smtClean="0"/>
              <a:t>Adeyemi</a:t>
            </a:r>
            <a:r>
              <a:rPr lang="en-US" sz="1100" dirty="0" smtClean="0"/>
              <a:t>, a member of the Oshogbo school of art that was largely responsible for the explosion of creative contemporary art emanating from Nigeria, and at the </a:t>
            </a:r>
            <a:r>
              <a:rPr lang="en-US" sz="1100" dirty="0" err="1" smtClean="0"/>
              <a:t>Oguntimehin</a:t>
            </a:r>
            <a:r>
              <a:rPr lang="en-US" sz="1100" dirty="0" smtClean="0"/>
              <a:t> Art Workshop under the auspices of Obafemi </a:t>
            </a:r>
            <a:r>
              <a:rPr lang="en-US" sz="1100" dirty="0" err="1" smtClean="0"/>
              <a:t>Awolowo</a:t>
            </a:r>
            <a:r>
              <a:rPr lang="en-US" sz="1100" dirty="0" smtClean="0"/>
              <a:t> University in Ile-Ife.</a:t>
            </a:r>
          </a:p>
          <a:p>
            <a:pPr marL="0" indent="0" algn="just">
              <a:buNone/>
            </a:pPr>
            <a:r>
              <a:rPr lang="en-US" sz="1100" dirty="0" smtClean="0"/>
              <a:t>Tunde’s art uses both contemporary and traditional techniques. For example, he developed a unique batik appliqué process that builds on traditional textile print techniques to create wall hangings with unusual depth and texture. His favored technique for making prints is linocuts. Recently, he developed a new style he calls “</a:t>
            </a:r>
            <a:r>
              <a:rPr lang="en-US" sz="1100" dirty="0" err="1" smtClean="0"/>
              <a:t>floatograph</a:t>
            </a:r>
            <a:r>
              <a:rPr lang="en-US" sz="1100" dirty="0" smtClean="0"/>
              <a:t>” that combines the techniques of marbleizing, calligraphy, and batik to create organic abstractions.</a:t>
            </a:r>
          </a:p>
          <a:p>
            <a:pPr marL="0" indent="0" algn="just">
              <a:buNone/>
            </a:pPr>
            <a:r>
              <a:rPr lang="en-US" sz="1100" dirty="0" smtClean="0"/>
              <a:t>His images draw on the rich history of Yoruba art and culture, modern-day life in Nigeria, and his passion for music. He does not create “art for art’s sake.” Rather, he is committed to “art with a purpose:” the use of art to reach across cultural differences, raise awareness among his own people and the international community about both the potential and the challenges facing Nigeria.</a:t>
            </a:r>
          </a:p>
          <a:p>
            <a:pPr marL="0" indent="0" algn="just">
              <a:buNone/>
            </a:pPr>
            <a:r>
              <a:rPr lang="en-US" sz="1100" dirty="0" smtClean="0"/>
              <a:t>Tunde has always been deeply committed to expanding opportunities for other artists. He co-founded the Toki Memorial Arts Centre in Ibadan, where he served as artistic director for 14 years. This center became a major force in discovering and nurturing artists who have gone on to successful international careers. He founded the International Campaign for Better Arts and Cultural Awareness (ICBACA), a non-profit organization dedicated to using art to bridge gaps between cultures – both at home in Nigeria and abroad. He founded its sister organization, a for-profit gallery and artist representation services, the International Center for Better Arts and Cultural Arcade (ICBACA Ltd) and the Tunde Odunlade Artist Cooperative Gallery in Ibadan.</a:t>
            </a:r>
          </a:p>
          <a:p>
            <a:pPr marL="0" indent="0" algn="just">
              <a:buNone/>
            </a:pPr>
            <a:r>
              <a:rPr lang="en-US" sz="1100" dirty="0" smtClean="0"/>
              <a:t>In addition, Tunde has devoted considerable energy toward improving conditions in Nigeria. In 1999 he founded the Nigerian Artists for a Nation Anew (NAFANA), whose mission is to encourage Nigerian artists to use their talents to help their country overcome the corruption and poverty that has plagued it for decades. Through NAFANA Tunde curated a major exhibition entitled “Artists and Nation-Building: Nigeria at 39.” In 2001 he was commissioned by the Nigerian Debt Management Office (DMO) to curate a show as part of their International Conference on Sustainable Debt and Development Strategy. For the exhibition, “Together, We Rebuild a Nation,” artists were asked to depict both their dreams for their country and the ways in which oppressive external debt is hampering their realization. Tunde also serves as an executive with the Association of Nigerians Against Corruption (ANAC).</a:t>
            </a:r>
          </a:p>
          <a:p>
            <a:pPr marL="0" indent="0" algn="just">
              <a:buNone/>
            </a:pPr>
            <a:r>
              <a:rPr lang="en-US" sz="1100" dirty="0" smtClean="0"/>
              <a:t>Tunde </a:t>
            </a:r>
            <a:r>
              <a:rPr lang="en-US" sz="1100" dirty="0" err="1" smtClean="0"/>
              <a:t>Odunlade’s</a:t>
            </a:r>
            <a:r>
              <a:rPr lang="en-US" sz="1100" dirty="0" smtClean="0"/>
              <a:t> life is well described by his motto: “He who does not attempt the absurd can never achieve the impossible.”</a:t>
            </a:r>
          </a:p>
        </p:txBody>
      </p:sp>
      <p:sp>
        <p:nvSpPr>
          <p:cNvPr id="4" name="Text Placeholder 3"/>
          <p:cNvSpPr>
            <a:spLocks noGrp="1"/>
          </p:cNvSpPr>
          <p:nvPr>
            <p:ph type="body" sz="half" idx="2"/>
          </p:nvPr>
        </p:nvSpPr>
        <p:spPr>
          <a:xfrm>
            <a:off x="839789" y="2675273"/>
            <a:ext cx="3679960" cy="4002460"/>
          </a:xfrm>
        </p:spPr>
        <p:txBody>
          <a:bodyPr/>
          <a:lstStyle/>
          <a:p>
            <a:endParaRPr lang="en-US" dirty="0"/>
          </a:p>
        </p:txBody>
      </p:sp>
      <p:pic>
        <p:nvPicPr>
          <p:cNvPr id="5" name="Picture 4" descr="1-2013-11-03 15.13.10">
            <a:hlinkClick r:id="rId2"/>
          </p:cNvPr>
          <p:cNvPicPr/>
          <p:nvPr/>
        </p:nvPicPr>
        <p:blipFill>
          <a:blip r:embed="rId3">
            <a:extLst>
              <a:ext uri="{28A0092B-C50C-407E-A947-70E740481C1C}">
                <a14:useLocalDpi xmlns:a14="http://schemas.microsoft.com/office/drawing/2010/main" xmlns="" val="0"/>
              </a:ext>
            </a:extLst>
          </a:blip>
          <a:srcRect/>
          <a:stretch>
            <a:fillRect/>
          </a:stretch>
        </p:blipFill>
        <p:spPr bwMode="auto">
          <a:xfrm>
            <a:off x="839787" y="2016905"/>
            <a:ext cx="3747887" cy="4501008"/>
          </a:xfrm>
          <a:prstGeom prst="rect">
            <a:avLst/>
          </a:prstGeom>
          <a:noFill/>
          <a:ln>
            <a:noFill/>
          </a:ln>
        </p:spPr>
      </p:pic>
    </p:spTree>
    <p:extLst>
      <p:ext uri="{BB962C8B-B14F-4D97-AF65-F5344CB8AC3E}">
        <p14:creationId xmlns:p14="http://schemas.microsoft.com/office/powerpoint/2010/main" xmlns="" val="1386009542"/>
      </p:ext>
    </p:extLst>
  </p:cSld>
  <p:clrMapOvr>
    <a:masterClrMapping/>
  </p:clrMapOvr>
  <mc:AlternateContent xmlns:mc="http://schemas.openxmlformats.org/markup-compatibility/2006">
    <mc:Choice xmlns:p14="http://schemas.microsoft.com/office/powerpoint/2010/main" xmlns="" Requires="p14">
      <p:transition spd="slow" p14:dur="1500">
        <p:random/>
      </p:transition>
    </mc:Choice>
    <mc:Fallback>
      <p:transition spd="slow">
        <p:random/>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cstate="print">
            <a:extLst>
              <a:ext uri="{28A0092B-C50C-407E-A947-70E740481C1C}">
                <a14:useLocalDpi xmlns:a14="http://schemas.microsoft.com/office/drawing/2010/main" xmlns="" val="0"/>
              </a:ext>
            </a:extLst>
          </a:blip>
          <a:stretch>
            <a:fillRect/>
          </a:stretch>
        </p:blipFill>
        <p:spPr>
          <a:xfrm>
            <a:off x="3647151" y="457200"/>
            <a:ext cx="8324808" cy="5954050"/>
          </a:xfrm>
        </p:spPr>
      </p:pic>
      <p:sp>
        <p:nvSpPr>
          <p:cNvPr id="4" name="Text Placeholder 3"/>
          <p:cNvSpPr>
            <a:spLocks noGrp="1"/>
          </p:cNvSpPr>
          <p:nvPr>
            <p:ph type="body" sz="half" idx="2"/>
          </p:nvPr>
        </p:nvSpPr>
        <p:spPr>
          <a:xfrm>
            <a:off x="256034" y="3434225"/>
            <a:ext cx="3223912" cy="2994006"/>
          </a:xfrm>
        </p:spPr>
        <p:txBody>
          <a:bodyPr>
            <a:normAutofit/>
          </a:bodyPr>
          <a:lstStyle/>
          <a:p>
            <a:r>
              <a:rPr lang="en-US" b="1" dirty="0" smtClean="0">
                <a:latin typeface="Tempus Sans ITC" panose="04020404030D07020202" pitchFamily="82" charset="0"/>
              </a:rPr>
              <a:t>Title: At the Calvary</a:t>
            </a:r>
          </a:p>
          <a:p>
            <a:r>
              <a:rPr lang="en-US" b="1" dirty="0" smtClean="0">
                <a:latin typeface="Tempus Sans ITC" panose="04020404030D07020202" pitchFamily="82" charset="0"/>
              </a:rPr>
              <a:t>Medium: Beaded Batik Quilt Tapestry</a:t>
            </a:r>
          </a:p>
          <a:p>
            <a:r>
              <a:rPr lang="en-US" b="1" dirty="0" smtClean="0">
                <a:latin typeface="Tempus Sans ITC" panose="04020404030D07020202" pitchFamily="82" charset="0"/>
              </a:rPr>
              <a:t>Year of Production: 2014-2018 </a:t>
            </a:r>
          </a:p>
          <a:p>
            <a:r>
              <a:rPr lang="en-US" b="1" dirty="0" smtClean="0">
                <a:latin typeface="Tempus Sans ITC" panose="04020404030D07020202" pitchFamily="82" charset="0"/>
              </a:rPr>
              <a:t>Artist: Tunde Odunlade</a:t>
            </a:r>
          </a:p>
          <a:p>
            <a:r>
              <a:rPr lang="en-US" b="1" dirty="0" smtClean="0">
                <a:latin typeface="Tempus Sans ITC" panose="04020404030D07020202" pitchFamily="82" charset="0"/>
              </a:rPr>
              <a:t>size: 4ft-9ins by 6ft-3ins</a:t>
            </a:r>
          </a:p>
          <a:p>
            <a:r>
              <a:rPr lang="en-US" b="1" dirty="0" smtClean="0">
                <a:latin typeface="Tempus Sans ITC" panose="04020404030D07020202" pitchFamily="82" charset="0"/>
              </a:rPr>
              <a:t>Collection: Estate of the Artist</a:t>
            </a:r>
          </a:p>
          <a:p>
            <a:r>
              <a:rPr lang="en-US" b="1" dirty="0" smtClean="0">
                <a:latin typeface="Tempus Sans ITC" panose="04020404030D07020202" pitchFamily="82" charset="0"/>
              </a:rPr>
              <a:t>Provenance: Was Exhibited in Galleries.</a:t>
            </a:r>
          </a:p>
        </p:txBody>
      </p:sp>
    </p:spTree>
    <p:extLst>
      <p:ext uri="{BB962C8B-B14F-4D97-AF65-F5344CB8AC3E}">
        <p14:creationId xmlns:p14="http://schemas.microsoft.com/office/powerpoint/2010/main" xmlns="" val="1753976474"/>
      </p:ext>
    </p:extLst>
  </p:cSld>
  <p:clrMapOvr>
    <a:masterClrMapping/>
  </p:clrMapOvr>
  <mc:AlternateContent xmlns:mc="http://schemas.openxmlformats.org/markup-compatibility/2006">
    <mc:Choice xmlns:p14="http://schemas.microsoft.com/office/powerpoint/2010/main" xmlns="" Requires="p14">
      <p:transition spd="slow" p14:dur="1500">
        <p:random/>
      </p:transition>
    </mc:Choice>
    <mc:Fallback>
      <p:transition spd="slow">
        <p:random/>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0841" y="67291"/>
            <a:ext cx="10515600" cy="794857"/>
          </a:xfrm>
        </p:spPr>
        <p:txBody>
          <a:bodyPr>
            <a:normAutofit fontScale="90000"/>
          </a:bodyPr>
          <a:lstStyle/>
          <a:p>
            <a:pPr algn="ctr"/>
            <a:r>
              <a:rPr lang="en-US" b="1" dirty="0">
                <a:latin typeface="Tempus Sans ITC" panose="04020404030D07020202" pitchFamily="82" charset="0"/>
              </a:rPr>
              <a:t>At the </a:t>
            </a:r>
            <a:r>
              <a:rPr lang="en-US" b="1" dirty="0" smtClean="0">
                <a:latin typeface="Tempus Sans ITC" panose="04020404030D07020202" pitchFamily="82" charset="0"/>
              </a:rPr>
              <a:t>Calvary</a:t>
            </a:r>
            <a:r>
              <a:rPr lang="en-US" sz="3100" b="1" dirty="0" smtClean="0">
                <a:latin typeface="Tempus Sans ITC" panose="04020404030D07020202" pitchFamily="82" charset="0"/>
              </a:rPr>
              <a:t/>
            </a:r>
            <a:br>
              <a:rPr lang="en-US" sz="3100" b="1" dirty="0" smtClean="0">
                <a:latin typeface="Tempus Sans ITC" panose="04020404030D07020202" pitchFamily="82" charset="0"/>
              </a:rPr>
            </a:br>
            <a:r>
              <a:rPr lang="en-US" sz="3100" b="1" dirty="0" smtClean="0">
                <a:latin typeface="Tempus Sans ITC" panose="04020404030D07020202" pitchFamily="82" charset="0"/>
              </a:rPr>
              <a:t>Artist’s inspiration on the piece</a:t>
            </a:r>
            <a:endParaRPr lang="en-US" sz="3100" b="1" dirty="0">
              <a:latin typeface="Tempus Sans ITC" panose="04020404030D07020202" pitchFamily="82" charset="0"/>
            </a:endParaRPr>
          </a:p>
        </p:txBody>
      </p:sp>
      <p:sp>
        <p:nvSpPr>
          <p:cNvPr id="3" name="Content Placeholder 2"/>
          <p:cNvSpPr>
            <a:spLocks noGrp="1"/>
          </p:cNvSpPr>
          <p:nvPr>
            <p:ph idx="1"/>
          </p:nvPr>
        </p:nvSpPr>
        <p:spPr>
          <a:xfrm>
            <a:off x="219455" y="1029354"/>
            <a:ext cx="11798373" cy="5502075"/>
          </a:xfrm>
        </p:spPr>
        <p:txBody>
          <a:bodyPr>
            <a:noAutofit/>
          </a:bodyPr>
          <a:lstStyle/>
          <a:p>
            <a:pPr marL="0" indent="0">
              <a:buNone/>
            </a:pPr>
            <a:r>
              <a:rPr lang="en-US" sz="1600" b="1" dirty="0" smtClean="0">
                <a:latin typeface="Tempus Sans ITC" panose="04020404030D07020202" pitchFamily="82" charset="0"/>
              </a:rPr>
              <a:t>Jesus Christ the Lord was crucified at a tender age of thirty three (33) to fulfill the “Word” as written before thee. He came to deliver the world with the good tiding of LOVE as the only way back to thy creator after a wondrous and fulfilling life, irrespective of who you are or what your beliefs are. Therefore, his message goes beyond mere religious sentiments, but a life of reality. Because, ‘Love is real’.</a:t>
            </a:r>
            <a:br>
              <a:rPr lang="en-US" sz="1600" b="1" dirty="0" smtClean="0">
                <a:latin typeface="Tempus Sans ITC" panose="04020404030D07020202" pitchFamily="82" charset="0"/>
              </a:rPr>
            </a:br>
            <a:r>
              <a:rPr lang="en-US" sz="1600" b="1" dirty="0" smtClean="0">
                <a:latin typeface="Tempus Sans ITC" panose="04020404030D07020202" pitchFamily="82" charset="0"/>
              </a:rPr>
              <a:t>Unfortunately, what has the word “LOVE” has been turned to by the movers and shakers of the dark world.</a:t>
            </a:r>
            <a:br>
              <a:rPr lang="en-US" sz="1600" b="1" dirty="0" smtClean="0">
                <a:latin typeface="Tempus Sans ITC" panose="04020404030D07020202" pitchFamily="82" charset="0"/>
              </a:rPr>
            </a:br>
            <a:r>
              <a:rPr lang="en-US" sz="1600" b="1" dirty="0" smtClean="0">
                <a:latin typeface="Tempus Sans ITC" panose="04020404030D07020202" pitchFamily="82" charset="0"/>
              </a:rPr>
              <a:t/>
            </a:r>
            <a:br>
              <a:rPr lang="en-US" sz="1600" b="1" dirty="0" smtClean="0">
                <a:latin typeface="Tempus Sans ITC" panose="04020404030D07020202" pitchFamily="82" charset="0"/>
              </a:rPr>
            </a:br>
            <a:r>
              <a:rPr lang="en-US" sz="1600" b="1" dirty="0" smtClean="0">
                <a:latin typeface="Tempus Sans ITC" panose="04020404030D07020202" pitchFamily="82" charset="0"/>
              </a:rPr>
              <a:t>Lust</a:t>
            </a:r>
            <a:br>
              <a:rPr lang="en-US" sz="1600" b="1" dirty="0" smtClean="0">
                <a:latin typeface="Tempus Sans ITC" panose="04020404030D07020202" pitchFamily="82" charset="0"/>
              </a:rPr>
            </a:br>
            <a:r>
              <a:rPr lang="en-US" sz="1600" b="1" dirty="0" smtClean="0">
                <a:latin typeface="Tempus Sans ITC" panose="04020404030D07020202" pitchFamily="82" charset="0"/>
              </a:rPr>
              <a:t>Over</a:t>
            </a:r>
            <a:br>
              <a:rPr lang="en-US" sz="1600" b="1" dirty="0" smtClean="0">
                <a:latin typeface="Tempus Sans ITC" panose="04020404030D07020202" pitchFamily="82" charset="0"/>
              </a:rPr>
            </a:br>
            <a:r>
              <a:rPr lang="en-US" sz="1600" b="1" dirty="0" smtClean="0">
                <a:latin typeface="Tempus Sans ITC" panose="04020404030D07020202" pitchFamily="82" charset="0"/>
              </a:rPr>
              <a:t>Vulnerable</a:t>
            </a:r>
            <a:br>
              <a:rPr lang="en-US" sz="1600" b="1" dirty="0" smtClean="0">
                <a:latin typeface="Tempus Sans ITC" panose="04020404030D07020202" pitchFamily="82" charset="0"/>
              </a:rPr>
            </a:br>
            <a:r>
              <a:rPr lang="en-US" sz="1600" b="1" dirty="0" smtClean="0">
                <a:latin typeface="Tempus Sans ITC" panose="04020404030D07020202" pitchFamily="82" charset="0"/>
              </a:rPr>
              <a:t>Ecumenical</a:t>
            </a:r>
            <a:br>
              <a:rPr lang="en-US" sz="1600" b="1" dirty="0" smtClean="0">
                <a:latin typeface="Tempus Sans ITC" panose="04020404030D07020202" pitchFamily="82" charset="0"/>
              </a:rPr>
            </a:br>
            <a:r>
              <a:rPr lang="en-US" sz="1600" b="1" dirty="0" smtClean="0">
                <a:latin typeface="Tempus Sans ITC" panose="04020404030D07020202" pitchFamily="82" charset="0"/>
              </a:rPr>
              <a:t/>
            </a:r>
            <a:br>
              <a:rPr lang="en-US" sz="1600" b="1" dirty="0" smtClean="0">
                <a:latin typeface="Tempus Sans ITC" panose="04020404030D07020202" pitchFamily="82" charset="0"/>
              </a:rPr>
            </a:br>
            <a:r>
              <a:rPr lang="en-US" sz="1600" b="1" dirty="0" smtClean="0">
                <a:latin typeface="Tempus Sans ITC" panose="04020404030D07020202" pitchFamily="82" charset="0"/>
              </a:rPr>
              <a:t>The followers of Christ are referred to as Christians but those who truly recognize his message and live by it are called “</a:t>
            </a:r>
            <a:r>
              <a:rPr lang="en-US" sz="1600" b="1" dirty="0" err="1" smtClean="0">
                <a:latin typeface="Tempus Sans ITC" panose="04020404030D07020202" pitchFamily="82" charset="0"/>
              </a:rPr>
              <a:t>Chrislikitians</a:t>
            </a:r>
            <a:r>
              <a:rPr lang="en-US" sz="1600" b="1" dirty="0" smtClean="0">
                <a:latin typeface="Tempus Sans ITC" panose="04020404030D07020202" pitchFamily="82" charset="0"/>
              </a:rPr>
              <a:t>” in other word, “</a:t>
            </a:r>
            <a:r>
              <a:rPr lang="en-US" sz="1600" b="1" dirty="0" err="1" smtClean="0">
                <a:latin typeface="Tempus Sans ITC" panose="04020404030D07020202" pitchFamily="82" charset="0"/>
              </a:rPr>
              <a:t>Christlikeism</a:t>
            </a:r>
            <a:r>
              <a:rPr lang="en-US" sz="1600" b="1" dirty="0" smtClean="0">
                <a:latin typeface="Tempus Sans ITC" panose="04020404030D07020202" pitchFamily="82" charset="0"/>
              </a:rPr>
              <a:t>” should have been more propagated and we would have been freed of this pervasive preaching of wrong tidings full of lasciviousness, greed and hypocrite menacing our world today. </a:t>
            </a:r>
            <a:br>
              <a:rPr lang="en-US" sz="1600" b="1" dirty="0" smtClean="0">
                <a:latin typeface="Tempus Sans ITC" panose="04020404030D07020202" pitchFamily="82" charset="0"/>
              </a:rPr>
            </a:br>
            <a:r>
              <a:rPr lang="en-US" sz="1600" b="1" dirty="0" smtClean="0">
                <a:latin typeface="Tempus Sans ITC" panose="04020404030D07020202" pitchFamily="82" charset="0"/>
              </a:rPr>
              <a:t>That good tidings would have crossed all strata.</a:t>
            </a:r>
            <a:br>
              <a:rPr lang="en-US" sz="1600" b="1" dirty="0" smtClean="0">
                <a:latin typeface="Tempus Sans ITC" panose="04020404030D07020202" pitchFamily="82" charset="0"/>
              </a:rPr>
            </a:br>
            <a:r>
              <a:rPr lang="en-US" sz="1600" b="1" dirty="0" smtClean="0">
                <a:latin typeface="Tempus Sans ITC" panose="04020404030D07020202" pitchFamily="82" charset="0"/>
              </a:rPr>
              <a:t/>
            </a:r>
            <a:br>
              <a:rPr lang="en-US" sz="1600" b="1" dirty="0" smtClean="0">
                <a:latin typeface="Tempus Sans ITC" panose="04020404030D07020202" pitchFamily="82" charset="0"/>
              </a:rPr>
            </a:br>
            <a:r>
              <a:rPr lang="en-US" sz="1600" b="1" dirty="0" smtClean="0">
                <a:latin typeface="Tempus Sans ITC" panose="04020404030D07020202" pitchFamily="82" charset="0"/>
              </a:rPr>
              <a:t>On the right hand of Christ is the thief who recognized Jesus as the Lord and Savior and acknowledged his innocence. Jesus then said to him “verily I say unto thee, today shall thou be with me in paradise” he was elevated.</a:t>
            </a:r>
            <a:br>
              <a:rPr lang="en-US" sz="1600" b="1" dirty="0" smtClean="0">
                <a:latin typeface="Tempus Sans ITC" panose="04020404030D07020202" pitchFamily="82" charset="0"/>
              </a:rPr>
            </a:br>
            <a:r>
              <a:rPr lang="en-US" sz="1600" b="1" dirty="0" smtClean="0">
                <a:latin typeface="Tempus Sans ITC" panose="04020404030D07020202" pitchFamily="82" charset="0"/>
              </a:rPr>
              <a:t>Where as, the thief on the left denied Jesus Christ but was relegated.</a:t>
            </a:r>
            <a:br>
              <a:rPr lang="en-US" sz="1600" b="1" dirty="0" smtClean="0">
                <a:latin typeface="Tempus Sans ITC" panose="04020404030D07020202" pitchFamily="82" charset="0"/>
              </a:rPr>
            </a:br>
            <a:r>
              <a:rPr lang="en-US" sz="1600" b="1" dirty="0" smtClean="0">
                <a:latin typeface="Tempus Sans ITC" panose="04020404030D07020202" pitchFamily="82" charset="0"/>
              </a:rPr>
              <a:t/>
            </a:r>
            <a:br>
              <a:rPr lang="en-US" sz="1600" b="1" dirty="0" smtClean="0">
                <a:latin typeface="Tempus Sans ITC" panose="04020404030D07020202" pitchFamily="82" charset="0"/>
              </a:rPr>
            </a:br>
            <a:r>
              <a:rPr lang="en-US" sz="1600" b="1" dirty="0" smtClean="0">
                <a:latin typeface="Tempus Sans ITC" panose="04020404030D07020202" pitchFamily="82" charset="0"/>
              </a:rPr>
              <a:t>If you truly go the way of Christ, you are under his watch and protection as depicted with the zipper underneath the cross on this piece. The thief on the right has a pocket that depicts his salvation.</a:t>
            </a:r>
            <a:br>
              <a:rPr lang="en-US" sz="1600" b="1" dirty="0" smtClean="0">
                <a:latin typeface="Tempus Sans ITC" panose="04020404030D07020202" pitchFamily="82" charset="0"/>
              </a:rPr>
            </a:br>
            <a:r>
              <a:rPr lang="en-US" sz="1600" b="1" dirty="0" smtClean="0">
                <a:latin typeface="Tempus Sans ITC" panose="04020404030D07020202" pitchFamily="82" charset="0"/>
              </a:rPr>
              <a:t/>
            </a:r>
            <a:br>
              <a:rPr lang="en-US" sz="1600" b="1" dirty="0" smtClean="0">
                <a:latin typeface="Tempus Sans ITC" panose="04020404030D07020202" pitchFamily="82" charset="0"/>
              </a:rPr>
            </a:br>
            <a:r>
              <a:rPr lang="en-US" sz="1600" b="1" dirty="0" smtClean="0">
                <a:latin typeface="Tempus Sans ITC" panose="04020404030D07020202" pitchFamily="82" charset="0"/>
              </a:rPr>
              <a:t>The beautiful colors surrounding Crucifixion depict all the wonderful deeds of Christ. </a:t>
            </a:r>
            <a:br>
              <a:rPr lang="en-US" sz="1600" b="1" dirty="0" smtClean="0">
                <a:latin typeface="Tempus Sans ITC" panose="04020404030D07020202" pitchFamily="82" charset="0"/>
              </a:rPr>
            </a:br>
            <a:r>
              <a:rPr lang="en-US" sz="1600" b="1" dirty="0" smtClean="0">
                <a:latin typeface="Tempus Sans ITC" panose="04020404030D07020202" pitchFamily="82" charset="0"/>
              </a:rPr>
              <a:t>Tunde Odunlade</a:t>
            </a:r>
            <a:br>
              <a:rPr lang="en-US" sz="1600" b="1" dirty="0" smtClean="0">
                <a:latin typeface="Tempus Sans ITC" panose="04020404030D07020202" pitchFamily="82" charset="0"/>
              </a:rPr>
            </a:br>
            <a:r>
              <a:rPr lang="en-US" sz="1600" b="1" dirty="0" smtClean="0">
                <a:latin typeface="Tempus Sans ITC" panose="04020404030D07020202" pitchFamily="82" charset="0"/>
              </a:rPr>
              <a:t>August 2019.</a:t>
            </a:r>
            <a:endParaRPr lang="en-US" sz="1600" b="1" dirty="0">
              <a:latin typeface="Tempus Sans ITC" panose="04020404030D07020202" pitchFamily="82" charset="0"/>
            </a:endParaRPr>
          </a:p>
        </p:txBody>
      </p:sp>
    </p:spTree>
    <p:extLst>
      <p:ext uri="{BB962C8B-B14F-4D97-AF65-F5344CB8AC3E}">
        <p14:creationId xmlns:p14="http://schemas.microsoft.com/office/powerpoint/2010/main" xmlns="" val="837518533"/>
      </p:ext>
    </p:extLst>
  </p:cSld>
  <p:clrMapOvr>
    <a:masterClrMapping/>
  </p:clrMapOvr>
  <mc:AlternateContent xmlns:mc="http://schemas.openxmlformats.org/markup-compatibility/2006">
    <mc:Choice xmlns:p14="http://schemas.microsoft.com/office/powerpoint/2010/main" xmlns="" Requires="p14">
      <p:transition spd="slow" p14:dur="1500">
        <p:random/>
      </p:transition>
    </mc:Choice>
    <mc:Fallback>
      <p:transition spd="slow">
        <p:random/>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256034" y="3434225"/>
            <a:ext cx="3223912" cy="2994006"/>
          </a:xfrm>
        </p:spPr>
        <p:txBody>
          <a:bodyPr>
            <a:normAutofit/>
          </a:bodyPr>
          <a:lstStyle/>
          <a:p>
            <a:r>
              <a:rPr lang="en-US" b="1" dirty="0" smtClean="0">
                <a:latin typeface="Tempus Sans ITC" panose="04020404030D07020202" pitchFamily="82" charset="0"/>
              </a:rPr>
              <a:t>Title: </a:t>
            </a:r>
            <a:r>
              <a:rPr lang="en-US" b="1" dirty="0" err="1" smtClean="0">
                <a:latin typeface="Tempus Sans ITC" panose="04020404030D07020202" pitchFamily="82" charset="0"/>
              </a:rPr>
              <a:t>Eiye</a:t>
            </a:r>
            <a:r>
              <a:rPr lang="en-US" b="1" dirty="0" smtClean="0">
                <a:latin typeface="Tempus Sans ITC" panose="04020404030D07020202" pitchFamily="82" charset="0"/>
              </a:rPr>
              <a:t> </a:t>
            </a:r>
            <a:r>
              <a:rPr lang="en-US" b="1" dirty="0" err="1" smtClean="0">
                <a:latin typeface="Tempus Sans ITC" panose="04020404030D07020202" pitchFamily="82" charset="0"/>
              </a:rPr>
              <a:t>t’o</a:t>
            </a:r>
            <a:r>
              <a:rPr lang="en-US" b="1" dirty="0" smtClean="0">
                <a:latin typeface="Tempus Sans ITC" panose="04020404030D07020202" pitchFamily="82" charset="0"/>
              </a:rPr>
              <a:t> </a:t>
            </a:r>
            <a:r>
              <a:rPr lang="en-US" b="1" dirty="0" err="1" smtClean="0">
                <a:latin typeface="Tempus Sans ITC" panose="04020404030D07020202" pitchFamily="82" charset="0"/>
              </a:rPr>
              <a:t>njeso</a:t>
            </a:r>
            <a:r>
              <a:rPr lang="en-US" b="1" dirty="0" smtClean="0">
                <a:latin typeface="Tempus Sans ITC" panose="04020404030D07020202" pitchFamily="82" charset="0"/>
              </a:rPr>
              <a:t> </a:t>
            </a:r>
            <a:r>
              <a:rPr lang="en-US" b="1" dirty="0" err="1" smtClean="0">
                <a:latin typeface="Tempus Sans ITC" panose="04020404030D07020202" pitchFamily="82" charset="0"/>
              </a:rPr>
              <a:t>kii</a:t>
            </a:r>
            <a:r>
              <a:rPr lang="en-US" b="1" dirty="0" smtClean="0">
                <a:latin typeface="Tempus Sans ITC" panose="04020404030D07020202" pitchFamily="82" charset="0"/>
              </a:rPr>
              <a:t> </a:t>
            </a:r>
            <a:r>
              <a:rPr lang="en-US" b="1" dirty="0" err="1" smtClean="0">
                <a:latin typeface="Tempus Sans ITC" panose="04020404030D07020202" pitchFamily="82" charset="0"/>
              </a:rPr>
              <a:t>ke</a:t>
            </a:r>
            <a:endParaRPr lang="en-US" b="1" dirty="0" smtClean="0">
              <a:latin typeface="Tempus Sans ITC" panose="04020404030D07020202" pitchFamily="82" charset="0"/>
            </a:endParaRPr>
          </a:p>
          <a:p>
            <a:r>
              <a:rPr lang="en-US" b="1" dirty="0" smtClean="0">
                <a:latin typeface="Tempus Sans ITC" panose="04020404030D07020202" pitchFamily="82" charset="0"/>
              </a:rPr>
              <a:t>Medium: Batik Quilt Tapestry</a:t>
            </a:r>
          </a:p>
          <a:p>
            <a:r>
              <a:rPr lang="en-US" b="1" dirty="0" smtClean="0">
                <a:latin typeface="Tempus Sans ITC" panose="04020404030D07020202" pitchFamily="82" charset="0"/>
              </a:rPr>
              <a:t>Year of Production: 2014-19</a:t>
            </a:r>
          </a:p>
          <a:p>
            <a:r>
              <a:rPr lang="en-US" b="1" dirty="0" smtClean="0">
                <a:latin typeface="Tempus Sans ITC" panose="04020404030D07020202" pitchFamily="82" charset="0"/>
              </a:rPr>
              <a:t>Artist: Tunde odunlade</a:t>
            </a:r>
          </a:p>
          <a:p>
            <a:r>
              <a:rPr lang="en-US" b="1" dirty="0" smtClean="0">
                <a:latin typeface="Tempus Sans ITC" panose="04020404030D07020202" pitchFamily="82" charset="0"/>
              </a:rPr>
              <a:t>Size: 12ft.2ins by 10ft.</a:t>
            </a:r>
          </a:p>
          <a:p>
            <a:r>
              <a:rPr lang="en-US" b="1" dirty="0" smtClean="0">
                <a:latin typeface="Tempus Sans ITC" panose="04020404030D07020202" pitchFamily="82" charset="0"/>
              </a:rPr>
              <a:t>Collection; Estate of the Artist</a:t>
            </a:r>
          </a:p>
          <a:p>
            <a:r>
              <a:rPr lang="en-US" b="1" dirty="0" smtClean="0">
                <a:latin typeface="Tempus Sans ITC" panose="04020404030D07020202" pitchFamily="82" charset="0"/>
              </a:rPr>
              <a:t>Provenance: Has been Exhibited Galleries. </a:t>
            </a:r>
            <a:endParaRPr lang="en-US" sz="1050" b="1" dirty="0" smtClean="0">
              <a:latin typeface="Tempus Sans ITC" panose="04020404030D07020202" pitchFamily="82" charset="0"/>
            </a:endParaRPr>
          </a:p>
        </p:txBody>
      </p:sp>
      <p:pic>
        <p:nvPicPr>
          <p:cNvPr id="6" name="Content Placeholder 5"/>
          <p:cNvPicPr>
            <a:picLocks noGrp="1" noChangeAspect="1"/>
          </p:cNvPicPr>
          <p:nvPr>
            <p:ph idx="1"/>
          </p:nvPr>
        </p:nvPicPr>
        <p:blipFill>
          <a:blip r:embed="rId2" cstate="print">
            <a:extLst>
              <a:ext uri="{28A0092B-C50C-407E-A947-70E740481C1C}">
                <a14:useLocalDpi xmlns:a14="http://schemas.microsoft.com/office/drawing/2010/main" xmlns="" val="0"/>
              </a:ext>
            </a:extLst>
          </a:blip>
          <a:stretch>
            <a:fillRect/>
          </a:stretch>
        </p:blipFill>
        <p:spPr>
          <a:xfrm>
            <a:off x="3789909" y="539495"/>
            <a:ext cx="8244231" cy="5888736"/>
          </a:xfrm>
        </p:spPr>
      </p:pic>
    </p:spTree>
    <p:extLst>
      <p:ext uri="{BB962C8B-B14F-4D97-AF65-F5344CB8AC3E}">
        <p14:creationId xmlns:p14="http://schemas.microsoft.com/office/powerpoint/2010/main" xmlns="" val="3329625933"/>
      </p:ext>
    </p:extLst>
  </p:cSld>
  <p:clrMapOvr>
    <a:masterClrMapping/>
  </p:clrMapOvr>
  <mc:AlternateContent xmlns:mc="http://schemas.openxmlformats.org/markup-compatibility/2006">
    <mc:Choice xmlns:p14="http://schemas.microsoft.com/office/powerpoint/2010/main" xmlns="" Requires="p14">
      <p:transition spd="slow" p14:dur="1500">
        <p:random/>
      </p:transition>
    </mc:Choice>
    <mc:Fallback>
      <p:transition spd="slow">
        <p:random/>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0841" y="67291"/>
            <a:ext cx="10515600" cy="794857"/>
          </a:xfrm>
        </p:spPr>
        <p:txBody>
          <a:bodyPr>
            <a:normAutofit fontScale="90000"/>
          </a:bodyPr>
          <a:lstStyle/>
          <a:p>
            <a:pPr algn="ctr"/>
            <a:r>
              <a:rPr lang="en-US" b="1" dirty="0" err="1" smtClean="0">
                <a:latin typeface="Tempus Sans ITC" panose="04020404030D07020202" pitchFamily="82" charset="0"/>
              </a:rPr>
              <a:t>Eiye</a:t>
            </a:r>
            <a:r>
              <a:rPr lang="en-US" b="1" dirty="0" smtClean="0">
                <a:latin typeface="Tempus Sans ITC" panose="04020404030D07020202" pitchFamily="82" charset="0"/>
              </a:rPr>
              <a:t> </a:t>
            </a:r>
            <a:r>
              <a:rPr lang="en-US" b="1" dirty="0" err="1" smtClean="0">
                <a:latin typeface="Tempus Sans ITC" panose="04020404030D07020202" pitchFamily="82" charset="0"/>
              </a:rPr>
              <a:t>t’o</a:t>
            </a:r>
            <a:r>
              <a:rPr lang="en-US" b="1" dirty="0" smtClean="0">
                <a:latin typeface="Tempus Sans ITC" panose="04020404030D07020202" pitchFamily="82" charset="0"/>
              </a:rPr>
              <a:t> </a:t>
            </a:r>
            <a:r>
              <a:rPr lang="en-US" b="1" dirty="0" err="1" smtClean="0">
                <a:latin typeface="Tempus Sans ITC" panose="04020404030D07020202" pitchFamily="82" charset="0"/>
              </a:rPr>
              <a:t>njeso</a:t>
            </a:r>
            <a:r>
              <a:rPr lang="en-US" b="1" dirty="0" smtClean="0">
                <a:latin typeface="Tempus Sans ITC" panose="04020404030D07020202" pitchFamily="82" charset="0"/>
              </a:rPr>
              <a:t> </a:t>
            </a:r>
            <a:r>
              <a:rPr lang="en-US" b="1" dirty="0" err="1" smtClean="0">
                <a:latin typeface="Tempus Sans ITC" panose="04020404030D07020202" pitchFamily="82" charset="0"/>
              </a:rPr>
              <a:t>kii</a:t>
            </a:r>
            <a:r>
              <a:rPr lang="en-US" b="1" dirty="0" smtClean="0">
                <a:latin typeface="Tempus Sans ITC" panose="04020404030D07020202" pitchFamily="82" charset="0"/>
              </a:rPr>
              <a:t> </a:t>
            </a:r>
            <a:r>
              <a:rPr lang="en-US" b="1" dirty="0" err="1" smtClean="0">
                <a:latin typeface="Tempus Sans ITC" panose="04020404030D07020202" pitchFamily="82" charset="0"/>
              </a:rPr>
              <a:t>ke</a:t>
            </a:r>
            <a:r>
              <a:rPr lang="en-US" sz="3100" b="1" dirty="0" smtClean="0">
                <a:latin typeface="Tempus Sans ITC" panose="04020404030D07020202" pitchFamily="82" charset="0"/>
              </a:rPr>
              <a:t/>
            </a:r>
            <a:br>
              <a:rPr lang="en-US" sz="3100" b="1" dirty="0" smtClean="0">
                <a:latin typeface="Tempus Sans ITC" panose="04020404030D07020202" pitchFamily="82" charset="0"/>
              </a:rPr>
            </a:br>
            <a:r>
              <a:rPr lang="en-US" sz="3100" b="1" dirty="0" smtClean="0">
                <a:latin typeface="Tempus Sans ITC" panose="04020404030D07020202" pitchFamily="82" charset="0"/>
              </a:rPr>
              <a:t>Artist’s inspiration on the piece</a:t>
            </a:r>
            <a:endParaRPr lang="en-US" sz="3100" b="1" dirty="0">
              <a:latin typeface="Tempus Sans ITC" panose="04020404030D07020202" pitchFamily="82" charset="0"/>
            </a:endParaRPr>
          </a:p>
        </p:txBody>
      </p:sp>
      <p:sp>
        <p:nvSpPr>
          <p:cNvPr id="3" name="Content Placeholder 2"/>
          <p:cNvSpPr>
            <a:spLocks noGrp="1"/>
          </p:cNvSpPr>
          <p:nvPr>
            <p:ph idx="1"/>
          </p:nvPr>
        </p:nvSpPr>
        <p:spPr>
          <a:xfrm>
            <a:off x="219455" y="1029354"/>
            <a:ext cx="11798373" cy="5617028"/>
          </a:xfrm>
        </p:spPr>
        <p:txBody>
          <a:bodyPr>
            <a:noAutofit/>
          </a:bodyPr>
          <a:lstStyle/>
          <a:p>
            <a:pPr marL="0" indent="0">
              <a:buNone/>
            </a:pPr>
            <a:r>
              <a:rPr lang="en-US" sz="1200" b="1" dirty="0" smtClean="0">
                <a:latin typeface="Tempus Sans ITC" panose="04020404030D07020202" pitchFamily="82" charset="0"/>
              </a:rPr>
              <a:t>Yoruba says, “</a:t>
            </a:r>
            <a:r>
              <a:rPr lang="en-US" sz="1200" b="1" dirty="0" err="1" smtClean="0">
                <a:latin typeface="Tempus Sans ITC" panose="04020404030D07020202" pitchFamily="82" charset="0"/>
              </a:rPr>
              <a:t>eiye</a:t>
            </a:r>
            <a:r>
              <a:rPr lang="en-US" sz="1200" b="1" dirty="0" smtClean="0">
                <a:latin typeface="Tempus Sans ITC" panose="04020404030D07020202" pitchFamily="82" charset="0"/>
              </a:rPr>
              <a:t> </a:t>
            </a:r>
            <a:r>
              <a:rPr lang="en-US" sz="1200" b="1" dirty="0" err="1" smtClean="0">
                <a:latin typeface="Tempus Sans ITC" panose="04020404030D07020202" pitchFamily="82" charset="0"/>
              </a:rPr>
              <a:t>t’o</a:t>
            </a:r>
            <a:r>
              <a:rPr lang="en-US" sz="1200" b="1" dirty="0" smtClean="0">
                <a:latin typeface="Tempus Sans ITC" panose="04020404030D07020202" pitchFamily="82" charset="0"/>
              </a:rPr>
              <a:t> </a:t>
            </a:r>
            <a:r>
              <a:rPr lang="en-US" sz="1200" b="1" dirty="0" err="1" smtClean="0">
                <a:latin typeface="Tempus Sans ITC" panose="04020404030D07020202" pitchFamily="82" charset="0"/>
              </a:rPr>
              <a:t>njeso</a:t>
            </a:r>
            <a:r>
              <a:rPr lang="en-US" sz="1200" b="1" dirty="0" smtClean="0">
                <a:latin typeface="Tempus Sans ITC" panose="04020404030D07020202" pitchFamily="82" charset="0"/>
              </a:rPr>
              <a:t> </a:t>
            </a:r>
            <a:r>
              <a:rPr lang="en-US" sz="1200" b="1" dirty="0" err="1" smtClean="0">
                <a:latin typeface="Tempus Sans ITC" panose="04020404030D07020202" pitchFamily="82" charset="0"/>
              </a:rPr>
              <a:t>kii</a:t>
            </a:r>
            <a:r>
              <a:rPr lang="en-US" sz="1200" b="1" dirty="0" smtClean="0">
                <a:latin typeface="Tempus Sans ITC" panose="04020404030D07020202" pitchFamily="82" charset="0"/>
              </a:rPr>
              <a:t> </a:t>
            </a:r>
            <a:r>
              <a:rPr lang="en-US" sz="1200" b="1" dirty="0" err="1" smtClean="0">
                <a:latin typeface="Tempus Sans ITC" panose="04020404030D07020202" pitchFamily="82" charset="0"/>
              </a:rPr>
              <a:t>ke</a:t>
            </a:r>
            <a:r>
              <a:rPr lang="en-US" sz="1200" b="1" dirty="0" smtClean="0">
                <a:latin typeface="Tempus Sans ITC" panose="04020404030D07020202" pitchFamily="82" charset="0"/>
              </a:rPr>
              <a:t>” literally translates as, A bird with seeds in its mouth, doesn’t whistle.</a:t>
            </a:r>
          </a:p>
          <a:p>
            <a:pPr marL="0" indent="0">
              <a:buNone/>
            </a:pPr>
            <a:r>
              <a:rPr lang="en-US" sz="1200" b="1" dirty="0" smtClean="0">
                <a:latin typeface="Tempus Sans ITC" panose="04020404030D07020202" pitchFamily="82" charset="0"/>
              </a:rPr>
              <a:t>One who is comfortable doesn’t grumble, only the poor grumbles. </a:t>
            </a:r>
          </a:p>
          <a:p>
            <a:pPr marL="0" indent="0">
              <a:buNone/>
            </a:pPr>
            <a:r>
              <a:rPr lang="en-US" sz="1200" b="1" dirty="0" smtClean="0">
                <a:latin typeface="Tempus Sans ITC" panose="04020404030D07020202" pitchFamily="82" charset="0"/>
              </a:rPr>
              <a:t>This piece takes a deep look into how one part of the society has more than enough and the other part has nothing.</a:t>
            </a:r>
          </a:p>
          <a:p>
            <a:pPr marL="0" indent="0">
              <a:buNone/>
            </a:pPr>
            <a:endParaRPr lang="en-US" sz="1200" b="1" dirty="0" smtClean="0">
              <a:latin typeface="Tempus Sans ITC" panose="04020404030D07020202" pitchFamily="82" charset="0"/>
            </a:endParaRPr>
          </a:p>
          <a:p>
            <a:pPr marL="0" indent="0" algn="ctr">
              <a:buNone/>
            </a:pPr>
            <a:r>
              <a:rPr lang="en-US" sz="1200" b="1" dirty="0" smtClean="0">
                <a:latin typeface="Tempus Sans ITC" panose="04020404030D07020202" pitchFamily="82" charset="0"/>
              </a:rPr>
              <a:t>Jimmy Cliff sings, </a:t>
            </a:r>
          </a:p>
          <a:p>
            <a:pPr marL="0" indent="0" algn="ctr">
              <a:buNone/>
            </a:pPr>
            <a:r>
              <a:rPr lang="en-US" sz="1200" b="1" i="1" dirty="0" smtClean="0">
                <a:latin typeface="Tempus Sans ITC" panose="04020404030D07020202" pitchFamily="82" charset="0"/>
              </a:rPr>
              <a:t>“Too many people are suffering </a:t>
            </a:r>
          </a:p>
          <a:p>
            <a:pPr marL="0" indent="0" algn="ctr">
              <a:buNone/>
            </a:pPr>
            <a:r>
              <a:rPr lang="en-US" sz="1200" b="1" i="1" dirty="0" smtClean="0">
                <a:latin typeface="Tempus Sans ITC" panose="04020404030D07020202" pitchFamily="82" charset="0"/>
              </a:rPr>
              <a:t>too many people are dying </a:t>
            </a:r>
          </a:p>
          <a:p>
            <a:pPr marL="0" indent="0" algn="ctr">
              <a:buNone/>
            </a:pPr>
            <a:r>
              <a:rPr lang="en-US" sz="1200" b="1" i="1" dirty="0" smtClean="0">
                <a:latin typeface="Tempus Sans ITC" panose="04020404030D07020202" pitchFamily="82" charset="0"/>
              </a:rPr>
              <a:t>very little people got everything </a:t>
            </a:r>
          </a:p>
          <a:p>
            <a:pPr marL="0" indent="0" algn="ctr">
              <a:buNone/>
            </a:pPr>
            <a:r>
              <a:rPr lang="en-US" sz="1200" b="1" i="1" dirty="0" smtClean="0">
                <a:latin typeface="Tempus Sans ITC" panose="04020404030D07020202" pitchFamily="82" charset="0"/>
              </a:rPr>
              <a:t>while too many people got nothing </a:t>
            </a:r>
          </a:p>
          <a:p>
            <a:pPr marL="0" indent="0" algn="ctr">
              <a:buNone/>
            </a:pPr>
            <a:r>
              <a:rPr lang="en-US" sz="1200" b="1" i="1" dirty="0" smtClean="0">
                <a:latin typeface="Tempus Sans ITC" panose="04020404030D07020202" pitchFamily="82" charset="0"/>
              </a:rPr>
              <a:t>remake the world with love and happiness</a:t>
            </a:r>
          </a:p>
          <a:p>
            <a:pPr marL="0" indent="0" algn="ctr">
              <a:buNone/>
            </a:pPr>
            <a:r>
              <a:rPr lang="en-US" sz="1200" b="1" i="1" dirty="0" smtClean="0">
                <a:latin typeface="Tempus Sans ITC" panose="04020404030D07020202" pitchFamily="82" charset="0"/>
              </a:rPr>
              <a:t>remake the world, be you black </a:t>
            </a:r>
          </a:p>
          <a:p>
            <a:pPr marL="0" indent="0" algn="ctr">
              <a:buNone/>
            </a:pPr>
            <a:r>
              <a:rPr lang="en-US" sz="1200" b="1" i="1" dirty="0" smtClean="0">
                <a:latin typeface="Tempus Sans ITC" panose="04020404030D07020202" pitchFamily="82" charset="0"/>
              </a:rPr>
              <a:t>be you white, remake the world...”</a:t>
            </a:r>
            <a:endParaRPr lang="en-US" sz="1200" b="1" dirty="0" smtClean="0">
              <a:latin typeface="Tempus Sans ITC" panose="04020404030D07020202" pitchFamily="82" charset="0"/>
            </a:endParaRPr>
          </a:p>
          <a:p>
            <a:pPr marL="0" indent="0">
              <a:buNone/>
            </a:pPr>
            <a:r>
              <a:rPr lang="en-US" sz="1200" b="1" dirty="0" smtClean="0">
                <a:latin typeface="Tempus Sans ITC" panose="04020404030D07020202" pitchFamily="82" charset="0"/>
              </a:rPr>
              <a:t>What is that life that has no impact on others? Some create jobs, provide enabling environment for others to prove their worth and make life a better place to be, for others. </a:t>
            </a:r>
          </a:p>
          <a:p>
            <a:pPr marL="0" indent="0">
              <a:buNone/>
            </a:pPr>
            <a:r>
              <a:rPr lang="en-US" sz="1200" b="1" dirty="0" smtClean="0">
                <a:latin typeface="Tempus Sans ITC" panose="04020404030D07020202" pitchFamily="82" charset="0"/>
              </a:rPr>
              <a:t>That’s what I call a fulfilling life, a life well spent, a life full of Legacy. An ideal that will outlive its author. </a:t>
            </a:r>
          </a:p>
          <a:p>
            <a:pPr marL="0" indent="0">
              <a:buNone/>
            </a:pPr>
            <a:r>
              <a:rPr lang="en-US" sz="1200" b="1" dirty="0" smtClean="0">
                <a:latin typeface="Tempus Sans ITC" panose="04020404030D07020202" pitchFamily="82" charset="0"/>
              </a:rPr>
              <a:t>The big  colorful bird to the right of the piece represents the ‘HAVES’ with plenty as you can see the family has food to eat</a:t>
            </a:r>
            <a:r>
              <a:rPr lang="en-US" sz="1200" b="1" dirty="0">
                <a:latin typeface="Tempus Sans ITC" panose="04020404030D07020202" pitchFamily="82" charset="0"/>
              </a:rPr>
              <a:t>.</a:t>
            </a:r>
            <a:r>
              <a:rPr lang="en-US" sz="1200" b="1" dirty="0" smtClean="0">
                <a:latin typeface="Tempus Sans ITC" panose="04020404030D07020202" pitchFamily="82" charset="0"/>
              </a:rPr>
              <a:t> </a:t>
            </a:r>
            <a:r>
              <a:rPr lang="en-US" sz="1200" b="1" dirty="0">
                <a:latin typeface="Tempus Sans ITC" panose="04020404030D07020202" pitchFamily="82" charset="0"/>
              </a:rPr>
              <a:t>W</a:t>
            </a:r>
            <a:r>
              <a:rPr lang="en-US" sz="1200" b="1" dirty="0" smtClean="0">
                <a:latin typeface="Tempus Sans ITC" panose="04020404030D07020202" pitchFamily="82" charset="0"/>
              </a:rPr>
              <a:t>hile the bird to the left represents the ‘HAVE-NOTS no food’.</a:t>
            </a:r>
          </a:p>
          <a:p>
            <a:pPr marL="0" indent="0">
              <a:buNone/>
            </a:pPr>
            <a:r>
              <a:rPr lang="en-US" sz="1200" b="1" dirty="0" smtClean="0">
                <a:latin typeface="Tempus Sans ITC" panose="04020404030D07020202" pitchFamily="82" charset="0"/>
              </a:rPr>
              <a:t>Contribute your quota now before its too late. “</a:t>
            </a:r>
            <a:r>
              <a:rPr lang="en-US" sz="1200" b="1" dirty="0" err="1" smtClean="0">
                <a:latin typeface="Tempus Sans ITC" panose="04020404030D07020202" pitchFamily="82" charset="0"/>
              </a:rPr>
              <a:t>orun</a:t>
            </a:r>
            <a:r>
              <a:rPr lang="en-US" sz="1200" b="1" dirty="0" smtClean="0">
                <a:latin typeface="Tempus Sans ITC" panose="04020404030D07020202" pitchFamily="82" charset="0"/>
              </a:rPr>
              <a:t> </a:t>
            </a:r>
            <a:r>
              <a:rPr lang="en-US" sz="1200" b="1" dirty="0" err="1" smtClean="0">
                <a:latin typeface="Tempus Sans ITC" panose="04020404030D07020202" pitchFamily="82" charset="0"/>
              </a:rPr>
              <a:t>t’o</a:t>
            </a:r>
            <a:r>
              <a:rPr lang="en-US" sz="1200" b="1" dirty="0" smtClean="0">
                <a:latin typeface="Tempus Sans ITC" panose="04020404030D07020202" pitchFamily="82" charset="0"/>
              </a:rPr>
              <a:t> </a:t>
            </a:r>
            <a:r>
              <a:rPr lang="en-US" sz="1200" b="1" dirty="0" err="1" smtClean="0">
                <a:latin typeface="Tempus Sans ITC" panose="04020404030D07020202" pitchFamily="82" charset="0"/>
              </a:rPr>
              <a:t>ku</a:t>
            </a:r>
            <a:r>
              <a:rPr lang="en-US" sz="1200" b="1" dirty="0" smtClean="0">
                <a:latin typeface="Tempus Sans ITC" panose="04020404030D07020202" pitchFamily="82" charset="0"/>
              </a:rPr>
              <a:t> </a:t>
            </a:r>
            <a:r>
              <a:rPr lang="en-US" sz="1200" b="1" dirty="0" err="1" smtClean="0">
                <a:latin typeface="Tempus Sans ITC" panose="04020404030D07020202" pitchFamily="82" charset="0"/>
              </a:rPr>
              <a:t>loke</a:t>
            </a:r>
            <a:r>
              <a:rPr lang="en-US" sz="1200" b="1" dirty="0" smtClean="0">
                <a:latin typeface="Tempus Sans ITC" panose="04020404030D07020202" pitchFamily="82" charset="0"/>
              </a:rPr>
              <a:t> o to </a:t>
            </a:r>
            <a:r>
              <a:rPr lang="en-US" sz="1200" b="1" dirty="0" err="1" smtClean="0">
                <a:latin typeface="Tempus Sans ITC" panose="04020404030D07020202" pitchFamily="82" charset="0"/>
              </a:rPr>
              <a:t>aso</a:t>
            </a:r>
            <a:r>
              <a:rPr lang="en-US" sz="1200" b="1" dirty="0" smtClean="0">
                <a:latin typeface="Tempus Sans ITC" panose="04020404030D07020202" pitchFamily="82" charset="0"/>
              </a:rPr>
              <a:t> </a:t>
            </a:r>
            <a:r>
              <a:rPr lang="en-US" sz="1200" b="1" dirty="0" err="1" smtClean="0">
                <a:latin typeface="Tempus Sans ITC" panose="04020404030D07020202" pitchFamily="82" charset="0"/>
              </a:rPr>
              <a:t>gbe</a:t>
            </a:r>
            <a:r>
              <a:rPr lang="en-US" sz="1200" b="1" dirty="0" smtClean="0">
                <a:latin typeface="Tempus Sans ITC" panose="04020404030D07020202" pitchFamily="82" charset="0"/>
              </a:rPr>
              <a:t>” literally means’ the sun still left up the sky can still help dry your laundry before the sunsets.</a:t>
            </a:r>
          </a:p>
          <a:p>
            <a:pPr marL="0" indent="0">
              <a:buNone/>
            </a:pPr>
            <a:r>
              <a:rPr lang="en-US" sz="1200" b="1" dirty="0" smtClean="0">
                <a:latin typeface="Tempus Sans ITC" panose="04020404030D07020202" pitchFamily="82" charset="0"/>
              </a:rPr>
              <a:t>“Make hay while the sun shines” AU. Tomorrow may be too late. Live your life for others to live.</a:t>
            </a:r>
          </a:p>
          <a:p>
            <a:pPr marL="0" indent="0">
              <a:buNone/>
            </a:pPr>
            <a:endParaRPr lang="en-US" sz="1200" b="1" dirty="0" smtClean="0">
              <a:latin typeface="Tempus Sans ITC" panose="04020404030D07020202" pitchFamily="82" charset="0"/>
            </a:endParaRPr>
          </a:p>
          <a:p>
            <a:pPr marL="0" indent="0">
              <a:buNone/>
            </a:pPr>
            <a:r>
              <a:rPr lang="en-US" sz="1200" b="1" dirty="0" smtClean="0">
                <a:latin typeface="Tempus Sans ITC" panose="04020404030D07020202" pitchFamily="82" charset="0"/>
              </a:rPr>
              <a:t>Tunde Odunlade</a:t>
            </a:r>
          </a:p>
          <a:p>
            <a:pPr marL="0" indent="0">
              <a:buNone/>
            </a:pPr>
            <a:r>
              <a:rPr lang="en-US" sz="1200" b="1" dirty="0" smtClean="0">
                <a:latin typeface="Tempus Sans ITC" panose="04020404030D07020202" pitchFamily="82" charset="0"/>
              </a:rPr>
              <a:t>September 2019.</a:t>
            </a:r>
          </a:p>
        </p:txBody>
      </p:sp>
    </p:spTree>
    <p:extLst>
      <p:ext uri="{BB962C8B-B14F-4D97-AF65-F5344CB8AC3E}">
        <p14:creationId xmlns:p14="http://schemas.microsoft.com/office/powerpoint/2010/main" xmlns="" val="2640338244"/>
      </p:ext>
    </p:extLst>
  </p:cSld>
  <p:clrMapOvr>
    <a:masterClrMapping/>
  </p:clrMapOvr>
  <mc:AlternateContent xmlns:mc="http://schemas.openxmlformats.org/markup-compatibility/2006">
    <mc:Choice xmlns:p14="http://schemas.microsoft.com/office/powerpoint/2010/main" xmlns="" Requires="p14">
      <p:transition spd="slow" p14:dur="1500">
        <p:random/>
      </p:transition>
    </mc:Choice>
    <mc:Fallback>
      <p:transition spd="slow">
        <p:random/>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250808" y="3606655"/>
            <a:ext cx="3223912" cy="2994006"/>
          </a:xfrm>
        </p:spPr>
        <p:txBody>
          <a:bodyPr>
            <a:normAutofit/>
          </a:bodyPr>
          <a:lstStyle/>
          <a:p>
            <a:r>
              <a:rPr lang="en-US" b="1" dirty="0" smtClean="0">
                <a:latin typeface="Tempus Sans ITC" panose="04020404030D07020202" pitchFamily="82" charset="0"/>
              </a:rPr>
              <a:t>Title of work: Prayers</a:t>
            </a:r>
          </a:p>
          <a:p>
            <a:r>
              <a:rPr lang="en-US" b="1" dirty="0" smtClean="0">
                <a:latin typeface="Tempus Sans ITC" panose="04020404030D07020202" pitchFamily="82" charset="0"/>
              </a:rPr>
              <a:t>Medium: Beaded Damask tapestry (BDT)</a:t>
            </a:r>
          </a:p>
          <a:p>
            <a:r>
              <a:rPr lang="en-US" b="1" dirty="0" smtClean="0">
                <a:latin typeface="Tempus Sans ITC" panose="04020404030D07020202" pitchFamily="82" charset="0"/>
              </a:rPr>
              <a:t>Year of Production: 2019</a:t>
            </a:r>
          </a:p>
          <a:p>
            <a:r>
              <a:rPr lang="en-US" b="1" dirty="0" smtClean="0">
                <a:latin typeface="Tempus Sans ITC" panose="04020404030D07020202" pitchFamily="82" charset="0"/>
              </a:rPr>
              <a:t>Artist: Tunde Odunlade</a:t>
            </a:r>
          </a:p>
          <a:p>
            <a:r>
              <a:rPr lang="en-US" b="1" dirty="0" smtClean="0">
                <a:latin typeface="Tempus Sans ITC" panose="04020404030D07020202" pitchFamily="82" charset="0"/>
              </a:rPr>
              <a:t>Size: 5ft-2ins by 2ft-1ins</a:t>
            </a:r>
          </a:p>
          <a:p>
            <a:r>
              <a:rPr lang="en-US" b="1" dirty="0" smtClean="0">
                <a:latin typeface="Tempus Sans ITC" panose="04020404030D07020202" pitchFamily="82" charset="0"/>
              </a:rPr>
              <a:t>Collection: Estate of the Artist</a:t>
            </a:r>
          </a:p>
        </p:txBody>
      </p:sp>
      <p:pic>
        <p:nvPicPr>
          <p:cNvPr id="3" name="Content Placeholder 2"/>
          <p:cNvPicPr>
            <a:picLocks noGrp="1" noChangeAspect="1"/>
          </p:cNvPicPr>
          <p:nvPr>
            <p:ph idx="1"/>
          </p:nvPr>
        </p:nvPicPr>
        <p:blipFill>
          <a:blip r:embed="rId2" cstate="print">
            <a:extLst>
              <a:ext uri="{28A0092B-C50C-407E-A947-70E740481C1C}">
                <a14:useLocalDpi xmlns:a14="http://schemas.microsoft.com/office/drawing/2010/main" xmlns="" val="0"/>
              </a:ext>
            </a:extLst>
          </a:blip>
          <a:stretch>
            <a:fillRect/>
          </a:stretch>
        </p:blipFill>
        <p:spPr>
          <a:xfrm>
            <a:off x="8485631" y="131934"/>
            <a:ext cx="3041033" cy="6646382"/>
          </a:xfrm>
        </p:spPr>
      </p:pic>
    </p:spTree>
    <p:extLst>
      <p:ext uri="{BB962C8B-B14F-4D97-AF65-F5344CB8AC3E}">
        <p14:creationId xmlns:p14="http://schemas.microsoft.com/office/powerpoint/2010/main" xmlns="" val="1694591462"/>
      </p:ext>
    </p:extLst>
  </p:cSld>
  <p:clrMapOvr>
    <a:masterClrMapping/>
  </p:clrMapOvr>
  <mc:AlternateContent xmlns:mc="http://schemas.openxmlformats.org/markup-compatibility/2006">
    <mc:Choice xmlns:p14="http://schemas.microsoft.com/office/powerpoint/2010/main" xmlns="" Requires="p14">
      <p:transition spd="slow" p14:dur="1500">
        <p:random/>
      </p:transition>
    </mc:Choice>
    <mc:Fallback>
      <p:transition spd="slow">
        <p:random/>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0841" y="67291"/>
            <a:ext cx="10515600" cy="794857"/>
          </a:xfrm>
        </p:spPr>
        <p:txBody>
          <a:bodyPr>
            <a:normAutofit fontScale="90000"/>
          </a:bodyPr>
          <a:lstStyle/>
          <a:p>
            <a:pPr algn="ctr"/>
            <a:r>
              <a:rPr lang="en-US" b="1" dirty="0" smtClean="0">
                <a:latin typeface="Tempus Sans ITC" panose="04020404030D07020202" pitchFamily="82" charset="0"/>
              </a:rPr>
              <a:t>Prayers</a:t>
            </a:r>
            <a:r>
              <a:rPr lang="en-US" sz="3100" b="1" dirty="0" smtClean="0">
                <a:latin typeface="Tempus Sans ITC" panose="04020404030D07020202" pitchFamily="82" charset="0"/>
              </a:rPr>
              <a:t/>
            </a:r>
            <a:br>
              <a:rPr lang="en-US" sz="3100" b="1" dirty="0" smtClean="0">
                <a:latin typeface="Tempus Sans ITC" panose="04020404030D07020202" pitchFamily="82" charset="0"/>
              </a:rPr>
            </a:br>
            <a:r>
              <a:rPr lang="en-US" sz="3100" b="1" dirty="0" smtClean="0">
                <a:latin typeface="Tempus Sans ITC" panose="04020404030D07020202" pitchFamily="82" charset="0"/>
              </a:rPr>
              <a:t>Artist’s inspiration on the piece</a:t>
            </a:r>
            <a:endParaRPr lang="en-US" sz="3100" b="1" dirty="0">
              <a:latin typeface="Tempus Sans ITC" panose="04020404030D07020202" pitchFamily="82" charset="0"/>
            </a:endParaRPr>
          </a:p>
        </p:txBody>
      </p:sp>
      <p:sp>
        <p:nvSpPr>
          <p:cNvPr id="3" name="Content Placeholder 2"/>
          <p:cNvSpPr>
            <a:spLocks noGrp="1"/>
          </p:cNvSpPr>
          <p:nvPr>
            <p:ph idx="1"/>
          </p:nvPr>
        </p:nvSpPr>
        <p:spPr>
          <a:xfrm>
            <a:off x="219455" y="1029354"/>
            <a:ext cx="11798373" cy="5502075"/>
          </a:xfrm>
        </p:spPr>
        <p:txBody>
          <a:bodyPr>
            <a:noAutofit/>
          </a:bodyPr>
          <a:lstStyle/>
          <a:p>
            <a:pPr marL="0" indent="0">
              <a:buNone/>
            </a:pPr>
            <a:r>
              <a:rPr lang="en-US" sz="1400" b="1" dirty="0" smtClean="0">
                <a:latin typeface="Tempus Sans ITC" panose="04020404030D07020202" pitchFamily="82" charset="0"/>
              </a:rPr>
              <a:t>This piece takes a deep-cut into prayer as a tool every creature uses to seek spiritual atonement in service to get closer to their creator (God) and be rewarded towards divine protection, prosperity and ultimately to secure eternity or salvation etc. If so desires. </a:t>
            </a:r>
          </a:p>
          <a:p>
            <a:pPr marL="0" indent="0">
              <a:buNone/>
            </a:pPr>
            <a:r>
              <a:rPr lang="en-US" sz="1400" b="1" dirty="0" smtClean="0">
                <a:latin typeface="Tempus Sans ITC" panose="04020404030D07020202" pitchFamily="82" charset="0"/>
              </a:rPr>
              <a:t>Whichever your religious belief, the primary purpose certainly revolves around one of  the above mentioned phenomena. </a:t>
            </a:r>
          </a:p>
          <a:p>
            <a:pPr marL="0" indent="0">
              <a:buNone/>
            </a:pPr>
            <a:r>
              <a:rPr lang="en-US" sz="1400" b="1" dirty="0" smtClean="0">
                <a:latin typeface="Tempus Sans ITC" panose="04020404030D07020202" pitchFamily="82" charset="0"/>
              </a:rPr>
              <a:t>Even though I still recognize that prayer may not necessarily be religiously undertone, but rationally, it is save to say that prayer and religious beliefs go </a:t>
            </a:r>
            <a:r>
              <a:rPr lang="en-US" sz="1400" b="1" dirty="0" err="1" smtClean="0">
                <a:latin typeface="Tempus Sans ITC" panose="04020404030D07020202" pitchFamily="82" charset="0"/>
              </a:rPr>
              <a:t>pari</a:t>
            </a:r>
            <a:r>
              <a:rPr lang="en-US" sz="1400" b="1" dirty="0" smtClean="0">
                <a:latin typeface="Tempus Sans ITC" panose="04020404030D07020202" pitchFamily="82" charset="0"/>
              </a:rPr>
              <a:t> </a:t>
            </a:r>
            <a:r>
              <a:rPr lang="en-US" sz="1400" b="1" dirty="0" err="1" smtClean="0">
                <a:latin typeface="Tempus Sans ITC" panose="04020404030D07020202" pitchFamily="82" charset="0"/>
              </a:rPr>
              <a:t>parsu</a:t>
            </a:r>
            <a:r>
              <a:rPr lang="en-US" sz="1400" b="1" dirty="0" smtClean="0">
                <a:latin typeface="Tempus Sans ITC" panose="04020404030D07020202" pitchFamily="82" charset="0"/>
              </a:rPr>
              <a:t>. Even if you are an Atheist or a free thinker, ultimately, it all boils down to “Faith and or Practicality”</a:t>
            </a:r>
          </a:p>
          <a:p>
            <a:pPr marL="0" indent="0">
              <a:buNone/>
            </a:pPr>
            <a:r>
              <a:rPr lang="en-US" sz="1400" b="1" dirty="0" smtClean="0">
                <a:latin typeface="Tempus Sans ITC" panose="04020404030D07020202" pitchFamily="82" charset="0"/>
              </a:rPr>
              <a:t>Be that as it may. </a:t>
            </a:r>
            <a:r>
              <a:rPr lang="en-US" sz="1400" b="1" dirty="0">
                <a:latin typeface="Tempus Sans ITC" panose="04020404030D07020202" pitchFamily="82" charset="0"/>
              </a:rPr>
              <a:t>L</a:t>
            </a:r>
            <a:r>
              <a:rPr lang="en-US" sz="1400" b="1" dirty="0" smtClean="0">
                <a:latin typeface="Tempus Sans ITC" panose="04020404030D07020202" pitchFamily="82" charset="0"/>
              </a:rPr>
              <a:t>ets take a swipe at Stephen </a:t>
            </a:r>
            <a:r>
              <a:rPr lang="en-US" sz="1400" b="1" dirty="0" err="1" smtClean="0">
                <a:latin typeface="Tempus Sans ITC" panose="04020404030D07020202" pitchFamily="82" charset="0"/>
              </a:rPr>
              <a:t>Prothero’s</a:t>
            </a:r>
            <a:r>
              <a:rPr lang="en-US" sz="1400" b="1" dirty="0" smtClean="0">
                <a:latin typeface="Tempus Sans ITC" panose="04020404030D07020202" pitchFamily="82" charset="0"/>
              </a:rPr>
              <a:t> book “God is not one” which says, “Religions are different paths up the mountain (“different starting points, same ending point”)</a:t>
            </a:r>
          </a:p>
          <a:p>
            <a:pPr marL="0" indent="0">
              <a:buNone/>
            </a:pPr>
            <a:r>
              <a:rPr lang="en-US" sz="1400" b="1" dirty="0" smtClean="0">
                <a:latin typeface="Tempus Sans ITC" panose="04020404030D07020202" pitchFamily="82" charset="0"/>
              </a:rPr>
              <a:t>Having understood this, it is therefore necessary to bring to the fore the different ways man can communicate with his creator through praying.</a:t>
            </a:r>
          </a:p>
          <a:p>
            <a:pPr marL="0" indent="0">
              <a:buNone/>
            </a:pPr>
            <a:r>
              <a:rPr lang="en-US" sz="1400" b="1" dirty="0" smtClean="0">
                <a:latin typeface="Tempus Sans ITC" panose="04020404030D07020202" pitchFamily="82" charset="0"/>
              </a:rPr>
              <a:t>There are five different types of prayers that every one is as effective as the other;</a:t>
            </a:r>
          </a:p>
          <a:p>
            <a:pPr marL="0" indent="0">
              <a:buNone/>
            </a:pPr>
            <a:r>
              <a:rPr lang="en-US" sz="1400" b="1" dirty="0" smtClean="0">
                <a:latin typeface="Tempus Sans ITC" panose="04020404030D07020202" pitchFamily="82" charset="0"/>
              </a:rPr>
              <a:t>1) Silent prayer</a:t>
            </a:r>
          </a:p>
          <a:p>
            <a:pPr marL="0" indent="0">
              <a:buNone/>
            </a:pPr>
            <a:r>
              <a:rPr lang="en-US" sz="1400" b="1" dirty="0" smtClean="0">
                <a:latin typeface="Tempus Sans ITC" panose="04020404030D07020202" pitchFamily="82" charset="0"/>
              </a:rPr>
              <a:t>2) Ejaculatory prayer</a:t>
            </a:r>
          </a:p>
          <a:p>
            <a:pPr marL="0" indent="0">
              <a:buNone/>
            </a:pPr>
            <a:r>
              <a:rPr lang="en-US" sz="1400" b="1" dirty="0" smtClean="0">
                <a:latin typeface="Tempus Sans ITC" panose="04020404030D07020202" pitchFamily="82" charset="0"/>
              </a:rPr>
              <a:t>3) Congregational prayer</a:t>
            </a:r>
          </a:p>
          <a:p>
            <a:pPr marL="0" indent="0">
              <a:buNone/>
            </a:pPr>
            <a:r>
              <a:rPr lang="en-US" sz="1400" b="1" dirty="0" smtClean="0">
                <a:latin typeface="Tempus Sans ITC" panose="04020404030D07020202" pitchFamily="82" charset="0"/>
              </a:rPr>
              <a:t>4) Intercessory prayer</a:t>
            </a:r>
          </a:p>
          <a:p>
            <a:pPr marL="0" indent="0">
              <a:buNone/>
            </a:pPr>
            <a:r>
              <a:rPr lang="en-US" sz="1400" b="1" dirty="0" smtClean="0">
                <a:latin typeface="Tempus Sans ITC" panose="04020404030D07020202" pitchFamily="82" charset="0"/>
              </a:rPr>
              <a:t>5) Thoughts (that is; power of positive thinking and deeds).</a:t>
            </a:r>
          </a:p>
          <a:p>
            <a:pPr marL="0" indent="0">
              <a:buNone/>
            </a:pPr>
            <a:r>
              <a:rPr lang="en-US" sz="1400" b="1" dirty="0" smtClean="0">
                <a:latin typeface="Tempus Sans ITC" panose="04020404030D07020202" pitchFamily="82" charset="0"/>
              </a:rPr>
              <a:t>All of the above mentioned prayers work just as perfect, but the most potent is ‘thought’ which, if missing, it may hamper the potency of the other four.</a:t>
            </a:r>
          </a:p>
          <a:p>
            <a:pPr marL="0" indent="0">
              <a:buNone/>
            </a:pPr>
            <a:r>
              <a:rPr lang="en-US" sz="1400" b="1" dirty="0" smtClean="0">
                <a:latin typeface="Tempus Sans ITC" panose="04020404030D07020202" pitchFamily="82" charset="0"/>
              </a:rPr>
              <a:t>Therefore, you don’t ever think negative to the extent that you commit it to the universe, it may not go without coming to pass. Be careful what and how you think and say about yourself and about other people too. Thoughts are prayers which reflects in our deeds. Like the old cliché, “Human’s actions, are preceded by thoughts”.</a:t>
            </a:r>
          </a:p>
          <a:p>
            <a:pPr marL="0" indent="0">
              <a:buNone/>
            </a:pPr>
            <a:r>
              <a:rPr lang="en-US" sz="1400" b="1" dirty="0" smtClean="0">
                <a:latin typeface="Tempus Sans ITC" panose="04020404030D07020202" pitchFamily="82" charset="0"/>
              </a:rPr>
              <a:t>Tunde Odunlade</a:t>
            </a:r>
          </a:p>
          <a:p>
            <a:pPr marL="0" indent="0">
              <a:buNone/>
            </a:pPr>
            <a:r>
              <a:rPr lang="en-US" sz="1400" b="1" dirty="0" smtClean="0">
                <a:latin typeface="Tempus Sans ITC" panose="04020404030D07020202" pitchFamily="82" charset="0"/>
              </a:rPr>
              <a:t>August 2019</a:t>
            </a:r>
          </a:p>
        </p:txBody>
      </p:sp>
    </p:spTree>
    <p:extLst>
      <p:ext uri="{BB962C8B-B14F-4D97-AF65-F5344CB8AC3E}">
        <p14:creationId xmlns:p14="http://schemas.microsoft.com/office/powerpoint/2010/main" xmlns="" val="1290484315"/>
      </p:ext>
    </p:extLst>
  </p:cSld>
  <p:clrMapOvr>
    <a:masterClrMapping/>
  </p:clrMapOvr>
  <mc:AlternateContent xmlns:mc="http://schemas.openxmlformats.org/markup-compatibility/2006">
    <mc:Choice xmlns:p14="http://schemas.microsoft.com/office/powerpoint/2010/main" xmlns="" Requires="p14">
      <p:transition spd="slow" p14:dur="1500">
        <p:random/>
      </p:transition>
    </mc:Choice>
    <mc:Fallback>
      <p:transition spd="slow">
        <p:random/>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256034" y="3434225"/>
            <a:ext cx="3223912" cy="2994006"/>
          </a:xfrm>
        </p:spPr>
        <p:txBody>
          <a:bodyPr>
            <a:normAutofit/>
          </a:bodyPr>
          <a:lstStyle/>
          <a:p>
            <a:r>
              <a:rPr lang="en-US" b="1" dirty="0" smtClean="0">
                <a:latin typeface="Tempus Sans ITC" panose="04020404030D07020202" pitchFamily="82" charset="0"/>
              </a:rPr>
              <a:t>Title: </a:t>
            </a:r>
            <a:r>
              <a:rPr lang="en-US" b="1" dirty="0" err="1" smtClean="0">
                <a:latin typeface="Tempus Sans ITC" panose="04020404030D07020202" pitchFamily="82" charset="0"/>
              </a:rPr>
              <a:t>Olugbodi</a:t>
            </a:r>
            <a:endParaRPr lang="en-US" b="1" dirty="0" smtClean="0">
              <a:latin typeface="Tempus Sans ITC" panose="04020404030D07020202" pitchFamily="82" charset="0"/>
            </a:endParaRPr>
          </a:p>
          <a:p>
            <a:r>
              <a:rPr lang="en-US" b="1" dirty="0" smtClean="0">
                <a:latin typeface="Tempus Sans ITC" panose="04020404030D07020202" pitchFamily="82" charset="0"/>
              </a:rPr>
              <a:t>Medium: Beaded Damask Tapestry (BDT)</a:t>
            </a:r>
          </a:p>
          <a:p>
            <a:r>
              <a:rPr lang="en-US" b="1" dirty="0" smtClean="0">
                <a:latin typeface="Tempus Sans ITC" panose="04020404030D07020202" pitchFamily="82" charset="0"/>
              </a:rPr>
              <a:t>Year of Production: 2019</a:t>
            </a:r>
          </a:p>
          <a:p>
            <a:r>
              <a:rPr lang="en-US" b="1" dirty="0" smtClean="0">
                <a:latin typeface="Tempus Sans ITC" panose="04020404030D07020202" pitchFamily="82" charset="0"/>
              </a:rPr>
              <a:t>Artist: Tunde Odunlade</a:t>
            </a:r>
          </a:p>
          <a:p>
            <a:r>
              <a:rPr lang="en-US" b="1" dirty="0" smtClean="0">
                <a:latin typeface="Tempus Sans ITC" panose="04020404030D07020202" pitchFamily="82" charset="0"/>
              </a:rPr>
              <a:t>Size: 41ft by 40-1/2ins</a:t>
            </a:r>
          </a:p>
          <a:p>
            <a:r>
              <a:rPr lang="en-US" b="1" dirty="0" smtClean="0">
                <a:latin typeface="Tempus Sans ITC" panose="04020404030D07020202" pitchFamily="82" charset="0"/>
              </a:rPr>
              <a:t>Collection: Estate of the Artist</a:t>
            </a:r>
          </a:p>
        </p:txBody>
      </p:sp>
      <p:pic>
        <p:nvPicPr>
          <p:cNvPr id="3" name="Content Placeholder 2"/>
          <p:cNvPicPr>
            <a:picLocks noGrp="1" noChangeAspect="1"/>
          </p:cNvPicPr>
          <p:nvPr>
            <p:ph idx="1"/>
          </p:nvPr>
        </p:nvPicPr>
        <p:blipFill>
          <a:blip r:embed="rId2" cstate="print">
            <a:extLst>
              <a:ext uri="{28A0092B-C50C-407E-A947-70E740481C1C}">
                <a14:useLocalDpi xmlns:a14="http://schemas.microsoft.com/office/drawing/2010/main" xmlns="" val="0"/>
              </a:ext>
            </a:extLst>
          </a:blip>
          <a:stretch>
            <a:fillRect/>
          </a:stretch>
        </p:blipFill>
        <p:spPr>
          <a:xfrm>
            <a:off x="5037038" y="232151"/>
            <a:ext cx="6379899" cy="6469969"/>
          </a:xfrm>
        </p:spPr>
      </p:pic>
    </p:spTree>
    <p:extLst>
      <p:ext uri="{BB962C8B-B14F-4D97-AF65-F5344CB8AC3E}">
        <p14:creationId xmlns:p14="http://schemas.microsoft.com/office/powerpoint/2010/main" xmlns="" val="2378550399"/>
      </p:ext>
    </p:extLst>
  </p:cSld>
  <p:clrMapOvr>
    <a:masterClrMapping/>
  </p:clrMapOvr>
  <mc:AlternateContent xmlns:mc="http://schemas.openxmlformats.org/markup-compatibility/2006">
    <mc:Choice xmlns:p14="http://schemas.microsoft.com/office/powerpoint/2010/main" xmlns="" Requires="p14">
      <p:transition spd="slow" p14:dur="1500">
        <p:random/>
      </p:transition>
    </mc:Choice>
    <mc:Fallback>
      <p:transition spd="slow">
        <p:random/>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0841" y="67291"/>
            <a:ext cx="10515600" cy="794857"/>
          </a:xfrm>
        </p:spPr>
        <p:txBody>
          <a:bodyPr>
            <a:normAutofit fontScale="90000"/>
          </a:bodyPr>
          <a:lstStyle/>
          <a:p>
            <a:pPr algn="ctr"/>
            <a:r>
              <a:rPr lang="en-US" b="1" dirty="0" err="1" smtClean="0">
                <a:latin typeface="Tempus Sans ITC" panose="04020404030D07020202" pitchFamily="82" charset="0"/>
              </a:rPr>
              <a:t>Olugbodi</a:t>
            </a:r>
            <a:r>
              <a:rPr lang="en-US" b="1" dirty="0" smtClean="0">
                <a:latin typeface="Tempus Sans ITC" panose="04020404030D07020202" pitchFamily="82" charset="0"/>
              </a:rPr>
              <a:t/>
            </a:r>
            <a:br>
              <a:rPr lang="en-US" b="1" dirty="0" smtClean="0">
                <a:latin typeface="Tempus Sans ITC" panose="04020404030D07020202" pitchFamily="82" charset="0"/>
              </a:rPr>
            </a:br>
            <a:r>
              <a:rPr lang="en-US" sz="3100" b="1" dirty="0" smtClean="0">
                <a:latin typeface="Tempus Sans ITC" panose="04020404030D07020202" pitchFamily="82" charset="0"/>
              </a:rPr>
              <a:t>Artist’s inspiration on the piece</a:t>
            </a:r>
            <a:endParaRPr lang="en-US" sz="3100" b="1" dirty="0">
              <a:latin typeface="Tempus Sans ITC" panose="04020404030D07020202" pitchFamily="82" charset="0"/>
            </a:endParaRPr>
          </a:p>
        </p:txBody>
      </p:sp>
      <p:sp>
        <p:nvSpPr>
          <p:cNvPr id="3" name="Content Placeholder 2"/>
          <p:cNvSpPr>
            <a:spLocks noGrp="1"/>
          </p:cNvSpPr>
          <p:nvPr>
            <p:ph idx="1"/>
          </p:nvPr>
        </p:nvSpPr>
        <p:spPr>
          <a:xfrm>
            <a:off x="219455" y="1029354"/>
            <a:ext cx="11798373" cy="5502075"/>
          </a:xfrm>
        </p:spPr>
        <p:txBody>
          <a:bodyPr>
            <a:noAutofit/>
          </a:bodyPr>
          <a:lstStyle/>
          <a:p>
            <a:pPr marL="0" indent="0">
              <a:buNone/>
            </a:pPr>
            <a:r>
              <a:rPr lang="en-US" sz="1300" b="1" dirty="0" err="1" smtClean="0">
                <a:latin typeface="Tempus Sans ITC" panose="04020404030D07020202" pitchFamily="82" charset="0"/>
              </a:rPr>
              <a:t>Olugbodi</a:t>
            </a:r>
            <a:r>
              <a:rPr lang="en-US" sz="1300" b="1" dirty="0" smtClean="0">
                <a:latin typeface="Tempus Sans ITC" panose="04020404030D07020202" pitchFamily="82" charset="0"/>
              </a:rPr>
              <a:t> “</a:t>
            </a:r>
            <a:r>
              <a:rPr lang="en-US" sz="1300" b="1" dirty="0" err="1" smtClean="0">
                <a:latin typeface="Tempus Sans ITC" panose="04020404030D07020202" pitchFamily="82" charset="0"/>
              </a:rPr>
              <a:t>Omo</a:t>
            </a:r>
            <a:r>
              <a:rPr lang="en-US" sz="1300" b="1" dirty="0" smtClean="0">
                <a:latin typeface="Tempus Sans ITC" panose="04020404030D07020202" pitchFamily="82" charset="0"/>
              </a:rPr>
              <a:t> </a:t>
            </a:r>
            <a:r>
              <a:rPr lang="en-US" sz="1300" b="1" dirty="0" err="1" smtClean="0">
                <a:latin typeface="Tempus Sans ITC" panose="04020404030D07020202" pitchFamily="82" charset="0"/>
              </a:rPr>
              <a:t>t’oni‘ka</a:t>
            </a:r>
            <a:r>
              <a:rPr lang="en-US" sz="1300" b="1" dirty="0" smtClean="0">
                <a:latin typeface="Tempus Sans ITC" panose="04020404030D07020202" pitchFamily="82" charset="0"/>
              </a:rPr>
              <a:t> </a:t>
            </a:r>
            <a:r>
              <a:rPr lang="en-US" sz="1300" b="1" dirty="0" err="1" smtClean="0">
                <a:latin typeface="Tempus Sans ITC" panose="04020404030D07020202" pitchFamily="82" charset="0"/>
              </a:rPr>
              <a:t>mefa</a:t>
            </a:r>
            <a:r>
              <a:rPr lang="en-US" sz="1300" b="1" dirty="0" smtClean="0">
                <a:latin typeface="Tempus Sans ITC" panose="04020404030D07020202" pitchFamily="82" charset="0"/>
              </a:rPr>
              <a:t>, </a:t>
            </a:r>
            <a:r>
              <a:rPr lang="en-US" sz="1300" b="1" dirty="0" err="1" smtClean="0">
                <a:latin typeface="Tempus Sans ITC" panose="04020404030D07020202" pitchFamily="82" charset="0"/>
              </a:rPr>
              <a:t>ni’jOlugbodi</a:t>
            </a:r>
            <a:r>
              <a:rPr lang="en-US" sz="1300" b="1" dirty="0" smtClean="0">
                <a:latin typeface="Tempus Sans ITC" panose="04020404030D07020202" pitchFamily="82" charset="0"/>
              </a:rPr>
              <a:t>” </a:t>
            </a:r>
            <a:r>
              <a:rPr lang="en-US" sz="1300" b="1" dirty="0" err="1" smtClean="0">
                <a:latin typeface="Tempus Sans ITC" panose="04020404030D07020202" pitchFamily="82" charset="0"/>
              </a:rPr>
              <a:t>Olugbodi</a:t>
            </a:r>
            <a:r>
              <a:rPr lang="en-US" sz="1300" b="1" dirty="0" smtClean="0">
                <a:latin typeface="Tempus Sans ITC" panose="04020404030D07020202" pitchFamily="82" charset="0"/>
              </a:rPr>
              <a:t> a Yoruba given name literally translates as A child naturally born with six fingers is named </a:t>
            </a:r>
            <a:r>
              <a:rPr lang="en-US" sz="1300" b="1" dirty="0" err="1" smtClean="0">
                <a:latin typeface="Tempus Sans ITC" panose="04020404030D07020202" pitchFamily="82" charset="0"/>
              </a:rPr>
              <a:t>Olugbodi</a:t>
            </a:r>
            <a:r>
              <a:rPr lang="en-US" sz="1300" b="1" dirty="0" smtClean="0">
                <a:latin typeface="Tempus Sans ITC" panose="04020404030D07020202" pitchFamily="82" charset="0"/>
              </a:rPr>
              <a:t>. An </a:t>
            </a:r>
            <a:r>
              <a:rPr lang="en-US" sz="1300" b="1" dirty="0" err="1" smtClean="0">
                <a:latin typeface="Tempus Sans ITC" panose="04020404030D07020202" pitchFamily="82" charset="0"/>
              </a:rPr>
              <a:t>Olugbodi</a:t>
            </a:r>
            <a:r>
              <a:rPr lang="en-US" sz="1300" b="1" dirty="0" smtClean="0">
                <a:latin typeface="Tempus Sans ITC" panose="04020404030D07020202" pitchFamily="82" charset="0"/>
              </a:rPr>
              <a:t> is a naturally prosperous child which explains the use of cowrie shells on this piece, cowrie is commerce. Count the fingers in each of the figures, they will give you six </a:t>
            </a:r>
            <a:r>
              <a:rPr lang="en-US" sz="1300" b="1" dirty="0" err="1" smtClean="0">
                <a:latin typeface="Tempus Sans ITC" panose="04020404030D07020202" pitchFamily="82" charset="0"/>
              </a:rPr>
              <a:t>six</a:t>
            </a:r>
            <a:r>
              <a:rPr lang="en-US" sz="1300" b="1" dirty="0" smtClean="0">
                <a:latin typeface="Tempus Sans ITC" panose="04020404030D07020202" pitchFamily="82" charset="0"/>
              </a:rPr>
              <a:t>.</a:t>
            </a:r>
          </a:p>
          <a:p>
            <a:pPr marL="0" indent="0">
              <a:buNone/>
            </a:pPr>
            <a:r>
              <a:rPr lang="en-US" sz="1300" b="1" dirty="0" smtClean="0">
                <a:latin typeface="Tempus Sans ITC" panose="04020404030D07020202" pitchFamily="82" charset="0"/>
              </a:rPr>
              <a:t>Whereas, the one born bringing his/her legs out first is named </a:t>
            </a:r>
            <a:r>
              <a:rPr lang="en-US" sz="1300" b="1" dirty="0" err="1" smtClean="0">
                <a:latin typeface="Tempus Sans ITC" panose="04020404030D07020202" pitchFamily="82" charset="0"/>
              </a:rPr>
              <a:t>Ige</a:t>
            </a:r>
            <a:r>
              <a:rPr lang="en-US" sz="1300" b="1" dirty="0" smtClean="0">
                <a:latin typeface="Tempus Sans ITC" panose="04020404030D07020202" pitchFamily="82" charset="0"/>
              </a:rPr>
              <a:t>, </a:t>
            </a:r>
            <a:r>
              <a:rPr lang="en-US" sz="1300" b="1" dirty="0" err="1" smtClean="0">
                <a:latin typeface="Tempus Sans ITC" panose="04020404030D07020202" pitchFamily="82" charset="0"/>
              </a:rPr>
              <a:t>At’ese</a:t>
            </a:r>
            <a:r>
              <a:rPr lang="en-US" sz="1300" b="1" dirty="0" smtClean="0">
                <a:latin typeface="Tempus Sans ITC" panose="04020404030D07020202" pitchFamily="82" charset="0"/>
              </a:rPr>
              <a:t> bi </a:t>
            </a:r>
            <a:r>
              <a:rPr lang="en-US" sz="1300" b="1" dirty="0" err="1" smtClean="0">
                <a:latin typeface="Tempus Sans ITC" panose="04020404030D07020202" pitchFamily="82" charset="0"/>
              </a:rPr>
              <a:t>ni’ge</a:t>
            </a:r>
            <a:r>
              <a:rPr lang="en-US" sz="1300" b="1" dirty="0" smtClean="0">
                <a:latin typeface="Tempus Sans ITC" panose="04020404030D07020202" pitchFamily="82" charset="0"/>
              </a:rPr>
              <a:t>, </a:t>
            </a:r>
            <a:r>
              <a:rPr lang="en-US" sz="1300" b="1" dirty="0" err="1" smtClean="0">
                <a:latin typeface="Tempus Sans ITC" panose="04020404030D07020202" pitchFamily="82" charset="0"/>
              </a:rPr>
              <a:t>Ige</a:t>
            </a:r>
            <a:r>
              <a:rPr lang="en-US" sz="1300" b="1" dirty="0" smtClean="0">
                <a:latin typeface="Tempus Sans ITC" panose="04020404030D07020202" pitchFamily="82" charset="0"/>
              </a:rPr>
              <a:t> </a:t>
            </a:r>
            <a:r>
              <a:rPr lang="en-US" sz="1300" b="1" dirty="0" err="1" smtClean="0">
                <a:latin typeface="Tempus Sans ITC" panose="04020404030D07020202" pitchFamily="82" charset="0"/>
              </a:rPr>
              <a:t>Ladubi</a:t>
            </a:r>
            <a:r>
              <a:rPr lang="en-US" sz="1300" b="1" dirty="0" smtClean="0">
                <a:latin typeface="Tempus Sans ITC" panose="04020404030D07020202" pitchFamily="82" charset="0"/>
              </a:rPr>
              <a:t> </a:t>
            </a:r>
            <a:r>
              <a:rPr lang="en-US" sz="1300" b="1" dirty="0" err="1" smtClean="0">
                <a:latin typeface="Tempus Sans ITC" panose="04020404030D07020202" pitchFamily="82" charset="0"/>
              </a:rPr>
              <a:t>keke</a:t>
            </a:r>
            <a:r>
              <a:rPr lang="en-US" sz="1300" b="1" dirty="0" smtClean="0">
                <a:latin typeface="Tempus Sans ITC" panose="04020404030D07020202" pitchFamily="82" charset="0"/>
              </a:rPr>
              <a:t> </a:t>
            </a:r>
            <a:r>
              <a:rPr lang="en-US" sz="1300" b="1" dirty="0" err="1" smtClean="0">
                <a:latin typeface="Tempus Sans ITC" panose="04020404030D07020202" pitchFamily="82" charset="0"/>
              </a:rPr>
              <a:t>nsogba</a:t>
            </a:r>
            <a:r>
              <a:rPr lang="en-US" sz="1300" b="1" dirty="0" smtClean="0">
                <a:latin typeface="Tempus Sans ITC" panose="04020404030D07020202" pitchFamily="82" charset="0"/>
              </a:rPr>
              <a:t> rondo bi </a:t>
            </a:r>
            <a:r>
              <a:rPr lang="en-US" sz="1300" b="1" dirty="0" err="1" smtClean="0">
                <a:latin typeface="Tempus Sans ITC" panose="04020404030D07020202" pitchFamily="82" charset="0"/>
              </a:rPr>
              <a:t>eiye</a:t>
            </a:r>
            <a:r>
              <a:rPr lang="en-US" sz="1300" b="1" dirty="0" smtClean="0">
                <a:latin typeface="Tempus Sans ITC" panose="04020404030D07020202" pitchFamily="82" charset="0"/>
              </a:rPr>
              <a:t> </a:t>
            </a:r>
            <a:r>
              <a:rPr lang="en-US" sz="1300" b="1" dirty="0" err="1" smtClean="0">
                <a:latin typeface="Tempus Sans ITC" panose="04020404030D07020202" pitchFamily="82" charset="0"/>
              </a:rPr>
              <a:t>okann</a:t>
            </a:r>
            <a:r>
              <a:rPr lang="en-US" sz="1300" b="1" dirty="0" smtClean="0">
                <a:latin typeface="Tempus Sans ITC" panose="04020404030D07020202" pitchFamily="82" charset="0"/>
              </a:rPr>
              <a:t>. And he/she has his/her characteristics peculiar to them, as well.</a:t>
            </a:r>
          </a:p>
          <a:p>
            <a:pPr marL="0" indent="0">
              <a:buNone/>
            </a:pPr>
            <a:r>
              <a:rPr lang="en-US" sz="1300" b="1" dirty="0" smtClean="0">
                <a:latin typeface="Tempus Sans ITC" panose="04020404030D07020202" pitchFamily="82" charset="0"/>
              </a:rPr>
              <a:t>Every Yoruba child gets his/her name during a naming ceremony conducted according to tradition of the said family either on the sixth day or seventh day if a female child and on the eighth day or the ninth day if a male child, or as the case may be.</a:t>
            </a:r>
          </a:p>
          <a:p>
            <a:pPr marL="0" indent="0">
              <a:buNone/>
            </a:pPr>
            <a:r>
              <a:rPr lang="en-US" sz="1300" b="1" dirty="0" smtClean="0">
                <a:latin typeface="Tempus Sans ITC" panose="04020404030D07020202" pitchFamily="82" charset="0"/>
              </a:rPr>
              <a:t>Shakespeare says; “What’s in a name” to the Yoruba people of Southwestern Nigeria, there is a lot of importance attached to a name, as a matter of fact, it is said to be the vanguard of what the future may hold for the child. Like we say, </a:t>
            </a:r>
            <a:r>
              <a:rPr lang="en-US" sz="1300" b="1" dirty="0" err="1" smtClean="0">
                <a:latin typeface="Tempus Sans ITC" panose="04020404030D07020202" pitchFamily="82" charset="0"/>
              </a:rPr>
              <a:t>Oruko</a:t>
            </a:r>
            <a:r>
              <a:rPr lang="en-US" sz="1300" b="1" dirty="0" smtClean="0">
                <a:latin typeface="Tempus Sans ITC" panose="04020404030D07020202" pitchFamily="82" charset="0"/>
              </a:rPr>
              <a:t> </a:t>
            </a:r>
            <a:r>
              <a:rPr lang="en-US" sz="1300" b="1" dirty="0" err="1" smtClean="0">
                <a:latin typeface="Tempus Sans ITC" panose="04020404030D07020202" pitchFamily="82" charset="0"/>
              </a:rPr>
              <a:t>omo</a:t>
            </a:r>
            <a:r>
              <a:rPr lang="en-US" sz="1300" b="1" dirty="0" smtClean="0">
                <a:latin typeface="Tempus Sans ITC" panose="04020404030D07020202" pitchFamily="82" charset="0"/>
              </a:rPr>
              <a:t> </a:t>
            </a:r>
            <a:r>
              <a:rPr lang="en-US" sz="1300" b="1" dirty="0" err="1" smtClean="0">
                <a:latin typeface="Tempus Sans ITC" panose="04020404030D07020202" pitchFamily="82" charset="0"/>
              </a:rPr>
              <a:t>ni</a:t>
            </a:r>
            <a:r>
              <a:rPr lang="en-US" sz="1300" b="1" dirty="0" smtClean="0">
                <a:latin typeface="Tempus Sans ITC" panose="04020404030D07020202" pitchFamily="82" charset="0"/>
              </a:rPr>
              <a:t> </a:t>
            </a:r>
            <a:r>
              <a:rPr lang="en-US" sz="1300" b="1" dirty="0" err="1" smtClean="0">
                <a:latin typeface="Tempus Sans ITC" panose="04020404030D07020202" pitchFamily="82" charset="0"/>
              </a:rPr>
              <a:t>j’anu</a:t>
            </a:r>
            <a:r>
              <a:rPr lang="en-US" sz="1300" b="1" dirty="0" smtClean="0">
                <a:latin typeface="Tempus Sans ITC" panose="04020404030D07020202" pitchFamily="82" charset="0"/>
              </a:rPr>
              <a:t> </a:t>
            </a:r>
            <a:r>
              <a:rPr lang="en-US" sz="1300" b="1" dirty="0" err="1" smtClean="0">
                <a:latin typeface="Tempus Sans ITC" panose="04020404030D07020202" pitchFamily="82" charset="0"/>
              </a:rPr>
              <a:t>omo</a:t>
            </a:r>
            <a:r>
              <a:rPr lang="en-US" sz="1300" b="1" dirty="0" smtClean="0">
                <a:latin typeface="Tempus Sans ITC" panose="04020404030D07020202" pitchFamily="82" charset="0"/>
              </a:rPr>
              <a:t> </a:t>
            </a:r>
            <a:r>
              <a:rPr lang="en-US" sz="1300" b="1" dirty="0" err="1" smtClean="0">
                <a:latin typeface="Tempus Sans ITC" panose="04020404030D07020202" pitchFamily="82" charset="0"/>
              </a:rPr>
              <a:t>ati</a:t>
            </a:r>
            <a:r>
              <a:rPr lang="en-US" sz="1300" b="1" dirty="0" smtClean="0">
                <a:latin typeface="Tempus Sans ITC" panose="04020404030D07020202" pitchFamily="82" charset="0"/>
              </a:rPr>
              <a:t> </a:t>
            </a:r>
            <a:r>
              <a:rPr lang="en-US" sz="1300" b="1" dirty="0" err="1" smtClean="0">
                <a:latin typeface="Tempus Sans ITC" panose="04020404030D07020202" pitchFamily="82" charset="0"/>
              </a:rPr>
              <a:t>oruko</a:t>
            </a:r>
            <a:r>
              <a:rPr lang="en-US" sz="1300" b="1" dirty="0" smtClean="0">
                <a:latin typeface="Tempus Sans ITC" panose="04020404030D07020202" pitchFamily="82" charset="0"/>
              </a:rPr>
              <a:t> </a:t>
            </a:r>
            <a:r>
              <a:rPr lang="en-US" sz="1300" b="1" dirty="0" err="1" smtClean="0">
                <a:latin typeface="Tempus Sans ITC" panose="04020404030D07020202" pitchFamily="82" charset="0"/>
              </a:rPr>
              <a:t>omo</a:t>
            </a:r>
            <a:r>
              <a:rPr lang="en-US" sz="1300" b="1" dirty="0" smtClean="0">
                <a:latin typeface="Tempus Sans ITC" panose="04020404030D07020202" pitchFamily="82" charset="0"/>
              </a:rPr>
              <a:t> </a:t>
            </a:r>
            <a:r>
              <a:rPr lang="en-US" sz="1300" b="1" dirty="0" err="1" smtClean="0">
                <a:latin typeface="Tempus Sans ITC" panose="04020404030D07020202" pitchFamily="82" charset="0"/>
              </a:rPr>
              <a:t>nii</a:t>
            </a:r>
            <a:r>
              <a:rPr lang="en-US" sz="1300" b="1" dirty="0" smtClean="0">
                <a:latin typeface="Tempus Sans ITC" panose="04020404030D07020202" pitchFamily="82" charset="0"/>
              </a:rPr>
              <a:t> </a:t>
            </a:r>
            <a:r>
              <a:rPr lang="en-US" sz="1300" b="1" dirty="0" err="1" smtClean="0">
                <a:latin typeface="Tempus Sans ITC" panose="04020404030D07020202" pitchFamily="82" charset="0"/>
              </a:rPr>
              <a:t>ro</a:t>
            </a:r>
            <a:r>
              <a:rPr lang="en-US" sz="1300" b="1" dirty="0" smtClean="0">
                <a:latin typeface="Tempus Sans ITC" panose="04020404030D07020202" pitchFamily="82" charset="0"/>
              </a:rPr>
              <a:t> </a:t>
            </a:r>
            <a:r>
              <a:rPr lang="en-US" sz="1300" b="1" dirty="0" err="1" smtClean="0">
                <a:latin typeface="Tempus Sans ITC" panose="04020404030D07020202" pitchFamily="82" charset="0"/>
              </a:rPr>
              <a:t>omo</a:t>
            </a:r>
            <a:r>
              <a:rPr lang="en-US" sz="1300" b="1" dirty="0" smtClean="0">
                <a:latin typeface="Tempus Sans ITC" panose="04020404030D07020202" pitchFamily="82" charset="0"/>
              </a:rPr>
              <a:t>, that is; the name of a child is his/her vanguard, that which, goes beyond mere identification.</a:t>
            </a:r>
          </a:p>
          <a:p>
            <a:pPr marL="0" indent="0">
              <a:buNone/>
            </a:pPr>
            <a:r>
              <a:rPr lang="en-US" sz="1300" b="1" dirty="0" smtClean="0">
                <a:latin typeface="Tempus Sans ITC" panose="04020404030D07020202" pitchFamily="82" charset="0"/>
              </a:rPr>
              <a:t>Yoruba has three categories of given name, </a:t>
            </a:r>
          </a:p>
          <a:p>
            <a:pPr marL="0" indent="0">
              <a:buNone/>
            </a:pPr>
            <a:r>
              <a:rPr lang="en-US" sz="1300" b="1" dirty="0" smtClean="0">
                <a:latin typeface="Tempus Sans ITC" panose="04020404030D07020202" pitchFamily="82" charset="0"/>
              </a:rPr>
              <a:t>1) </a:t>
            </a:r>
            <a:r>
              <a:rPr lang="en-US" sz="1300" b="1" dirty="0" err="1" smtClean="0">
                <a:latin typeface="Tempus Sans ITC" panose="04020404030D07020202" pitchFamily="82" charset="0"/>
              </a:rPr>
              <a:t>Oruko</a:t>
            </a:r>
            <a:r>
              <a:rPr lang="en-US" sz="1300" b="1" dirty="0" smtClean="0">
                <a:latin typeface="Tempus Sans ITC" panose="04020404030D07020202" pitchFamily="82" charset="0"/>
              </a:rPr>
              <a:t> </a:t>
            </a:r>
            <a:r>
              <a:rPr lang="en-US" sz="1300" b="1" dirty="0" err="1" smtClean="0">
                <a:latin typeface="Tempus Sans ITC" panose="04020404030D07020202" pitchFamily="82" charset="0"/>
              </a:rPr>
              <a:t>amut’orunwa</a:t>
            </a:r>
            <a:r>
              <a:rPr lang="en-US" sz="1300" b="1" dirty="0" smtClean="0">
                <a:latin typeface="Tempus Sans ITC" panose="04020404030D07020202" pitchFamily="82" charset="0"/>
              </a:rPr>
              <a:t> (name brought from heaven) which means the name the child was born with, naturally. Like </a:t>
            </a:r>
            <a:r>
              <a:rPr lang="en-US" sz="1300" b="1" dirty="0" err="1" smtClean="0">
                <a:latin typeface="Tempus Sans ITC" panose="04020404030D07020202" pitchFamily="82" charset="0"/>
              </a:rPr>
              <a:t>Olugbodi</a:t>
            </a:r>
            <a:r>
              <a:rPr lang="en-US" sz="1300" b="1" dirty="0" smtClean="0">
                <a:latin typeface="Tempus Sans ITC" panose="04020404030D07020202" pitchFamily="82" charset="0"/>
              </a:rPr>
              <a:t>, </a:t>
            </a:r>
            <a:r>
              <a:rPr lang="en-US" sz="1300" b="1" dirty="0" err="1" smtClean="0">
                <a:latin typeface="Tempus Sans ITC" panose="04020404030D07020202" pitchFamily="82" charset="0"/>
              </a:rPr>
              <a:t>Ige</a:t>
            </a:r>
            <a:r>
              <a:rPr lang="en-US" sz="1300" b="1" dirty="0" smtClean="0">
                <a:latin typeface="Tempus Sans ITC" panose="04020404030D07020202" pitchFamily="82" charset="0"/>
              </a:rPr>
              <a:t>, </a:t>
            </a:r>
            <a:r>
              <a:rPr lang="en-US" sz="1300" b="1" dirty="0" err="1" smtClean="0">
                <a:latin typeface="Tempus Sans ITC" panose="04020404030D07020202" pitchFamily="82" charset="0"/>
              </a:rPr>
              <a:t>Oke</a:t>
            </a:r>
            <a:r>
              <a:rPr lang="en-US" sz="1300" b="1" dirty="0" smtClean="0">
                <a:latin typeface="Tempus Sans ITC" panose="04020404030D07020202" pitchFamily="82" charset="0"/>
              </a:rPr>
              <a:t>, </a:t>
            </a:r>
            <a:r>
              <a:rPr lang="en-US" sz="1300" b="1" dirty="0" err="1" smtClean="0">
                <a:latin typeface="Tempus Sans ITC" panose="04020404030D07020202" pitchFamily="82" charset="0"/>
              </a:rPr>
              <a:t>Ojo</a:t>
            </a:r>
            <a:r>
              <a:rPr lang="en-US" sz="1300" b="1" dirty="0" smtClean="0">
                <a:latin typeface="Tempus Sans ITC" panose="04020404030D07020202" pitchFamily="82" charset="0"/>
              </a:rPr>
              <a:t>, </a:t>
            </a:r>
            <a:r>
              <a:rPr lang="en-US" sz="1300" b="1" dirty="0" err="1" smtClean="0">
                <a:latin typeface="Tempus Sans ITC" panose="04020404030D07020202" pitchFamily="82" charset="0"/>
              </a:rPr>
              <a:t>Aina</a:t>
            </a:r>
            <a:r>
              <a:rPr lang="en-US" sz="1300" b="1" dirty="0" smtClean="0">
                <a:latin typeface="Tempus Sans ITC" panose="04020404030D07020202" pitchFamily="82" charset="0"/>
              </a:rPr>
              <a:t> and </a:t>
            </a:r>
            <a:r>
              <a:rPr lang="en-US" sz="1300" b="1" dirty="0" err="1" smtClean="0">
                <a:latin typeface="Tempus Sans ITC" panose="04020404030D07020202" pitchFamily="82" charset="0"/>
              </a:rPr>
              <a:t>Ibeji</a:t>
            </a:r>
            <a:r>
              <a:rPr lang="en-US" sz="1300" b="1" dirty="0" smtClean="0">
                <a:latin typeface="Tempus Sans ITC" panose="04020404030D07020202" pitchFamily="82" charset="0"/>
              </a:rPr>
              <a:t> (Twins). </a:t>
            </a:r>
            <a:r>
              <a:rPr lang="en-US" sz="1300" b="1" dirty="0" err="1" smtClean="0">
                <a:latin typeface="Tempus Sans ITC" panose="04020404030D07020202" pitchFamily="82" charset="0"/>
              </a:rPr>
              <a:t>etc</a:t>
            </a:r>
            <a:endParaRPr lang="en-US" sz="1300" b="1" dirty="0" smtClean="0">
              <a:latin typeface="Tempus Sans ITC" panose="04020404030D07020202" pitchFamily="82" charset="0"/>
            </a:endParaRPr>
          </a:p>
          <a:p>
            <a:pPr marL="0" indent="0">
              <a:buNone/>
            </a:pPr>
            <a:r>
              <a:rPr lang="en-US" sz="1300" b="1" dirty="0" smtClean="0">
                <a:latin typeface="Tempus Sans ITC" panose="04020404030D07020202" pitchFamily="82" charset="0"/>
              </a:rPr>
              <a:t>2) </a:t>
            </a:r>
            <a:r>
              <a:rPr lang="en-US" sz="1300" b="1" dirty="0" err="1" smtClean="0">
                <a:latin typeface="Tempus Sans ITC" panose="04020404030D07020202" pitchFamily="82" charset="0"/>
              </a:rPr>
              <a:t>Oruko</a:t>
            </a:r>
            <a:r>
              <a:rPr lang="en-US" sz="1300" b="1" dirty="0" smtClean="0">
                <a:latin typeface="Tempus Sans ITC" panose="04020404030D07020202" pitchFamily="82" charset="0"/>
              </a:rPr>
              <a:t> </a:t>
            </a:r>
            <a:r>
              <a:rPr lang="en-US" sz="1300" b="1" dirty="0" err="1" smtClean="0">
                <a:latin typeface="Tempus Sans ITC" panose="04020404030D07020202" pitchFamily="82" charset="0"/>
              </a:rPr>
              <a:t>abiso</a:t>
            </a:r>
            <a:r>
              <a:rPr lang="en-US" sz="1300" b="1" dirty="0" smtClean="0">
                <a:latin typeface="Tempus Sans ITC" panose="04020404030D07020202" pitchFamily="82" charset="0"/>
              </a:rPr>
              <a:t> That is; a name given to the child as the parents desire, going by the circumstances of the family when the child was born e.g. </a:t>
            </a:r>
            <a:r>
              <a:rPr lang="en-US" sz="1300" b="1" dirty="0" err="1" smtClean="0">
                <a:latin typeface="Tempus Sans ITC" panose="04020404030D07020202" pitchFamily="82" charset="0"/>
              </a:rPr>
              <a:t>Omolaja</a:t>
            </a:r>
            <a:r>
              <a:rPr lang="en-US" sz="1300" b="1" dirty="0" smtClean="0">
                <a:latin typeface="Tempus Sans ITC" panose="04020404030D07020202" pitchFamily="82" charset="0"/>
              </a:rPr>
              <a:t> meaning Child separates rifts, </a:t>
            </a:r>
            <a:r>
              <a:rPr lang="en-US" sz="1300" b="1" dirty="0" err="1" smtClean="0">
                <a:latin typeface="Tempus Sans ITC" panose="04020404030D07020202" pitchFamily="82" charset="0"/>
              </a:rPr>
              <a:t>Oluwatamilore</a:t>
            </a:r>
            <a:r>
              <a:rPr lang="en-US" sz="1300" b="1" dirty="0" smtClean="0">
                <a:latin typeface="Tempus Sans ITC" panose="04020404030D07020202" pitchFamily="82" charset="0"/>
              </a:rPr>
              <a:t> meaning God has given me a precious gift Etc. </a:t>
            </a:r>
          </a:p>
          <a:p>
            <a:pPr marL="0" indent="0">
              <a:buNone/>
            </a:pPr>
            <a:r>
              <a:rPr lang="en-US" sz="1300" b="1" dirty="0" smtClean="0">
                <a:latin typeface="Tempus Sans ITC" panose="04020404030D07020202" pitchFamily="82" charset="0"/>
              </a:rPr>
              <a:t>3) </a:t>
            </a:r>
            <a:r>
              <a:rPr lang="en-US" sz="1300" b="1" dirty="0" err="1" smtClean="0">
                <a:latin typeface="Tempus Sans ITC" panose="04020404030D07020202" pitchFamily="82" charset="0"/>
              </a:rPr>
              <a:t>Oruko</a:t>
            </a:r>
            <a:r>
              <a:rPr lang="en-US" sz="1300" b="1" dirty="0" smtClean="0">
                <a:latin typeface="Tempus Sans ITC" panose="04020404030D07020202" pitchFamily="82" charset="0"/>
              </a:rPr>
              <a:t> </a:t>
            </a:r>
            <a:r>
              <a:rPr lang="en-US" sz="1300" b="1" dirty="0" err="1" smtClean="0">
                <a:latin typeface="Tempus Sans ITC" panose="04020404030D07020202" pitchFamily="82" charset="0"/>
              </a:rPr>
              <a:t>abalaiye</a:t>
            </a:r>
            <a:r>
              <a:rPr lang="en-US" sz="1300" b="1" dirty="0" smtClean="0">
                <a:latin typeface="Tempus Sans ITC" panose="04020404030D07020202" pitchFamily="82" charset="0"/>
              </a:rPr>
              <a:t>: that is; a name given according to the history or antecedents of the family in question, that which, could be associated with the family traits or trade or inheritance e.g. Ade (Crown) </a:t>
            </a:r>
            <a:r>
              <a:rPr lang="en-US" sz="1300" b="1" dirty="0" err="1" smtClean="0">
                <a:latin typeface="Tempus Sans ITC" panose="04020404030D07020202" pitchFamily="82" charset="0"/>
              </a:rPr>
              <a:t>Adeyemi</a:t>
            </a:r>
            <a:r>
              <a:rPr lang="en-US" sz="1300" b="1" dirty="0" smtClean="0">
                <a:latin typeface="Tempus Sans ITC" panose="04020404030D07020202" pitchFamily="82" charset="0"/>
              </a:rPr>
              <a:t> Crown befits me, </a:t>
            </a:r>
            <a:r>
              <a:rPr lang="en-US" sz="1300" b="1" dirty="0" err="1" smtClean="0">
                <a:latin typeface="Tempus Sans ITC" panose="04020404030D07020202" pitchFamily="82" charset="0"/>
              </a:rPr>
              <a:t>Adetayo</a:t>
            </a:r>
            <a:r>
              <a:rPr lang="en-US" sz="1300" b="1" dirty="0" smtClean="0">
                <a:latin typeface="Tempus Sans ITC" panose="04020404030D07020202" pitchFamily="82" charset="0"/>
              </a:rPr>
              <a:t> Crown is worthy of joy or Ola (wealth) Ola, </a:t>
            </a:r>
            <a:r>
              <a:rPr lang="en-US" sz="1300" b="1" dirty="0" err="1" smtClean="0">
                <a:latin typeface="Tempus Sans ITC" panose="04020404030D07020202" pitchFamily="82" charset="0"/>
              </a:rPr>
              <a:t>Oladayo</a:t>
            </a:r>
            <a:r>
              <a:rPr lang="en-US" sz="1300" b="1" dirty="0" smtClean="0">
                <a:latin typeface="Tempus Sans ITC" panose="04020404030D07020202" pitchFamily="82" charset="0"/>
              </a:rPr>
              <a:t> means, wealth metamorphosis into joy. Or a name which has to do with religion (Ogun, Sango, </a:t>
            </a:r>
            <a:r>
              <a:rPr lang="en-US" sz="1300" b="1" dirty="0" err="1" smtClean="0">
                <a:latin typeface="Tempus Sans ITC" panose="04020404030D07020202" pitchFamily="82" charset="0"/>
              </a:rPr>
              <a:t>Oya</a:t>
            </a:r>
            <a:r>
              <a:rPr lang="en-US" sz="1300" b="1" dirty="0" smtClean="0">
                <a:latin typeface="Tempus Sans ITC" panose="04020404030D07020202" pitchFamily="82" charset="0"/>
              </a:rPr>
              <a:t>, </a:t>
            </a:r>
            <a:r>
              <a:rPr lang="en-US" sz="1300" b="1" dirty="0" err="1" smtClean="0">
                <a:latin typeface="Tempus Sans ITC" panose="04020404030D07020202" pitchFamily="82" charset="0"/>
              </a:rPr>
              <a:t>Ifa</a:t>
            </a:r>
            <a:r>
              <a:rPr lang="en-US" sz="1300" b="1" dirty="0" smtClean="0">
                <a:latin typeface="Tempus Sans ITC" panose="04020404030D07020202" pitchFamily="82" charset="0"/>
              </a:rPr>
              <a:t>, Osun, </a:t>
            </a:r>
            <a:r>
              <a:rPr lang="en-US" sz="1300" b="1" dirty="0" err="1" smtClean="0">
                <a:latin typeface="Tempus Sans ITC" panose="04020404030D07020202" pitchFamily="82" charset="0"/>
              </a:rPr>
              <a:t>Sodo</a:t>
            </a:r>
            <a:r>
              <a:rPr lang="en-US" sz="1300" b="1" dirty="0" smtClean="0">
                <a:latin typeface="Tempus Sans ITC" panose="04020404030D07020202" pitchFamily="82" charset="0"/>
              </a:rPr>
              <a:t> or </a:t>
            </a:r>
            <a:r>
              <a:rPr lang="en-US" sz="1300" b="1" dirty="0" err="1" smtClean="0">
                <a:latin typeface="Tempus Sans ITC" panose="04020404030D07020202" pitchFamily="82" charset="0"/>
              </a:rPr>
              <a:t>Oje</a:t>
            </a:r>
            <a:r>
              <a:rPr lang="en-US" sz="1300" b="1" dirty="0" smtClean="0">
                <a:latin typeface="Tempus Sans ITC" panose="04020404030D07020202" pitchFamily="82" charset="0"/>
              </a:rPr>
              <a:t> and Akin </a:t>
            </a:r>
            <a:r>
              <a:rPr lang="en-US" sz="1300" b="1" dirty="0" err="1" smtClean="0">
                <a:latin typeface="Tempus Sans ITC" panose="04020404030D07020202" pitchFamily="82" charset="0"/>
              </a:rPr>
              <a:t>Etc</a:t>
            </a:r>
            <a:r>
              <a:rPr lang="en-US" sz="1300" b="1" dirty="0" smtClean="0">
                <a:latin typeface="Tempus Sans ITC" panose="04020404030D07020202" pitchFamily="82" charset="0"/>
              </a:rPr>
              <a:t>) </a:t>
            </a:r>
            <a:r>
              <a:rPr lang="en-US" sz="1300" b="1" dirty="0" err="1" smtClean="0">
                <a:latin typeface="Tempus Sans ITC" panose="04020404030D07020202" pitchFamily="82" charset="0"/>
              </a:rPr>
              <a:t>Ogundeji</a:t>
            </a:r>
            <a:r>
              <a:rPr lang="en-US" sz="1300" b="1" dirty="0" smtClean="0">
                <a:latin typeface="Tempus Sans ITC" panose="04020404030D07020202" pitchFamily="82" charset="0"/>
              </a:rPr>
              <a:t>, that is; a second male child in the family of Ogun; </a:t>
            </a:r>
            <a:r>
              <a:rPr lang="en-US" sz="1300" b="1" dirty="0" err="1" smtClean="0">
                <a:latin typeface="Tempus Sans ITC" panose="04020404030D07020202" pitchFamily="82" charset="0"/>
              </a:rPr>
              <a:t>Osunseyi</a:t>
            </a:r>
            <a:r>
              <a:rPr lang="en-US" sz="1300" b="1" dirty="0" smtClean="0">
                <a:latin typeface="Tempus Sans ITC" panose="04020404030D07020202" pitchFamily="82" charset="0"/>
              </a:rPr>
              <a:t> Osun has brought this to bear; </a:t>
            </a:r>
            <a:r>
              <a:rPr lang="en-US" sz="1300" b="1" dirty="0" err="1" smtClean="0">
                <a:latin typeface="Tempus Sans ITC" panose="04020404030D07020202" pitchFamily="82" charset="0"/>
              </a:rPr>
              <a:t>Oyafemi</a:t>
            </a:r>
            <a:r>
              <a:rPr lang="en-US" sz="1300" b="1" dirty="0" smtClean="0">
                <a:latin typeface="Tempus Sans ITC" panose="04020404030D07020202" pitchFamily="82" charset="0"/>
              </a:rPr>
              <a:t> means </a:t>
            </a:r>
            <a:r>
              <a:rPr lang="en-US" sz="1300" b="1" dirty="0" err="1" smtClean="0">
                <a:latin typeface="Tempus Sans ITC" panose="04020404030D07020202" pitchFamily="82" charset="0"/>
              </a:rPr>
              <a:t>Oya</a:t>
            </a:r>
            <a:r>
              <a:rPr lang="en-US" sz="1300" b="1" dirty="0" smtClean="0">
                <a:latin typeface="Tempus Sans ITC" panose="04020404030D07020202" pitchFamily="82" charset="0"/>
              </a:rPr>
              <a:t> loves me; </a:t>
            </a:r>
            <a:r>
              <a:rPr lang="en-US" sz="1300" b="1" dirty="0" err="1" smtClean="0">
                <a:latin typeface="Tempus Sans ITC" panose="04020404030D07020202" pitchFamily="82" charset="0"/>
              </a:rPr>
              <a:t>Sangodare</a:t>
            </a:r>
            <a:r>
              <a:rPr lang="en-US" sz="1300" b="1" dirty="0" smtClean="0">
                <a:latin typeface="Tempus Sans ITC" panose="04020404030D07020202" pitchFamily="82" charset="0"/>
              </a:rPr>
              <a:t> meaning Sango has vindicated me. </a:t>
            </a:r>
            <a:r>
              <a:rPr lang="en-US" sz="1300" b="1" dirty="0" err="1" smtClean="0">
                <a:latin typeface="Tempus Sans ITC" panose="04020404030D07020202" pitchFamily="82" charset="0"/>
              </a:rPr>
              <a:t>Sodo</a:t>
            </a:r>
            <a:r>
              <a:rPr lang="en-US" sz="1300" b="1" dirty="0" smtClean="0">
                <a:latin typeface="Tempus Sans ITC" panose="04020404030D07020202" pitchFamily="82" charset="0"/>
              </a:rPr>
              <a:t> or </a:t>
            </a:r>
            <a:r>
              <a:rPr lang="en-US" sz="1300" b="1" dirty="0" err="1" smtClean="0">
                <a:latin typeface="Tempus Sans ITC" panose="04020404030D07020202" pitchFamily="82" charset="0"/>
              </a:rPr>
              <a:t>Oje</a:t>
            </a:r>
            <a:r>
              <a:rPr lang="en-US" sz="1300" b="1" dirty="0" smtClean="0">
                <a:latin typeface="Tempus Sans ITC" panose="04020404030D07020202" pitchFamily="82" charset="0"/>
              </a:rPr>
              <a:t> has to do with masquerade </a:t>
            </a:r>
            <a:r>
              <a:rPr lang="en-US" sz="1300" b="1" dirty="0" err="1" smtClean="0">
                <a:latin typeface="Tempus Sans ITC" panose="04020404030D07020202" pitchFamily="82" charset="0"/>
              </a:rPr>
              <a:t>Oje</a:t>
            </a:r>
            <a:r>
              <a:rPr lang="en-US" sz="1300" b="1" dirty="0" smtClean="0">
                <a:latin typeface="Tempus Sans ITC" panose="04020404030D07020202" pitchFamily="82" charset="0"/>
              </a:rPr>
              <a:t> </a:t>
            </a:r>
            <a:r>
              <a:rPr lang="en-US" sz="1300" b="1" dirty="0" err="1" smtClean="0">
                <a:latin typeface="Tempus Sans ITC" panose="04020404030D07020202" pitchFamily="82" charset="0"/>
              </a:rPr>
              <a:t>Ojelabi</a:t>
            </a:r>
            <a:r>
              <a:rPr lang="en-US" sz="1300" b="1" dirty="0" smtClean="0">
                <a:latin typeface="Tempus Sans ITC" panose="04020404030D07020202" pitchFamily="82" charset="0"/>
              </a:rPr>
              <a:t> meaning we have given birth to a masquerader.</a:t>
            </a:r>
          </a:p>
          <a:p>
            <a:pPr marL="0" indent="0">
              <a:buNone/>
            </a:pPr>
            <a:r>
              <a:rPr lang="en-US" sz="1300" b="1" dirty="0" err="1" smtClean="0">
                <a:latin typeface="Tempus Sans ITC" panose="04020404030D07020202" pitchFamily="82" charset="0"/>
              </a:rPr>
              <a:t>Ifagbemi</a:t>
            </a:r>
            <a:r>
              <a:rPr lang="en-US" sz="1300" b="1" dirty="0" smtClean="0">
                <a:latin typeface="Tempus Sans ITC" panose="04020404030D07020202" pitchFamily="82" charset="0"/>
              </a:rPr>
              <a:t> meaning </a:t>
            </a:r>
            <a:r>
              <a:rPr lang="en-US" sz="1300" b="1" dirty="0" err="1" smtClean="0">
                <a:latin typeface="Tempus Sans ITC" panose="04020404030D07020202" pitchFamily="82" charset="0"/>
              </a:rPr>
              <a:t>Ifa</a:t>
            </a:r>
            <a:r>
              <a:rPr lang="en-US" sz="1300" b="1" dirty="0" smtClean="0">
                <a:latin typeface="Tempus Sans ITC" panose="04020404030D07020202" pitchFamily="82" charset="0"/>
              </a:rPr>
              <a:t> the oracle rewards me. Akin has to do with bravery. It could mean the family pedigree are warlords or community leader so a name like </a:t>
            </a:r>
            <a:r>
              <a:rPr lang="en-US" sz="1300" b="1" dirty="0" err="1" smtClean="0">
                <a:latin typeface="Tempus Sans ITC" panose="04020404030D07020202" pitchFamily="82" charset="0"/>
              </a:rPr>
              <a:t>Akinboboye</a:t>
            </a:r>
            <a:r>
              <a:rPr lang="en-US" sz="1300" b="1" dirty="0" smtClean="0">
                <a:latin typeface="Tempus Sans ITC" panose="04020404030D07020202" pitchFamily="82" charset="0"/>
              </a:rPr>
              <a:t> means bravery comes at a time </a:t>
            </a:r>
            <a:r>
              <a:rPr lang="en-US" sz="1300" b="1" dirty="0" err="1" smtClean="0">
                <a:latin typeface="Tempus Sans ITC" panose="04020404030D07020202" pitchFamily="82" charset="0"/>
              </a:rPr>
              <a:t>chieftancy</a:t>
            </a:r>
            <a:r>
              <a:rPr lang="en-US" sz="1300" b="1" dirty="0" smtClean="0">
                <a:latin typeface="Tempus Sans ITC" panose="04020404030D07020202" pitchFamily="82" charset="0"/>
              </a:rPr>
              <a:t> honor has emerged in the family, so that’s double treasure to the family. It goes on and on like that.</a:t>
            </a:r>
          </a:p>
          <a:p>
            <a:pPr marL="0" indent="0">
              <a:buNone/>
            </a:pPr>
            <a:r>
              <a:rPr lang="en-US" sz="1300" b="1" dirty="0" smtClean="0">
                <a:latin typeface="Tempus Sans ITC" panose="04020404030D07020202" pitchFamily="82" charset="0"/>
              </a:rPr>
              <a:t>Every given name in Yoruba has a very deep meaning. </a:t>
            </a:r>
          </a:p>
          <a:p>
            <a:pPr marL="0" indent="0">
              <a:buNone/>
            </a:pPr>
            <a:r>
              <a:rPr lang="en-US" sz="1300" b="1" dirty="0" smtClean="0">
                <a:latin typeface="Tempus Sans ITC" panose="04020404030D07020202" pitchFamily="82" charset="0"/>
              </a:rPr>
              <a:t>The extension of given names is </a:t>
            </a:r>
            <a:r>
              <a:rPr lang="en-US" sz="1300" b="1" dirty="0" err="1" smtClean="0">
                <a:latin typeface="Tempus Sans ITC" panose="04020404030D07020202" pitchFamily="82" charset="0"/>
              </a:rPr>
              <a:t>Oriki</a:t>
            </a:r>
            <a:r>
              <a:rPr lang="en-US" sz="1300" b="1" dirty="0" smtClean="0">
                <a:latin typeface="Tempus Sans ITC" panose="04020404030D07020202" pitchFamily="82" charset="0"/>
              </a:rPr>
              <a:t>. Which we will discuss at a later date.</a:t>
            </a:r>
          </a:p>
          <a:p>
            <a:pPr marL="0" indent="0">
              <a:buNone/>
            </a:pPr>
            <a:r>
              <a:rPr lang="en-US" sz="1300" b="1" dirty="0" smtClean="0">
                <a:latin typeface="Tempus Sans ITC" panose="04020404030D07020202" pitchFamily="82" charset="0"/>
              </a:rPr>
              <a:t>Tunde Odunlade</a:t>
            </a:r>
          </a:p>
          <a:p>
            <a:pPr marL="0" indent="0">
              <a:buNone/>
            </a:pPr>
            <a:r>
              <a:rPr lang="en-US" sz="1300" b="1" dirty="0" smtClean="0">
                <a:latin typeface="Tempus Sans ITC" panose="04020404030D07020202" pitchFamily="82" charset="0"/>
              </a:rPr>
              <a:t>August 2019</a:t>
            </a:r>
          </a:p>
        </p:txBody>
      </p:sp>
    </p:spTree>
    <p:extLst>
      <p:ext uri="{BB962C8B-B14F-4D97-AF65-F5344CB8AC3E}">
        <p14:creationId xmlns:p14="http://schemas.microsoft.com/office/powerpoint/2010/main" xmlns="" val="1737386508"/>
      </p:ext>
    </p:extLst>
  </p:cSld>
  <p:clrMapOvr>
    <a:masterClrMapping/>
  </p:clrMapOvr>
  <mc:AlternateContent xmlns:mc="http://schemas.openxmlformats.org/markup-compatibility/2006">
    <mc:Choice xmlns:p14="http://schemas.microsoft.com/office/powerpoint/2010/main" xmlns="" Requires="p14">
      <p:transition spd="slow" p14:dur="1500">
        <p:random/>
      </p:transition>
    </mc:Choice>
    <mc:Fallback>
      <p:transition spd="slow">
        <p:random/>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256034" y="3434225"/>
            <a:ext cx="3223912" cy="2994006"/>
          </a:xfrm>
        </p:spPr>
        <p:txBody>
          <a:bodyPr>
            <a:normAutofit/>
          </a:bodyPr>
          <a:lstStyle/>
          <a:p>
            <a:r>
              <a:rPr lang="en-US" b="1" dirty="0" smtClean="0">
                <a:latin typeface="Tempus Sans ITC" panose="04020404030D07020202" pitchFamily="82" charset="0"/>
              </a:rPr>
              <a:t>Title: </a:t>
            </a:r>
            <a:r>
              <a:rPr lang="en-US" b="1" dirty="0" err="1" smtClean="0">
                <a:latin typeface="Tempus Sans ITC" panose="04020404030D07020202" pitchFamily="82" charset="0"/>
              </a:rPr>
              <a:t>Ikorita</a:t>
            </a:r>
            <a:r>
              <a:rPr lang="en-US" b="1" dirty="0" smtClean="0">
                <a:latin typeface="Tempus Sans ITC" panose="04020404030D07020202" pitchFamily="82" charset="0"/>
              </a:rPr>
              <a:t> (Intersections)</a:t>
            </a:r>
          </a:p>
          <a:p>
            <a:r>
              <a:rPr lang="en-US" b="1" dirty="0" smtClean="0">
                <a:latin typeface="Tempus Sans ITC" panose="04020404030D07020202" pitchFamily="82" charset="0"/>
              </a:rPr>
              <a:t>Medium: Beaded Damask Tapestry</a:t>
            </a:r>
          </a:p>
          <a:p>
            <a:r>
              <a:rPr lang="en-US" b="1" dirty="0" smtClean="0">
                <a:latin typeface="Tempus Sans ITC" panose="04020404030D07020202" pitchFamily="82" charset="0"/>
              </a:rPr>
              <a:t>Year of Productions: 2019</a:t>
            </a:r>
          </a:p>
          <a:p>
            <a:r>
              <a:rPr lang="en-US" b="1" dirty="0" smtClean="0">
                <a:latin typeface="Tempus Sans ITC" panose="04020404030D07020202" pitchFamily="82" charset="0"/>
              </a:rPr>
              <a:t>Artist: Tunde Odunlade</a:t>
            </a:r>
          </a:p>
          <a:p>
            <a:r>
              <a:rPr lang="en-US" b="1" dirty="0" smtClean="0">
                <a:latin typeface="Tempus Sans ITC" panose="04020404030D07020202" pitchFamily="82" charset="0"/>
              </a:rPr>
              <a:t>Size: 3ft-5ins by 3ft by 4ins</a:t>
            </a:r>
          </a:p>
        </p:txBody>
      </p:sp>
      <p:pic>
        <p:nvPicPr>
          <p:cNvPr id="5" name="Content Placeholder 4"/>
          <p:cNvPicPr>
            <a:picLocks noGrp="1" noChangeAspect="1"/>
          </p:cNvPicPr>
          <p:nvPr>
            <p:ph idx="1"/>
          </p:nvPr>
        </p:nvPicPr>
        <p:blipFill>
          <a:blip r:embed="rId2" cstate="print">
            <a:extLst>
              <a:ext uri="{28A0092B-C50C-407E-A947-70E740481C1C}">
                <a14:useLocalDpi xmlns:a14="http://schemas.microsoft.com/office/drawing/2010/main" xmlns="" val="0"/>
              </a:ext>
            </a:extLst>
          </a:blip>
          <a:stretch>
            <a:fillRect/>
          </a:stretch>
        </p:blipFill>
        <p:spPr>
          <a:xfrm>
            <a:off x="5078839" y="101993"/>
            <a:ext cx="6520978" cy="6504758"/>
          </a:xfrm>
        </p:spPr>
      </p:pic>
    </p:spTree>
    <p:extLst>
      <p:ext uri="{BB962C8B-B14F-4D97-AF65-F5344CB8AC3E}">
        <p14:creationId xmlns:p14="http://schemas.microsoft.com/office/powerpoint/2010/main" xmlns="" val="4126921430"/>
      </p:ext>
    </p:extLst>
  </p:cSld>
  <p:clrMapOvr>
    <a:masterClrMapping/>
  </p:clrMapOvr>
  <mc:AlternateContent xmlns:mc="http://schemas.openxmlformats.org/markup-compatibility/2006">
    <mc:Choice xmlns:p14="http://schemas.microsoft.com/office/powerpoint/2010/main" xmlns="" Requires="p14">
      <p:transition spd="slow" p14:dur="1500">
        <p:random/>
      </p:transition>
    </mc:Choice>
    <mc:Fallback>
      <p:transition spd="slow">
        <p:random/>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0841" y="67291"/>
            <a:ext cx="10515600" cy="1124042"/>
          </a:xfrm>
        </p:spPr>
        <p:txBody>
          <a:bodyPr>
            <a:normAutofit/>
          </a:bodyPr>
          <a:lstStyle/>
          <a:p>
            <a:pPr algn="ctr"/>
            <a:r>
              <a:rPr lang="en-US" b="1" dirty="0" err="1" smtClean="0">
                <a:latin typeface="Tempus Sans ITC" panose="04020404030D07020202" pitchFamily="82" charset="0"/>
              </a:rPr>
              <a:t>Ikorita</a:t>
            </a:r>
            <a:r>
              <a:rPr lang="en-US" b="1" dirty="0" smtClean="0">
                <a:latin typeface="Tempus Sans ITC" panose="04020404030D07020202" pitchFamily="82" charset="0"/>
              </a:rPr>
              <a:t> (Intersections)</a:t>
            </a:r>
            <a:br>
              <a:rPr lang="en-US" b="1" dirty="0" smtClean="0">
                <a:latin typeface="Tempus Sans ITC" panose="04020404030D07020202" pitchFamily="82" charset="0"/>
              </a:rPr>
            </a:br>
            <a:r>
              <a:rPr lang="en-US" sz="3100" b="1" dirty="0" smtClean="0">
                <a:latin typeface="Tempus Sans ITC" panose="04020404030D07020202" pitchFamily="82" charset="0"/>
              </a:rPr>
              <a:t>Artist’s inspiration on the piece</a:t>
            </a:r>
            <a:endParaRPr lang="en-US" sz="3100" b="1" dirty="0">
              <a:latin typeface="Tempus Sans ITC" panose="04020404030D07020202" pitchFamily="82" charset="0"/>
            </a:endParaRPr>
          </a:p>
        </p:txBody>
      </p:sp>
      <p:sp>
        <p:nvSpPr>
          <p:cNvPr id="3" name="Content Placeholder 2"/>
          <p:cNvSpPr>
            <a:spLocks noGrp="1"/>
          </p:cNvSpPr>
          <p:nvPr>
            <p:ph idx="1"/>
          </p:nvPr>
        </p:nvSpPr>
        <p:spPr>
          <a:xfrm>
            <a:off x="219455" y="1416014"/>
            <a:ext cx="11798373" cy="5199017"/>
          </a:xfrm>
        </p:spPr>
        <p:txBody>
          <a:bodyPr>
            <a:noAutofit/>
          </a:bodyPr>
          <a:lstStyle/>
          <a:p>
            <a:pPr marL="0" indent="0">
              <a:buNone/>
            </a:pPr>
            <a:r>
              <a:rPr lang="en-US" sz="1600" b="1" dirty="0" smtClean="0">
                <a:latin typeface="Tempus Sans ITC" panose="04020404030D07020202" pitchFamily="82" charset="0"/>
              </a:rPr>
              <a:t>This piece depicts the inter-sectional challenges life portends. What you make of it becomes how well you may navigate without a GPS. </a:t>
            </a:r>
          </a:p>
          <a:p>
            <a:pPr marL="0" indent="0">
              <a:buNone/>
            </a:pPr>
            <a:r>
              <a:rPr lang="en-US" sz="1600" b="1" dirty="0" smtClean="0">
                <a:latin typeface="Tempus Sans ITC" panose="04020404030D07020202" pitchFamily="82" charset="0"/>
              </a:rPr>
              <a:t>Sometimes in life we come to crossroads that almost pose confusion, but when you know where you are coming from and ultimately where you are heading then its easier for you to know which path to choose and follow at this juncture of life. </a:t>
            </a:r>
          </a:p>
          <a:p>
            <a:pPr marL="0" indent="0">
              <a:buNone/>
            </a:pPr>
            <a:r>
              <a:rPr lang="en-US" sz="1600" b="1" dirty="0" smtClean="0">
                <a:latin typeface="Tempus Sans ITC" panose="04020404030D07020202" pitchFamily="82" charset="0"/>
              </a:rPr>
              <a:t/>
            </a:r>
            <a:br>
              <a:rPr lang="en-US" sz="1600" b="1" dirty="0" smtClean="0">
                <a:latin typeface="Tempus Sans ITC" panose="04020404030D07020202" pitchFamily="82" charset="0"/>
              </a:rPr>
            </a:br>
            <a:endParaRPr lang="en-US" sz="1600" b="1" dirty="0" smtClean="0">
              <a:latin typeface="Tempus Sans ITC" panose="04020404030D07020202" pitchFamily="82" charset="0"/>
            </a:endParaRPr>
          </a:p>
          <a:p>
            <a:pPr marL="0" indent="0">
              <a:buNone/>
            </a:pPr>
            <a:r>
              <a:rPr lang="en-US" sz="1600" b="1" dirty="0" smtClean="0">
                <a:latin typeface="Tempus Sans ITC" panose="04020404030D07020202" pitchFamily="82" charset="0"/>
              </a:rPr>
              <a:t>Like my friends mother will say, “If you don’t know where you are going, any road will do”</a:t>
            </a:r>
          </a:p>
          <a:p>
            <a:pPr marL="0" indent="0">
              <a:buNone/>
            </a:pPr>
            <a:r>
              <a:rPr lang="en-US" sz="1600" b="1" dirty="0" smtClean="0">
                <a:latin typeface="Tempus Sans ITC" panose="04020404030D07020202" pitchFamily="82" charset="0"/>
              </a:rPr>
              <a:t>Yoruba will say “</a:t>
            </a:r>
            <a:r>
              <a:rPr lang="en-US" sz="1600" b="1" dirty="0" err="1" smtClean="0">
                <a:latin typeface="Tempus Sans ITC" panose="04020404030D07020202" pitchFamily="82" charset="0"/>
              </a:rPr>
              <a:t>Ikorita</a:t>
            </a:r>
            <a:r>
              <a:rPr lang="en-US" sz="1600" b="1" dirty="0" smtClean="0">
                <a:latin typeface="Tempus Sans ITC" panose="04020404030D07020202" pitchFamily="82" charset="0"/>
              </a:rPr>
              <a:t> da mu </a:t>
            </a:r>
            <a:r>
              <a:rPr lang="en-US" sz="1600" b="1" dirty="0" err="1" smtClean="0">
                <a:latin typeface="Tempus Sans ITC" panose="04020404030D07020202" pitchFamily="82" charset="0"/>
              </a:rPr>
              <a:t>alejo</a:t>
            </a:r>
            <a:r>
              <a:rPr lang="en-US" sz="1600" b="1" dirty="0" smtClean="0">
                <a:latin typeface="Tempus Sans ITC" panose="04020404030D07020202" pitchFamily="82" charset="0"/>
              </a:rPr>
              <a:t>” Crossroads pose challenges for a stranger. </a:t>
            </a:r>
          </a:p>
          <a:p>
            <a:pPr marL="0" indent="0">
              <a:buNone/>
            </a:pPr>
            <a:r>
              <a:rPr lang="en-US" sz="1600" b="1" dirty="0" smtClean="0">
                <a:latin typeface="Tempus Sans ITC" panose="04020404030D07020202" pitchFamily="82" charset="0"/>
              </a:rPr>
              <a:t>Bottom line is, have your road map in your hand before you embark on that journey. Like the Chinese adage, A journey of a thousand miles begins with a step” while I have an addendum to that. That is; A step in the right direction.</a:t>
            </a:r>
          </a:p>
          <a:p>
            <a:pPr marL="0" indent="0">
              <a:buNone/>
            </a:pPr>
            <a:r>
              <a:rPr lang="en-US" sz="1600" b="1" dirty="0" smtClean="0">
                <a:latin typeface="Tempus Sans ITC" panose="04020404030D07020202" pitchFamily="82" charset="0"/>
              </a:rPr>
              <a:t>This is simply the principle of “Beginning with the end in view”</a:t>
            </a:r>
          </a:p>
          <a:p>
            <a:pPr marL="0" indent="0">
              <a:buNone/>
            </a:pPr>
            <a:r>
              <a:rPr lang="en-US" sz="1600" b="1" dirty="0" smtClean="0">
                <a:latin typeface="Tempus Sans ITC" panose="04020404030D07020202" pitchFamily="82" charset="0"/>
              </a:rPr>
              <a:t/>
            </a:r>
            <a:br>
              <a:rPr lang="en-US" sz="1600" b="1" dirty="0" smtClean="0">
                <a:latin typeface="Tempus Sans ITC" panose="04020404030D07020202" pitchFamily="82" charset="0"/>
              </a:rPr>
            </a:br>
            <a:endParaRPr lang="en-US" sz="1600" b="1" dirty="0" smtClean="0">
              <a:latin typeface="Tempus Sans ITC" panose="04020404030D07020202" pitchFamily="82" charset="0"/>
            </a:endParaRPr>
          </a:p>
          <a:p>
            <a:pPr marL="0" indent="0">
              <a:buNone/>
            </a:pPr>
            <a:r>
              <a:rPr lang="en-US" sz="1600" b="1" dirty="0" smtClean="0">
                <a:latin typeface="Tempus Sans ITC" panose="04020404030D07020202" pitchFamily="82" charset="0"/>
              </a:rPr>
              <a:t>May we don’t miss our way at the wake of our intersection in life. To overcome challenges is key to developmental procedure </a:t>
            </a:r>
            <a:r>
              <a:rPr lang="en-US" sz="1600" b="1" dirty="0" err="1" smtClean="0">
                <a:latin typeface="Tempus Sans ITC" panose="04020404030D07020202" pitchFamily="82" charset="0"/>
              </a:rPr>
              <a:t>enroute</a:t>
            </a:r>
            <a:r>
              <a:rPr lang="en-US" sz="1600" b="1" dirty="0" smtClean="0">
                <a:latin typeface="Tempus Sans ITC" panose="04020404030D07020202" pitchFamily="82" charset="0"/>
              </a:rPr>
              <a:t> success.</a:t>
            </a:r>
          </a:p>
          <a:p>
            <a:pPr marL="0" indent="0">
              <a:buNone/>
            </a:pPr>
            <a:r>
              <a:rPr lang="en-US" sz="1600" b="1" dirty="0" smtClean="0">
                <a:latin typeface="Tempus Sans ITC" panose="04020404030D07020202" pitchFamily="82" charset="0"/>
              </a:rPr>
              <a:t>Tunde Odunlade</a:t>
            </a:r>
          </a:p>
          <a:p>
            <a:pPr marL="0" indent="0">
              <a:buNone/>
            </a:pPr>
            <a:r>
              <a:rPr lang="en-US" sz="1600" b="1" dirty="0" smtClean="0">
                <a:latin typeface="Tempus Sans ITC" panose="04020404030D07020202" pitchFamily="82" charset="0"/>
              </a:rPr>
              <a:t>August 2019</a:t>
            </a:r>
          </a:p>
        </p:txBody>
      </p:sp>
    </p:spTree>
    <p:extLst>
      <p:ext uri="{BB962C8B-B14F-4D97-AF65-F5344CB8AC3E}">
        <p14:creationId xmlns:p14="http://schemas.microsoft.com/office/powerpoint/2010/main" xmlns="" val="2963894269"/>
      </p:ext>
    </p:extLst>
  </p:cSld>
  <p:clrMapOvr>
    <a:masterClrMapping/>
  </p:clrMapOvr>
  <mc:AlternateContent xmlns:mc="http://schemas.openxmlformats.org/markup-compatibility/2006">
    <mc:Choice xmlns:p14="http://schemas.microsoft.com/office/powerpoint/2010/main" xmlns="" Requires="p14">
      <p:transition spd="slow" p14:dur="1500">
        <p:random/>
      </p:transition>
    </mc:Choice>
    <mc:Fallback>
      <p:transition spd="slow">
        <p:random/>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241788" y="3434225"/>
            <a:ext cx="3238158" cy="2994006"/>
          </a:xfrm>
        </p:spPr>
        <p:txBody>
          <a:bodyPr>
            <a:normAutofit/>
          </a:bodyPr>
          <a:lstStyle/>
          <a:p>
            <a:r>
              <a:rPr lang="en-US" b="1" dirty="0" smtClean="0">
                <a:latin typeface="Tempus Sans ITC" panose="04020404030D07020202" pitchFamily="82" charset="0"/>
              </a:rPr>
              <a:t>Title: ‘WWW”</a:t>
            </a:r>
          </a:p>
          <a:p>
            <a:r>
              <a:rPr lang="en-US" b="1" dirty="0" smtClean="0">
                <a:latin typeface="Tempus Sans ITC" panose="04020404030D07020202" pitchFamily="82" charset="0"/>
              </a:rPr>
              <a:t>Medium: Batik Quilt tapestry</a:t>
            </a:r>
          </a:p>
          <a:p>
            <a:r>
              <a:rPr lang="en-US" b="1" dirty="0" smtClean="0">
                <a:latin typeface="Tempus Sans ITC" panose="04020404030D07020202" pitchFamily="82" charset="0"/>
              </a:rPr>
              <a:t>Year of Production: 2016</a:t>
            </a:r>
          </a:p>
          <a:p>
            <a:r>
              <a:rPr lang="en-US" b="1" dirty="0" smtClean="0">
                <a:latin typeface="Tempus Sans ITC" panose="04020404030D07020202" pitchFamily="82" charset="0"/>
              </a:rPr>
              <a:t>Artist: Tunde Odunlade</a:t>
            </a:r>
          </a:p>
          <a:p>
            <a:r>
              <a:rPr lang="en-US" b="1" dirty="0" smtClean="0">
                <a:latin typeface="Tempus Sans ITC" panose="04020404030D07020202" pitchFamily="82" charset="0"/>
              </a:rPr>
              <a:t>Size: 5ft.1ins by 5ft. 6Ins</a:t>
            </a:r>
          </a:p>
          <a:p>
            <a:r>
              <a:rPr lang="en-US" b="1" dirty="0" smtClean="0">
                <a:latin typeface="Tempus Sans ITC" panose="04020404030D07020202" pitchFamily="82" charset="0"/>
              </a:rPr>
              <a:t>Collection: Estate of the Artist</a:t>
            </a:r>
          </a:p>
          <a:p>
            <a:r>
              <a:rPr lang="en-US" b="1" dirty="0" smtClean="0">
                <a:latin typeface="Tempus Sans ITC" panose="04020404030D07020202" pitchFamily="82" charset="0"/>
              </a:rPr>
              <a:t>Provenance: Has been exhibited and published</a:t>
            </a:r>
          </a:p>
        </p:txBody>
      </p:sp>
      <p:pic>
        <p:nvPicPr>
          <p:cNvPr id="5" name="Content Placeholder 2"/>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4729405" y="215220"/>
            <a:ext cx="7139942" cy="6502019"/>
          </a:xfrm>
          <a:prstGeom prst="rect">
            <a:avLst/>
          </a:prstGeom>
        </p:spPr>
      </p:pic>
      <p:pic>
        <p:nvPicPr>
          <p:cNvPr id="3" name="Content Placeholder 2"/>
          <p:cNvPicPr>
            <a:picLocks noGrp="1" noChangeAspect="1"/>
          </p:cNvPicPr>
          <p:nvPr>
            <p:ph idx="1"/>
          </p:nvPr>
        </p:nvPicPr>
        <p:blipFill>
          <a:blip r:embed="rId2" cstate="print">
            <a:extLst>
              <a:ext uri="{28A0092B-C50C-407E-A947-70E740481C1C}">
                <a14:useLocalDpi xmlns:a14="http://schemas.microsoft.com/office/drawing/2010/main" xmlns="" val="0"/>
              </a:ext>
            </a:extLst>
          </a:blip>
          <a:stretch>
            <a:fillRect/>
          </a:stretch>
        </p:blipFill>
        <p:spPr>
          <a:xfrm>
            <a:off x="4805605" y="215220"/>
            <a:ext cx="6987542" cy="6363235"/>
          </a:xfrm>
        </p:spPr>
      </p:pic>
      <p:pic>
        <p:nvPicPr>
          <p:cNvPr id="8" name="Picture 7" descr="sketch-hand-holding-picking-take-receive-something-vector-127278930.jpg"/>
          <p:cNvPicPr>
            <a:picLocks noChangeAspect="1"/>
          </p:cNvPicPr>
          <p:nvPr/>
        </p:nvPicPr>
        <p:blipFill>
          <a:blip r:embed="rId3" cstate="print"/>
          <a:stretch>
            <a:fillRect/>
          </a:stretch>
        </p:blipFill>
        <p:spPr>
          <a:xfrm rot="7796321">
            <a:off x="5916785" y="642186"/>
            <a:ext cx="1553308" cy="2329962"/>
          </a:xfrm>
          <a:prstGeom prst="rect">
            <a:avLst/>
          </a:prstGeom>
        </p:spPr>
      </p:pic>
      <p:pic>
        <p:nvPicPr>
          <p:cNvPr id="10" name="Picture 9" descr="sketch-hand-holding-picking-take-receive-something-vector-127278930.jpg"/>
          <p:cNvPicPr>
            <a:picLocks noChangeAspect="1"/>
          </p:cNvPicPr>
          <p:nvPr/>
        </p:nvPicPr>
        <p:blipFill>
          <a:blip r:embed="rId3" cstate="print"/>
          <a:stretch>
            <a:fillRect/>
          </a:stretch>
        </p:blipFill>
        <p:spPr>
          <a:xfrm rot="18879032">
            <a:off x="9010944" y="3832328"/>
            <a:ext cx="1553308" cy="2329962"/>
          </a:xfrm>
          <a:prstGeom prst="rect">
            <a:avLst/>
          </a:prstGeom>
        </p:spPr>
      </p:pic>
      <p:pic>
        <p:nvPicPr>
          <p:cNvPr id="9" name="Picture 8" descr="20240728_153511.jpg"/>
          <p:cNvPicPr>
            <a:picLocks noChangeAspect="1"/>
          </p:cNvPicPr>
          <p:nvPr/>
        </p:nvPicPr>
        <p:blipFill>
          <a:blip r:embed="rId4" cstate="print"/>
          <a:srcRect l="4560" t="11563" r="4234" b="8089"/>
          <a:stretch>
            <a:fillRect/>
          </a:stretch>
        </p:blipFill>
        <p:spPr>
          <a:xfrm rot="5400000">
            <a:off x="6802179" y="2098055"/>
            <a:ext cx="2939836" cy="2558561"/>
          </a:xfrm>
          <a:prstGeom prst="rect">
            <a:avLst/>
          </a:prstGeom>
        </p:spPr>
      </p:pic>
    </p:spTree>
    <p:extLst>
      <p:ext uri="{BB962C8B-B14F-4D97-AF65-F5344CB8AC3E}">
        <p14:creationId xmlns:p14="http://schemas.microsoft.com/office/powerpoint/2010/main" xmlns="" val="3488936073"/>
      </p:ext>
    </p:extLst>
  </p:cSld>
  <p:clrMapOvr>
    <a:masterClrMapping/>
  </p:clrMapOvr>
  <mc:AlternateContent xmlns:mc="http://schemas.openxmlformats.org/markup-compatibility/2006">
    <mc:Choice xmlns:p14="http://schemas.microsoft.com/office/powerpoint/2010/main" xmlns="" Requires="p14">
      <p:transition spd="slow" p14:dur="1500">
        <p:random/>
      </p:transition>
    </mc:Choice>
    <mc:Fallback>
      <p:transition spd="slow">
        <p:random/>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0841" y="67291"/>
            <a:ext cx="10515600" cy="794857"/>
          </a:xfrm>
        </p:spPr>
        <p:txBody>
          <a:bodyPr>
            <a:normAutofit fontScale="90000"/>
          </a:bodyPr>
          <a:lstStyle/>
          <a:p>
            <a:pPr algn="ctr"/>
            <a:r>
              <a:rPr lang="en-US" b="1" dirty="0" smtClean="0">
                <a:latin typeface="Tempus Sans ITC" panose="04020404030D07020202" pitchFamily="82" charset="0"/>
              </a:rPr>
              <a:t>WWW</a:t>
            </a:r>
            <a:r>
              <a:rPr lang="en-US" sz="3100" b="1" dirty="0" smtClean="0">
                <a:latin typeface="Tempus Sans ITC" panose="04020404030D07020202" pitchFamily="82" charset="0"/>
              </a:rPr>
              <a:t/>
            </a:r>
            <a:br>
              <a:rPr lang="en-US" sz="3100" b="1" dirty="0" smtClean="0">
                <a:latin typeface="Tempus Sans ITC" panose="04020404030D07020202" pitchFamily="82" charset="0"/>
              </a:rPr>
            </a:br>
            <a:r>
              <a:rPr lang="en-US" sz="3100" b="1" dirty="0" smtClean="0">
                <a:latin typeface="Tempus Sans ITC" panose="04020404030D07020202" pitchFamily="82" charset="0"/>
              </a:rPr>
              <a:t>Artist’s inspiration on the piece</a:t>
            </a:r>
            <a:endParaRPr lang="en-US" sz="3100" b="1" dirty="0">
              <a:latin typeface="Tempus Sans ITC" panose="04020404030D07020202" pitchFamily="82" charset="0"/>
            </a:endParaRPr>
          </a:p>
        </p:txBody>
      </p:sp>
      <p:sp>
        <p:nvSpPr>
          <p:cNvPr id="3" name="Content Placeholder 2"/>
          <p:cNvSpPr>
            <a:spLocks noGrp="1"/>
          </p:cNvSpPr>
          <p:nvPr>
            <p:ph idx="1"/>
          </p:nvPr>
        </p:nvSpPr>
        <p:spPr>
          <a:xfrm>
            <a:off x="219455" y="967155"/>
            <a:ext cx="11798373" cy="5890846"/>
          </a:xfrm>
        </p:spPr>
        <p:txBody>
          <a:bodyPr>
            <a:noAutofit/>
          </a:bodyPr>
          <a:lstStyle/>
          <a:p>
            <a:pPr marL="0" indent="0" algn="just">
              <a:lnSpc>
                <a:spcPct val="100000"/>
              </a:lnSpc>
              <a:buNone/>
            </a:pPr>
            <a:r>
              <a:rPr lang="en-US" sz="1400" dirty="0" smtClean="0">
                <a:latin typeface="Segoe Script, cursive"/>
              </a:rPr>
              <a:t>What </a:t>
            </a:r>
            <a:r>
              <a:rPr lang="en-US" sz="1400" dirty="0">
                <a:latin typeface="Segoe Script, cursive"/>
              </a:rPr>
              <a:t>is the full meaning of “WWW” its World Wide Web. So, it has to do with Global affair. Now, what is Globalization? According to the English dictionary “The process of going a more interconnected world” on the other hand, I say, it is the process of making world economy dominated by the capitalists model. You either belong or you are just a mere consumer, supporting the ‘big boys’ agenda. </a:t>
            </a:r>
            <a:endParaRPr lang="en-US" sz="1400" dirty="0"/>
          </a:p>
          <a:p>
            <a:pPr algn="just">
              <a:lnSpc>
                <a:spcPct val="100000"/>
              </a:lnSpc>
            </a:pPr>
            <a:r>
              <a:rPr lang="en-US" sz="1400" dirty="0">
                <a:latin typeface="Segoe Script, cursive"/>
              </a:rPr>
              <a:t>Today we truly live a Global Village, because at your finger tip, you can access information across the length and breadth of the Globe, just like that. The big question here is, how well </a:t>
            </a:r>
            <a:r>
              <a:rPr lang="en-US" sz="1400" dirty="0" smtClean="0">
                <a:latin typeface="Segoe Script, cursive"/>
              </a:rPr>
              <a:t>are we plugged </a:t>
            </a:r>
            <a:r>
              <a:rPr lang="en-US" sz="1400" dirty="0">
                <a:latin typeface="Segoe Script, cursive"/>
              </a:rPr>
              <a:t>into the socket of this Global IT? </a:t>
            </a:r>
            <a:endParaRPr lang="en-US" sz="1400" dirty="0" smtClean="0">
              <a:latin typeface="Segoe Script, cursive"/>
            </a:endParaRPr>
          </a:p>
          <a:p>
            <a:pPr algn="just">
              <a:lnSpc>
                <a:spcPct val="100000"/>
              </a:lnSpc>
            </a:pPr>
            <a:r>
              <a:rPr lang="en-US" sz="1400" dirty="0" smtClean="0">
                <a:latin typeface="Segoe Script, cursive"/>
              </a:rPr>
              <a:t>That </a:t>
            </a:r>
            <a:r>
              <a:rPr lang="en-US" sz="1400" dirty="0">
                <a:latin typeface="Segoe Script, cursive"/>
              </a:rPr>
              <a:t>is, are we in control of its cause and effect? Take China for example, on the Cyber world, everything does not just </a:t>
            </a:r>
            <a:r>
              <a:rPr lang="en-US" sz="1400" dirty="0" smtClean="0">
                <a:latin typeface="Segoe Script, cursive"/>
              </a:rPr>
              <a:t>go </a:t>
            </a:r>
            <a:r>
              <a:rPr lang="en-US" sz="1400" dirty="0">
                <a:latin typeface="Segoe Script, cursive"/>
              </a:rPr>
              <a:t>with them o. They recognize that the Cyber world is filled up of junks and masterpieces but it all depends on its users. Government of some countries believe that in order to avert the danger inherent in it, they’ve decided to take control of what’s allowed into their regional system from the outer world. Even though, some may argue that, its a deprivation of their freedom of expression and so on. But as far as they are concerned it is better to be save than to be sorry.</a:t>
            </a:r>
            <a:endParaRPr lang="en-US" sz="1400" dirty="0"/>
          </a:p>
          <a:p>
            <a:pPr algn="just">
              <a:lnSpc>
                <a:spcPct val="100000"/>
              </a:lnSpc>
            </a:pPr>
            <a:r>
              <a:rPr lang="en-US" sz="1400" dirty="0">
                <a:latin typeface="Segoe Script, cursive"/>
              </a:rPr>
              <a:t>The truth however is that with uncontrolled </a:t>
            </a:r>
            <a:r>
              <a:rPr lang="en-US" sz="1400" dirty="0" err="1">
                <a:latin typeface="Segoe Script, cursive"/>
              </a:rPr>
              <a:t>cybercafe</a:t>
            </a:r>
            <a:r>
              <a:rPr lang="en-US" sz="1400" dirty="0">
                <a:latin typeface="Segoe Script, cursive"/>
              </a:rPr>
              <a:t>, all sorts of frauds are freely </a:t>
            </a:r>
            <a:r>
              <a:rPr lang="en-US" sz="1400" dirty="0" smtClean="0">
                <a:latin typeface="Segoe Script, cursive"/>
              </a:rPr>
              <a:t>perpetrated, all in the name of free world. </a:t>
            </a:r>
            <a:endParaRPr lang="en-US" sz="1400" dirty="0"/>
          </a:p>
          <a:p>
            <a:pPr algn="just">
              <a:lnSpc>
                <a:spcPct val="100000"/>
              </a:lnSpc>
            </a:pPr>
            <a:r>
              <a:rPr lang="en-US" sz="1400" dirty="0">
                <a:latin typeface="Segoe Script, cursive"/>
              </a:rPr>
              <a:t>Again, what works for good for one, may work for bad for another, it all </a:t>
            </a:r>
            <a:r>
              <a:rPr lang="en-US" sz="1400" dirty="0" smtClean="0">
                <a:latin typeface="Segoe Script, cursive"/>
              </a:rPr>
              <a:t>depends on  </a:t>
            </a:r>
            <a:r>
              <a:rPr lang="en-US" sz="1400" dirty="0">
                <a:latin typeface="Segoe Script, cursive"/>
              </a:rPr>
              <a:t>where you </a:t>
            </a:r>
            <a:r>
              <a:rPr lang="en-US" sz="1400" dirty="0" smtClean="0">
                <a:latin typeface="Segoe Script, cursive"/>
              </a:rPr>
              <a:t>may choose </a:t>
            </a:r>
            <a:r>
              <a:rPr lang="en-US" sz="1400" dirty="0">
                <a:latin typeface="Segoe Script, cursive"/>
              </a:rPr>
              <a:t>to visit.</a:t>
            </a:r>
            <a:endParaRPr lang="en-US" sz="1400" dirty="0"/>
          </a:p>
          <a:p>
            <a:pPr algn="just">
              <a:lnSpc>
                <a:spcPct val="100000"/>
              </a:lnSpc>
            </a:pPr>
            <a:r>
              <a:rPr lang="en-US" sz="1400" dirty="0">
                <a:latin typeface="Segoe Script, cursive"/>
              </a:rPr>
              <a:t>Also, this piece reflects the oldie in me, by still portraying the world containing five Continents; Africa, Eurasia, </a:t>
            </a:r>
            <a:r>
              <a:rPr lang="en-US" sz="1400" dirty="0" smtClean="0">
                <a:latin typeface="Segoe Script, cursive"/>
              </a:rPr>
              <a:t>Americas, </a:t>
            </a:r>
            <a:r>
              <a:rPr lang="en-US" sz="1400" dirty="0">
                <a:latin typeface="Segoe Script, cursive"/>
              </a:rPr>
              <a:t>.Australia/Oceania and </a:t>
            </a:r>
            <a:r>
              <a:rPr lang="en-US" sz="1400" dirty="0" smtClean="0">
                <a:latin typeface="Segoe Script, cursive"/>
              </a:rPr>
              <a:t>Antarctica. However, either </a:t>
            </a:r>
            <a:r>
              <a:rPr lang="en-US" sz="1400" dirty="0">
                <a:latin typeface="Segoe Script, cursive"/>
              </a:rPr>
              <a:t>five or six or </a:t>
            </a:r>
            <a:r>
              <a:rPr lang="en-US" sz="1400" dirty="0" smtClean="0">
                <a:latin typeface="Segoe Script, cursive"/>
              </a:rPr>
              <a:t>seven; </a:t>
            </a:r>
            <a:r>
              <a:rPr lang="en-US" sz="1400" dirty="0">
                <a:latin typeface="Segoe Script, cursive"/>
              </a:rPr>
              <a:t>Asia, Africa, North America, South America Antarctica, Europe and Australia</a:t>
            </a:r>
            <a:r>
              <a:rPr lang="en-US" sz="1400" dirty="0" smtClean="0">
                <a:latin typeface="Segoe Script, cursive"/>
              </a:rPr>
              <a:t>.</a:t>
            </a:r>
            <a:r>
              <a:rPr lang="en-US" sz="1400" dirty="0"/>
              <a:t/>
            </a:r>
            <a:br>
              <a:rPr lang="en-US" sz="1400" dirty="0"/>
            </a:br>
            <a:r>
              <a:rPr lang="en-US" sz="1400" dirty="0" smtClean="0">
                <a:latin typeface="Segoe Script, cursive"/>
              </a:rPr>
              <a:t>The </a:t>
            </a:r>
            <a:r>
              <a:rPr lang="en-US" sz="1400" dirty="0">
                <a:latin typeface="Segoe Script, cursive"/>
              </a:rPr>
              <a:t>big question here is, is Africa relevant in the Global polity? If yes, where lies our relevance? It is high time we began to take stock of what our relevance and all the comparative advantages </a:t>
            </a:r>
            <a:r>
              <a:rPr lang="en-US" sz="1400" dirty="0" smtClean="0">
                <a:latin typeface="Segoe Script, cursive"/>
              </a:rPr>
              <a:t>are there in</a:t>
            </a:r>
            <a:r>
              <a:rPr lang="en-US" sz="1400" dirty="0">
                <a:latin typeface="Segoe Script, cursive"/>
              </a:rPr>
              <a:t>. </a:t>
            </a:r>
            <a:endParaRPr lang="en-US" sz="1400" dirty="0"/>
          </a:p>
          <a:p>
            <a:pPr algn="just">
              <a:lnSpc>
                <a:spcPct val="100000"/>
              </a:lnSpc>
            </a:pPr>
            <a:r>
              <a:rPr lang="en-US" sz="1400" dirty="0" smtClean="0">
                <a:latin typeface="Segoe Script, cursive"/>
              </a:rPr>
              <a:t>So that, </a:t>
            </a:r>
            <a:r>
              <a:rPr lang="en-US" sz="1400" dirty="0">
                <a:latin typeface="Segoe Script, cursive"/>
              </a:rPr>
              <a:t>we are not seen to be the yokels among other continents.</a:t>
            </a:r>
            <a:endParaRPr lang="en-US" sz="1400" dirty="0"/>
          </a:p>
          <a:p>
            <a:pPr algn="just">
              <a:lnSpc>
                <a:spcPct val="100000"/>
              </a:lnSpc>
            </a:pPr>
            <a:r>
              <a:rPr lang="en-US" sz="1400" dirty="0">
                <a:latin typeface="Segoe Script, cursive"/>
              </a:rPr>
              <a:t>We can’t afford to continue in the beggarly attitude we’ve pidgin- holed </a:t>
            </a:r>
            <a:r>
              <a:rPr lang="en-US" sz="1400" dirty="0" smtClean="0">
                <a:latin typeface="Segoe Script, cursive"/>
              </a:rPr>
              <a:t>ourselves. Yet, a greater percentage of the raw materials driving the world economy, come out of Africa. So, why are we living a world of </a:t>
            </a:r>
            <a:r>
              <a:rPr lang="en-US" sz="1400" dirty="0" err="1" smtClean="0">
                <a:latin typeface="Segoe Script, cursive"/>
              </a:rPr>
              <a:t>penuty</a:t>
            </a:r>
            <a:r>
              <a:rPr lang="en-US" sz="1400" dirty="0" smtClean="0">
                <a:latin typeface="Segoe Script, cursive"/>
              </a:rPr>
              <a:t>? Unnecessarily pitching ourselves against ourselves </a:t>
            </a:r>
            <a:r>
              <a:rPr lang="en-US" sz="1400" dirty="0">
                <a:latin typeface="Segoe Script, cursive"/>
              </a:rPr>
              <a:t>“</a:t>
            </a:r>
            <a:r>
              <a:rPr lang="en-US" sz="1400" i="1" dirty="0" err="1">
                <a:latin typeface="Segoe Script, cursive"/>
              </a:rPr>
              <a:t>Omo</a:t>
            </a:r>
            <a:r>
              <a:rPr lang="en-US" sz="1400" i="1" dirty="0">
                <a:latin typeface="Segoe Script, cursive"/>
              </a:rPr>
              <a:t> </a:t>
            </a:r>
            <a:r>
              <a:rPr lang="en-US" sz="1400" i="1" dirty="0" err="1">
                <a:latin typeface="Segoe Script, cursive"/>
              </a:rPr>
              <a:t>eleran</a:t>
            </a:r>
            <a:r>
              <a:rPr lang="en-US" sz="1400" i="1" dirty="0">
                <a:latin typeface="Segoe Script, cursive"/>
              </a:rPr>
              <a:t> </a:t>
            </a:r>
            <a:r>
              <a:rPr lang="en-US" sz="1400" i="1" dirty="0" err="1">
                <a:latin typeface="Segoe Script, cursive"/>
              </a:rPr>
              <a:t>kii</a:t>
            </a:r>
            <a:r>
              <a:rPr lang="en-US" sz="1400" i="1" dirty="0">
                <a:latin typeface="Segoe Script, cursive"/>
              </a:rPr>
              <a:t> ma </a:t>
            </a:r>
            <a:r>
              <a:rPr lang="en-US" sz="1400" i="1" dirty="0" err="1">
                <a:latin typeface="Segoe Script, cursive"/>
              </a:rPr>
              <a:t>nje’gun</a:t>
            </a:r>
            <a:r>
              <a:rPr lang="en-US" sz="1400" i="1" dirty="0">
                <a:latin typeface="Segoe Script, cursive"/>
              </a:rPr>
              <a:t>’, </a:t>
            </a:r>
            <a:r>
              <a:rPr lang="en-US" sz="1400" dirty="0">
                <a:latin typeface="Segoe Script, cursive"/>
              </a:rPr>
              <a:t>the child of a butcher </a:t>
            </a:r>
            <a:r>
              <a:rPr lang="en-US" sz="1400" dirty="0" smtClean="0">
                <a:latin typeface="Segoe Script, cursive"/>
              </a:rPr>
              <a:t>shouldn’t </a:t>
            </a:r>
            <a:r>
              <a:rPr lang="en-US" sz="1400" dirty="0">
                <a:latin typeface="Segoe Script, cursive"/>
              </a:rPr>
              <a:t>take pride feeding on bones.</a:t>
            </a:r>
            <a:endParaRPr lang="en-US" sz="1400" dirty="0"/>
          </a:p>
          <a:p>
            <a:pPr algn="just">
              <a:lnSpc>
                <a:spcPct val="100000"/>
              </a:lnSpc>
            </a:pPr>
            <a:r>
              <a:rPr lang="en-US" sz="1400" b="1" dirty="0">
                <a:latin typeface="Segoe Script, cursive"/>
              </a:rPr>
              <a:t>Tunde Odunlade</a:t>
            </a:r>
            <a:endParaRPr lang="en-US" sz="1400" dirty="0"/>
          </a:p>
          <a:p>
            <a:pPr algn="just">
              <a:lnSpc>
                <a:spcPct val="100000"/>
              </a:lnSpc>
            </a:pPr>
            <a:r>
              <a:rPr lang="en-US" sz="1400" b="1" dirty="0">
                <a:latin typeface="Segoe Script, cursive"/>
              </a:rPr>
              <a:t>September 2019.</a:t>
            </a:r>
            <a:endParaRPr lang="en-US" sz="1400" dirty="0"/>
          </a:p>
          <a:p>
            <a:pPr marL="0" indent="0">
              <a:buNone/>
            </a:pPr>
            <a:endParaRPr lang="en-US" sz="2400" b="1" dirty="0" smtClean="0">
              <a:latin typeface="Tempus Sans ITC" panose="04020404030D07020202" pitchFamily="82" charset="0"/>
            </a:endParaRPr>
          </a:p>
        </p:txBody>
      </p:sp>
    </p:spTree>
    <p:extLst>
      <p:ext uri="{BB962C8B-B14F-4D97-AF65-F5344CB8AC3E}">
        <p14:creationId xmlns:p14="http://schemas.microsoft.com/office/powerpoint/2010/main" xmlns="" val="3189275447"/>
      </p:ext>
    </p:extLst>
  </p:cSld>
  <p:clrMapOvr>
    <a:masterClrMapping/>
  </p:clrMapOvr>
  <mc:AlternateContent xmlns:mc="http://schemas.openxmlformats.org/markup-compatibility/2006">
    <mc:Choice xmlns:p14="http://schemas.microsoft.com/office/powerpoint/2010/main" xmlns="" Requires="p14">
      <p:transition spd="slow" p14:dur="1500">
        <p:random/>
      </p:transition>
    </mc:Choice>
    <mc:Fallback>
      <p:transition spd="slow">
        <p:random/>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949569" y="3727938"/>
            <a:ext cx="3604845" cy="2795954"/>
          </a:xfrm>
        </p:spPr>
        <p:txBody>
          <a:bodyPr>
            <a:normAutofit lnSpcReduction="10000"/>
          </a:bodyPr>
          <a:lstStyle/>
          <a:p>
            <a:pPr algn="ctr"/>
            <a:endParaRPr lang="en-US" b="1" dirty="0" smtClean="0">
              <a:latin typeface="Segoe Script, cursive"/>
            </a:endParaRPr>
          </a:p>
          <a:p>
            <a:pPr algn="ctr"/>
            <a:endParaRPr lang="en-US" b="1" dirty="0">
              <a:latin typeface="Segoe Script, cursive"/>
            </a:endParaRPr>
          </a:p>
          <a:p>
            <a:pPr algn="ctr"/>
            <a:r>
              <a:rPr lang="en-US" b="1" dirty="0" smtClean="0">
                <a:latin typeface="Segoe Script, cursive"/>
              </a:rPr>
              <a:t>Title </a:t>
            </a:r>
            <a:r>
              <a:rPr lang="en-US" b="1" dirty="0">
                <a:latin typeface="Segoe Script, cursive"/>
              </a:rPr>
              <a:t>of Work</a:t>
            </a:r>
            <a:r>
              <a:rPr lang="en-US" b="1" i="1" dirty="0">
                <a:latin typeface="Segoe Script, cursive"/>
              </a:rPr>
              <a:t>: “A Compendium of Knowledge Shared”</a:t>
            </a:r>
            <a:endParaRPr lang="en-US" dirty="0"/>
          </a:p>
          <a:p>
            <a:pPr algn="ctr"/>
            <a:r>
              <a:rPr lang="en-US" b="1" dirty="0">
                <a:latin typeface="Segoe Script, cursive"/>
              </a:rPr>
              <a:t>Medium: Beaded Damask Tapestry</a:t>
            </a:r>
            <a:endParaRPr lang="en-US" dirty="0"/>
          </a:p>
          <a:p>
            <a:pPr algn="ctr"/>
            <a:r>
              <a:rPr lang="en-US" b="1" dirty="0">
                <a:latin typeface="Segoe Script, cursive"/>
              </a:rPr>
              <a:t>Year of Production: 2018</a:t>
            </a:r>
            <a:endParaRPr lang="en-US" dirty="0"/>
          </a:p>
          <a:p>
            <a:pPr algn="ctr"/>
            <a:r>
              <a:rPr lang="en-US" b="1" dirty="0">
                <a:latin typeface="Segoe Script, cursive"/>
              </a:rPr>
              <a:t>Artist: Tunde Odunlade</a:t>
            </a:r>
            <a:endParaRPr lang="en-US" dirty="0"/>
          </a:p>
          <a:p>
            <a:pPr algn="ctr"/>
            <a:r>
              <a:rPr lang="en-US" b="1" dirty="0">
                <a:latin typeface="Segoe Script, cursive"/>
              </a:rPr>
              <a:t>Size: 6ft.3-1/2ins</a:t>
            </a:r>
            <a:endParaRPr lang="en-US" dirty="0"/>
          </a:p>
          <a:p>
            <a:pPr algn="ctr"/>
            <a:r>
              <a:rPr lang="en-US" b="1" dirty="0">
                <a:latin typeface="Segoe Script, cursive"/>
              </a:rPr>
              <a:t>Collection: Estate of the </a:t>
            </a:r>
            <a:r>
              <a:rPr lang="en-US" b="1" dirty="0" smtClean="0">
                <a:latin typeface="Segoe Script, cursive"/>
              </a:rPr>
              <a:t>Artist </a:t>
            </a:r>
            <a:endParaRPr lang="en-US" dirty="0"/>
          </a:p>
          <a:p>
            <a:endParaRPr lang="en-US" b="1" dirty="0" smtClean="0">
              <a:latin typeface="Tempus Sans ITC" panose="04020404030D07020202" pitchFamily="82" charset="0"/>
            </a:endParaRPr>
          </a:p>
        </p:txBody>
      </p:sp>
      <p:pic>
        <p:nvPicPr>
          <p:cNvPr id="3" name="Content Placeholder 2"/>
          <p:cNvPicPr>
            <a:picLocks noGrp="1" noChangeAspect="1"/>
          </p:cNvPicPr>
          <p:nvPr>
            <p:ph idx="1"/>
          </p:nvPr>
        </p:nvPicPr>
        <p:blipFill>
          <a:blip r:embed="rId2" cstate="print">
            <a:extLst>
              <a:ext uri="{28A0092B-C50C-407E-A947-70E740481C1C}">
                <a14:useLocalDpi xmlns:a14="http://schemas.microsoft.com/office/drawing/2010/main" xmlns="" val="0"/>
              </a:ext>
            </a:extLst>
          </a:blip>
          <a:stretch>
            <a:fillRect/>
          </a:stretch>
        </p:blipFill>
        <p:spPr>
          <a:xfrm>
            <a:off x="7273399" y="56923"/>
            <a:ext cx="2581219" cy="6651757"/>
          </a:xfrm>
        </p:spPr>
      </p:pic>
    </p:spTree>
    <p:extLst>
      <p:ext uri="{BB962C8B-B14F-4D97-AF65-F5344CB8AC3E}">
        <p14:creationId xmlns:p14="http://schemas.microsoft.com/office/powerpoint/2010/main" xmlns="" val="586477590"/>
      </p:ext>
    </p:extLst>
  </p:cSld>
  <p:clrMapOvr>
    <a:masterClrMapping/>
  </p:clrMapOvr>
  <mc:AlternateContent xmlns:mc="http://schemas.openxmlformats.org/markup-compatibility/2006">
    <mc:Choice xmlns:p14="http://schemas.microsoft.com/office/powerpoint/2010/main" xmlns="" Requires="p14">
      <p:transition spd="slow" p14:dur="1500">
        <p:random/>
      </p:transition>
    </mc:Choice>
    <mc:Fallback>
      <p:transition spd="slow">
        <p:random/>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2758" y="238741"/>
            <a:ext cx="10515600" cy="794857"/>
          </a:xfrm>
        </p:spPr>
        <p:txBody>
          <a:bodyPr>
            <a:normAutofit fontScale="90000"/>
          </a:bodyPr>
          <a:lstStyle/>
          <a:p>
            <a:pPr algn="ctr"/>
            <a:r>
              <a:rPr lang="en-US" b="1" dirty="0" smtClean="0">
                <a:latin typeface="Tempus Sans ITC" panose="04020404030D07020202" pitchFamily="82" charset="0"/>
              </a:rPr>
              <a:t>A compendium of knowledge </a:t>
            </a:r>
            <a:r>
              <a:rPr lang="en-US" b="1" dirty="0" err="1" smtClean="0">
                <a:latin typeface="Tempus Sans ITC" panose="04020404030D07020202" pitchFamily="82" charset="0"/>
              </a:rPr>
              <a:t>transfered</a:t>
            </a:r>
            <a:r>
              <a:rPr lang="en-US" sz="3100" b="1" dirty="0" smtClean="0">
                <a:latin typeface="Tempus Sans ITC" panose="04020404030D07020202" pitchFamily="82" charset="0"/>
              </a:rPr>
              <a:t/>
            </a:r>
            <a:br>
              <a:rPr lang="en-US" sz="3100" b="1" dirty="0" smtClean="0">
                <a:latin typeface="Tempus Sans ITC" panose="04020404030D07020202" pitchFamily="82" charset="0"/>
              </a:rPr>
            </a:br>
            <a:r>
              <a:rPr lang="en-US" sz="3100" b="1" dirty="0" smtClean="0">
                <a:latin typeface="Tempus Sans ITC" panose="04020404030D07020202" pitchFamily="82" charset="0"/>
              </a:rPr>
              <a:t>Artist’s inspiration on the piece</a:t>
            </a:r>
            <a:endParaRPr lang="en-US" sz="3100" b="1" dirty="0">
              <a:latin typeface="Tempus Sans ITC" panose="04020404030D07020202" pitchFamily="82" charset="0"/>
            </a:endParaRPr>
          </a:p>
        </p:txBody>
      </p:sp>
      <p:sp>
        <p:nvSpPr>
          <p:cNvPr id="3" name="Content Placeholder 2"/>
          <p:cNvSpPr>
            <a:spLocks noGrp="1"/>
          </p:cNvSpPr>
          <p:nvPr>
            <p:ph idx="1"/>
          </p:nvPr>
        </p:nvSpPr>
        <p:spPr>
          <a:xfrm>
            <a:off x="-97068" y="1197103"/>
            <a:ext cx="11798373" cy="9678982"/>
          </a:xfrm>
        </p:spPr>
        <p:txBody>
          <a:bodyPr>
            <a:noAutofit/>
          </a:bodyPr>
          <a:lstStyle/>
          <a:p>
            <a:pPr>
              <a:lnSpc>
                <a:spcPct val="100000"/>
              </a:lnSpc>
            </a:pPr>
            <a:r>
              <a:rPr lang="en-US" sz="1800" dirty="0" err="1">
                <a:latin typeface="Segoe Script, cursive"/>
              </a:rPr>
              <a:t>I</a:t>
            </a:r>
            <a:r>
              <a:rPr lang="en-US" sz="1600" dirty="0" err="1">
                <a:latin typeface="Segoe Script, cursive"/>
              </a:rPr>
              <a:t>fa</a:t>
            </a:r>
            <a:r>
              <a:rPr lang="en-US" sz="1600" dirty="0">
                <a:latin typeface="Segoe Script, cursive"/>
              </a:rPr>
              <a:t> is a compendium of knowledge, a wisdom that is the fastest growing </a:t>
            </a:r>
            <a:r>
              <a:rPr lang="en-US" sz="1600" dirty="0" smtClean="0">
                <a:latin typeface="Segoe Script, cursive"/>
              </a:rPr>
              <a:t>and spreading across the Globe.</a:t>
            </a:r>
            <a:endParaRPr lang="en-US" sz="1600" dirty="0"/>
          </a:p>
          <a:p>
            <a:pPr>
              <a:lnSpc>
                <a:spcPct val="100000"/>
              </a:lnSpc>
            </a:pPr>
            <a:r>
              <a:rPr lang="en-US" sz="1600" dirty="0">
                <a:latin typeface="Segoe Script, cursive"/>
              </a:rPr>
              <a:t>I like the way my friend Dr. Tunde </a:t>
            </a:r>
            <a:r>
              <a:rPr lang="en-US" sz="1600" dirty="0" err="1">
                <a:latin typeface="Segoe Script, cursive"/>
              </a:rPr>
              <a:t>Adegbola</a:t>
            </a:r>
            <a:r>
              <a:rPr lang="en-US" sz="1600" dirty="0">
                <a:latin typeface="Segoe Script, cursive"/>
              </a:rPr>
              <a:t> rightly puts it; “</a:t>
            </a:r>
            <a:r>
              <a:rPr lang="en-US" sz="1600" dirty="0" err="1">
                <a:latin typeface="Segoe Script, cursive"/>
              </a:rPr>
              <a:t>Ifa</a:t>
            </a:r>
            <a:r>
              <a:rPr lang="en-US" sz="1600" dirty="0">
                <a:latin typeface="Segoe Script, cursive"/>
              </a:rPr>
              <a:t> is not a religion, but it has religion in it, </a:t>
            </a:r>
            <a:r>
              <a:rPr lang="en-US" sz="1600" dirty="0" err="1">
                <a:latin typeface="Segoe Script, cursive"/>
              </a:rPr>
              <a:t>Ifa</a:t>
            </a:r>
            <a:r>
              <a:rPr lang="en-US" sz="1600" dirty="0">
                <a:latin typeface="Segoe Script, cursive"/>
              </a:rPr>
              <a:t> is not science but it has science in it, </a:t>
            </a:r>
            <a:r>
              <a:rPr lang="en-US" sz="1600" dirty="0" err="1">
                <a:latin typeface="Segoe Script, cursive"/>
              </a:rPr>
              <a:t>Ifa</a:t>
            </a:r>
            <a:r>
              <a:rPr lang="en-US" sz="1600" dirty="0">
                <a:latin typeface="Segoe Script, cursive"/>
              </a:rPr>
              <a:t> is not mathematics, but it has mathematics in it, while </a:t>
            </a:r>
            <a:r>
              <a:rPr lang="en-US" sz="1600" dirty="0" err="1">
                <a:latin typeface="Segoe Script, cursive"/>
              </a:rPr>
              <a:t>Ifa</a:t>
            </a:r>
            <a:r>
              <a:rPr lang="en-US" sz="1600" dirty="0">
                <a:latin typeface="Segoe Script, cursive"/>
              </a:rPr>
              <a:t> is not computer, but has computation in it”. </a:t>
            </a:r>
            <a:endParaRPr lang="en-US" sz="1600" dirty="0"/>
          </a:p>
          <a:p>
            <a:pPr>
              <a:lnSpc>
                <a:spcPct val="100000"/>
              </a:lnSpc>
            </a:pPr>
            <a:r>
              <a:rPr lang="en-US" sz="1600" dirty="0">
                <a:latin typeface="Segoe Script, cursive"/>
              </a:rPr>
              <a:t>Truly, if you understand the binary system with which </a:t>
            </a:r>
            <a:r>
              <a:rPr lang="en-US" sz="1600" dirty="0" err="1">
                <a:latin typeface="Segoe Script, cursive"/>
              </a:rPr>
              <a:t>Ifa</a:t>
            </a:r>
            <a:r>
              <a:rPr lang="en-US" sz="1600" dirty="0">
                <a:latin typeface="Segoe Script, cursive"/>
              </a:rPr>
              <a:t> oracle is defined, did you know it gave birth to the principle of the binary lights with which the computer </a:t>
            </a:r>
            <a:r>
              <a:rPr lang="en-US" sz="1600" dirty="0" smtClean="0">
                <a:latin typeface="Segoe Script, cursive"/>
              </a:rPr>
              <a:t>method </a:t>
            </a:r>
            <a:r>
              <a:rPr lang="en-US" sz="1600" dirty="0">
                <a:latin typeface="Segoe Script, cursive"/>
              </a:rPr>
              <a:t>was created, and also called oracle in the computing system</a:t>
            </a:r>
            <a:r>
              <a:rPr lang="en-US" sz="1600" dirty="0" smtClean="0">
                <a:latin typeface="Segoe Script, cursive"/>
              </a:rPr>
              <a:t>.</a:t>
            </a:r>
            <a:endParaRPr lang="en-US" sz="1600" dirty="0"/>
          </a:p>
          <a:p>
            <a:pPr>
              <a:lnSpc>
                <a:spcPct val="100000"/>
              </a:lnSpc>
            </a:pPr>
            <a:r>
              <a:rPr lang="en-US" sz="1600" dirty="0" err="1">
                <a:latin typeface="Segoe Script, cursive"/>
              </a:rPr>
              <a:t>Ifa</a:t>
            </a:r>
            <a:r>
              <a:rPr lang="en-US" sz="1600" dirty="0">
                <a:latin typeface="Segoe Script, cursive"/>
              </a:rPr>
              <a:t> is studied and embraced across the length and breadth of the world today and is used to solve some of the problems of our modern day demands. It is used to consult to buy Stock exchange even on the Wall Street and many more</a:t>
            </a:r>
            <a:r>
              <a:rPr lang="en-US" sz="1600" dirty="0" smtClean="0">
                <a:latin typeface="Segoe Script, cursive"/>
              </a:rPr>
              <a:t>.</a:t>
            </a:r>
            <a:r>
              <a:rPr lang="en-US" sz="1600" dirty="0"/>
              <a:t/>
            </a:r>
            <a:br>
              <a:rPr lang="en-US" sz="1600" dirty="0"/>
            </a:br>
            <a:endParaRPr lang="en-US" sz="1600" dirty="0"/>
          </a:p>
          <a:p>
            <a:pPr>
              <a:lnSpc>
                <a:spcPct val="100000"/>
              </a:lnSpc>
            </a:pPr>
            <a:r>
              <a:rPr lang="en-US" sz="1600" dirty="0">
                <a:latin typeface="Segoe Script, cursive"/>
              </a:rPr>
              <a:t>There is a living fear that if care is not taking, we may have to go overseas to study </a:t>
            </a:r>
            <a:r>
              <a:rPr lang="en-US" sz="1600" dirty="0" err="1">
                <a:latin typeface="Segoe Script, cursive"/>
              </a:rPr>
              <a:t>ifa</a:t>
            </a:r>
            <a:r>
              <a:rPr lang="en-US" sz="1600" dirty="0">
                <a:latin typeface="Segoe Script, cursive"/>
              </a:rPr>
              <a:t> or if you like Yoruba language in the foreseeable future, if not already happening.</a:t>
            </a:r>
            <a:endParaRPr lang="en-US" sz="1600" dirty="0"/>
          </a:p>
          <a:p>
            <a:pPr>
              <a:lnSpc>
                <a:spcPct val="100000"/>
              </a:lnSpc>
            </a:pPr>
            <a:r>
              <a:rPr lang="en-US" sz="1600" dirty="0">
                <a:latin typeface="Segoe Script, cursive"/>
              </a:rPr>
              <a:t>Brazil, Bahia has Yoruba language for its official use, a phenomenon that may not be unconnected with the knowledge found in our ways and philosophy of life, hinged on </a:t>
            </a:r>
            <a:r>
              <a:rPr lang="en-US" sz="1600" dirty="0" err="1">
                <a:latin typeface="Segoe Script, cursive"/>
              </a:rPr>
              <a:t>Ifa</a:t>
            </a:r>
            <a:r>
              <a:rPr lang="en-US" sz="1600" dirty="0">
                <a:latin typeface="Segoe Script, cursive"/>
              </a:rPr>
              <a:t> and other indigenous knowledge of the Yoruba people of the Southwestern part of Nigeria. </a:t>
            </a:r>
            <a:endParaRPr lang="en-US" sz="1600" dirty="0"/>
          </a:p>
          <a:p>
            <a:pPr>
              <a:lnSpc>
                <a:spcPct val="100000"/>
              </a:lnSpc>
            </a:pPr>
            <a:r>
              <a:rPr lang="en-US" sz="1600" dirty="0">
                <a:latin typeface="Segoe Script, cursive"/>
              </a:rPr>
              <a:t>A book titled “God is not one” by Stephen </a:t>
            </a:r>
            <a:r>
              <a:rPr lang="en-US" sz="1600" dirty="0" err="1">
                <a:latin typeface="Segoe Script, cursive"/>
              </a:rPr>
              <a:t>Protero</a:t>
            </a:r>
            <a:r>
              <a:rPr lang="en-US" sz="1600" dirty="0">
                <a:latin typeface="Segoe Script, cursive"/>
              </a:rPr>
              <a:t> which takes a deep study on the eight established religions that rule the world, that is, Christianity, Islam, Confucianism, Buddhism, Shintoism, Hinduism, Judaism and Yoruba Religion is a living testimony to the fact of Yoruba religion being the fastest growing ecumenism in the world today. </a:t>
            </a:r>
            <a:endParaRPr lang="en-US" sz="1600" dirty="0"/>
          </a:p>
          <a:p>
            <a:pPr>
              <a:lnSpc>
                <a:spcPct val="100000"/>
              </a:lnSpc>
            </a:pPr>
            <a:r>
              <a:rPr lang="en-US" sz="1600" dirty="0" smtClean="0">
                <a:latin typeface="Segoe Script, cursive"/>
              </a:rPr>
              <a:t>A </a:t>
            </a:r>
            <a:r>
              <a:rPr lang="en-US" sz="1600" dirty="0">
                <a:latin typeface="Segoe Script, cursive"/>
              </a:rPr>
              <a:t>visit to the Harvard University website will blow your mind on the documentation of all </a:t>
            </a:r>
            <a:r>
              <a:rPr lang="en-US" sz="1600" dirty="0" err="1">
                <a:latin typeface="Segoe Script, cursive"/>
              </a:rPr>
              <a:t>Ifa</a:t>
            </a:r>
            <a:r>
              <a:rPr lang="en-US" sz="1600" dirty="0">
                <a:latin typeface="Segoe Script, cursive"/>
              </a:rPr>
              <a:t> chapters, written and chanted, which you can download with ease. </a:t>
            </a:r>
            <a:endParaRPr lang="en-US" sz="1600" dirty="0"/>
          </a:p>
          <a:p>
            <a:pPr>
              <a:lnSpc>
                <a:spcPct val="100000"/>
              </a:lnSpc>
            </a:pPr>
            <a:r>
              <a:rPr lang="en-US" sz="1600" b="1" dirty="0" smtClean="0">
                <a:latin typeface="Segoe Script, cursive"/>
              </a:rPr>
              <a:t>Tunde </a:t>
            </a:r>
            <a:r>
              <a:rPr lang="en-US" sz="1600" b="1" dirty="0">
                <a:latin typeface="Segoe Script, cursive"/>
              </a:rPr>
              <a:t>Odunlade</a:t>
            </a:r>
            <a:endParaRPr lang="en-US" sz="1600" dirty="0"/>
          </a:p>
          <a:p>
            <a:pPr>
              <a:lnSpc>
                <a:spcPct val="100000"/>
              </a:lnSpc>
            </a:pPr>
            <a:r>
              <a:rPr lang="en-US" sz="1600" b="1" dirty="0">
                <a:latin typeface="Segoe Script, cursive"/>
              </a:rPr>
              <a:t>June 2019</a:t>
            </a:r>
            <a:endParaRPr lang="en-US" sz="1600" dirty="0"/>
          </a:p>
          <a:p>
            <a:pPr algn="ctr">
              <a:lnSpc>
                <a:spcPct val="100000"/>
              </a:lnSpc>
            </a:pPr>
            <a:endParaRPr lang="en-US" sz="1600" dirty="0">
              <a:effectLst/>
            </a:endParaRPr>
          </a:p>
        </p:txBody>
      </p:sp>
      <p:sp>
        <p:nvSpPr>
          <p:cNvPr id="4" name="Rectangle 3"/>
          <p:cNvSpPr/>
          <p:nvPr/>
        </p:nvSpPr>
        <p:spPr>
          <a:xfrm>
            <a:off x="540727" y="-5182151"/>
            <a:ext cx="10937631" cy="3139321"/>
          </a:xfrm>
          <a:prstGeom prst="rect">
            <a:avLst/>
          </a:prstGeom>
        </p:spPr>
        <p:txBody>
          <a:bodyPr wrap="square">
            <a:spAutoFit/>
          </a:bodyPr>
          <a:lstStyle/>
          <a:p>
            <a:r>
              <a:rPr lang="en-US" b="1">
                <a:latin typeface="Segoe Script, cursive"/>
              </a:rPr>
              <a:t>living fear that if care is not taking, we may have to go overseas to study ifa or if you like Yoruba language in the foreseeable future, if not already happening.</a:t>
            </a:r>
            <a:endParaRPr lang="en-US" b="1"/>
          </a:p>
          <a:p>
            <a:r>
              <a:rPr lang="en-US" b="1">
                <a:latin typeface="Segoe Script, cursive"/>
              </a:rPr>
              <a:t>Brazil, Bahia has Yoruba language for its official use, a phenomenon that may not be unconnected with the knowledge found in our ways and philosophy of life, hinged on Ifa and other indigenous knowledge of the Yoruba people of the Southwestern part of Nigeria. </a:t>
            </a:r>
            <a:endParaRPr lang="en-US" b="1"/>
          </a:p>
          <a:p>
            <a:r>
              <a:rPr lang="en-US" b="1"/>
              <a:t/>
            </a:r>
            <a:br>
              <a:rPr lang="en-US" b="1"/>
            </a:br>
            <a:endParaRPr lang="en-US" b="1"/>
          </a:p>
          <a:p>
            <a:r>
              <a:rPr lang="en-US" b="1">
                <a:latin typeface="Segoe Script, cursive"/>
              </a:rPr>
              <a:t>A book titled “God is not one” by Stephen Protero which takes a deep study on the eight established religions that rule the world, that is, Christianity, Islam, Confucianism, Buddhism, Shintoism, Hinduism, Judaism and Yoruba Religion is a living testimony to the fact of Yoruba religion being the fastest growing ecumenism in the world today. </a:t>
            </a:r>
            <a:endParaRPr lang="en-US" b="1" dirty="0"/>
          </a:p>
        </p:txBody>
      </p:sp>
    </p:spTree>
    <p:extLst>
      <p:ext uri="{BB962C8B-B14F-4D97-AF65-F5344CB8AC3E}">
        <p14:creationId xmlns:p14="http://schemas.microsoft.com/office/powerpoint/2010/main" xmlns="" val="1169530784"/>
      </p:ext>
    </p:extLst>
  </p:cSld>
  <p:clrMapOvr>
    <a:masterClrMapping/>
  </p:clrMapOvr>
  <mc:AlternateContent xmlns:mc="http://schemas.openxmlformats.org/markup-compatibility/2006">
    <mc:Choice xmlns:p14="http://schemas.microsoft.com/office/powerpoint/2010/main" xmlns="" Requires="p14">
      <p:transition spd="slow" p14:dur="1500">
        <p:random/>
      </p:transition>
    </mc:Choice>
    <mc:Fallback>
      <p:transition spd="slow">
        <p:random/>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256034" y="3434225"/>
            <a:ext cx="3223912" cy="2994006"/>
          </a:xfrm>
        </p:spPr>
        <p:txBody>
          <a:bodyPr>
            <a:normAutofit/>
          </a:bodyPr>
          <a:lstStyle/>
          <a:p>
            <a:r>
              <a:rPr lang="en-US" b="1" dirty="0" smtClean="0">
                <a:latin typeface="Tempus Sans ITC" panose="04020404030D07020202" pitchFamily="82" charset="0"/>
              </a:rPr>
              <a:t>Title: Reaching for the star</a:t>
            </a:r>
          </a:p>
          <a:p>
            <a:r>
              <a:rPr lang="en-US" b="1" dirty="0" smtClean="0">
                <a:latin typeface="Tempus Sans ITC" panose="04020404030D07020202" pitchFamily="82" charset="0"/>
              </a:rPr>
              <a:t>Medium:  Batik Quilt Tapestry (BQT)</a:t>
            </a:r>
          </a:p>
          <a:p>
            <a:r>
              <a:rPr lang="en-US" b="1" dirty="0" smtClean="0">
                <a:latin typeface="Tempus Sans ITC" panose="04020404030D07020202" pitchFamily="82" charset="0"/>
              </a:rPr>
              <a:t>Year of Production: 2017-18</a:t>
            </a:r>
          </a:p>
          <a:p>
            <a:r>
              <a:rPr lang="en-US" b="1" dirty="0" smtClean="0">
                <a:latin typeface="Tempus Sans ITC" panose="04020404030D07020202" pitchFamily="82" charset="0"/>
              </a:rPr>
              <a:t>Artist: Tunde Odunlade</a:t>
            </a:r>
          </a:p>
          <a:p>
            <a:r>
              <a:rPr lang="en-US" b="1" dirty="0" smtClean="0">
                <a:latin typeface="Tempus Sans ITC" panose="04020404030D07020202" pitchFamily="82" charset="0"/>
              </a:rPr>
              <a:t>Size: 8ft-1,1/2ins by 6ft-6ins</a:t>
            </a:r>
          </a:p>
          <a:p>
            <a:r>
              <a:rPr lang="en-US" b="1" dirty="0" smtClean="0">
                <a:latin typeface="Tempus Sans ITC" panose="04020404030D07020202" pitchFamily="82" charset="0"/>
              </a:rPr>
              <a:t>Collections: Estate of the Artist</a:t>
            </a:r>
          </a:p>
          <a:p>
            <a:r>
              <a:rPr lang="en-US" b="1" dirty="0" smtClean="0">
                <a:latin typeface="Tempus Sans ITC" panose="04020404030D07020202" pitchFamily="82" charset="0"/>
              </a:rPr>
              <a:t>Provenance: Was exhibited in various Galleries</a:t>
            </a:r>
          </a:p>
        </p:txBody>
      </p:sp>
      <p:pic>
        <p:nvPicPr>
          <p:cNvPr id="7" name="Content Placeholder 6"/>
          <p:cNvPicPr>
            <a:picLocks noGrp="1" noChangeAspect="1"/>
          </p:cNvPicPr>
          <p:nvPr>
            <p:ph idx="1"/>
          </p:nvPr>
        </p:nvPicPr>
        <p:blipFill>
          <a:blip r:embed="rId2" cstate="print">
            <a:extLst>
              <a:ext uri="{28A0092B-C50C-407E-A947-70E740481C1C}">
                <a14:useLocalDpi xmlns:a14="http://schemas.microsoft.com/office/drawing/2010/main" xmlns="" val="0"/>
              </a:ext>
            </a:extLst>
          </a:blip>
          <a:stretch>
            <a:fillRect/>
          </a:stretch>
        </p:blipFill>
        <p:spPr>
          <a:xfrm>
            <a:off x="5397573" y="103135"/>
            <a:ext cx="5747657" cy="6637324"/>
          </a:xfrm>
        </p:spPr>
      </p:pic>
    </p:spTree>
    <p:extLst>
      <p:ext uri="{BB962C8B-B14F-4D97-AF65-F5344CB8AC3E}">
        <p14:creationId xmlns:p14="http://schemas.microsoft.com/office/powerpoint/2010/main" xmlns="" val="1435657513"/>
      </p:ext>
    </p:extLst>
  </p:cSld>
  <p:clrMapOvr>
    <a:masterClrMapping/>
  </p:clrMapOvr>
  <mc:AlternateContent xmlns:mc="http://schemas.openxmlformats.org/markup-compatibility/2006">
    <mc:Choice xmlns:p14="http://schemas.microsoft.com/office/powerpoint/2010/main" xmlns="" Requires="p14">
      <p:transition spd="slow" p14:dur="1500">
        <p:random/>
      </p:transition>
    </mc:Choice>
    <mc:Fallback>
      <p:transition spd="slow">
        <p:random/>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0841" y="67291"/>
            <a:ext cx="10515600" cy="794857"/>
          </a:xfrm>
        </p:spPr>
        <p:txBody>
          <a:bodyPr>
            <a:normAutofit fontScale="90000"/>
          </a:bodyPr>
          <a:lstStyle/>
          <a:p>
            <a:pPr algn="ctr"/>
            <a:r>
              <a:rPr lang="en-US" b="1" dirty="0" smtClean="0">
                <a:latin typeface="Tempus Sans ITC" panose="04020404030D07020202" pitchFamily="82" charset="0"/>
              </a:rPr>
              <a:t>Reaching for the star</a:t>
            </a:r>
            <a:r>
              <a:rPr lang="en-US" sz="3100" b="1" dirty="0" smtClean="0">
                <a:latin typeface="Tempus Sans ITC" panose="04020404030D07020202" pitchFamily="82" charset="0"/>
              </a:rPr>
              <a:t/>
            </a:r>
            <a:br>
              <a:rPr lang="en-US" sz="3100" b="1" dirty="0" smtClean="0">
                <a:latin typeface="Tempus Sans ITC" panose="04020404030D07020202" pitchFamily="82" charset="0"/>
              </a:rPr>
            </a:br>
            <a:r>
              <a:rPr lang="en-US" sz="3100" b="1" dirty="0" smtClean="0">
                <a:latin typeface="Tempus Sans ITC" panose="04020404030D07020202" pitchFamily="82" charset="0"/>
              </a:rPr>
              <a:t>Artist’s inspiration on the piece</a:t>
            </a:r>
            <a:endParaRPr lang="en-US" sz="3100" b="1" dirty="0">
              <a:latin typeface="Tempus Sans ITC" panose="04020404030D07020202" pitchFamily="82" charset="0"/>
            </a:endParaRPr>
          </a:p>
        </p:txBody>
      </p:sp>
      <p:sp>
        <p:nvSpPr>
          <p:cNvPr id="3" name="Content Placeholder 2"/>
          <p:cNvSpPr>
            <a:spLocks noGrp="1"/>
          </p:cNvSpPr>
          <p:nvPr>
            <p:ph idx="1"/>
          </p:nvPr>
        </p:nvSpPr>
        <p:spPr>
          <a:xfrm>
            <a:off x="219455" y="1029354"/>
            <a:ext cx="11798373" cy="5502075"/>
          </a:xfrm>
        </p:spPr>
        <p:txBody>
          <a:bodyPr>
            <a:noAutofit/>
          </a:bodyPr>
          <a:lstStyle/>
          <a:p>
            <a:pPr marL="0" indent="0">
              <a:buNone/>
            </a:pPr>
            <a:r>
              <a:rPr lang="en-US" sz="1600" b="1" dirty="0" smtClean="0">
                <a:latin typeface="Tempus Sans ITC" panose="04020404030D07020202" pitchFamily="82" charset="0"/>
              </a:rPr>
              <a:t>Reaching for the star depicts the recipe for “Success” on our paths, that which could be rough and challenging, filled with ups and downs; triumphs and travails. the attributes of normal human being.</a:t>
            </a:r>
          </a:p>
          <a:p>
            <a:pPr marL="0" indent="0">
              <a:buNone/>
            </a:pPr>
            <a:r>
              <a:rPr lang="en-US" sz="1600" b="1" dirty="0" smtClean="0">
                <a:latin typeface="Tempus Sans ITC" panose="04020404030D07020202" pitchFamily="82" charset="0"/>
              </a:rPr>
              <a:t>Failure isn't the reason why it didn't happen, but because you discontinued the happenstance. A popular saying, “What you are looking for, is in the last place you look”</a:t>
            </a:r>
          </a:p>
          <a:p>
            <a:pPr marL="0" indent="0">
              <a:buNone/>
            </a:pPr>
            <a:r>
              <a:rPr lang="en-US" sz="1600" b="1" dirty="0" smtClean="0">
                <a:latin typeface="Tempus Sans ITC" panose="04020404030D07020202" pitchFamily="82" charset="0"/>
              </a:rPr>
              <a:t>Bill Gates opines “If you are born poor it is not your fault, but if you die poor it is your fault”</a:t>
            </a:r>
          </a:p>
          <a:p>
            <a:pPr marL="0" indent="0">
              <a:buNone/>
            </a:pPr>
            <a:r>
              <a:rPr lang="en-US" sz="1600" b="1" dirty="0" smtClean="0">
                <a:latin typeface="Tempus Sans ITC" panose="04020404030D07020202" pitchFamily="82" charset="0"/>
              </a:rPr>
              <a:t>in other words, it isn't failure until you give it up.</a:t>
            </a:r>
          </a:p>
          <a:p>
            <a:pPr marL="0" indent="0">
              <a:buNone/>
            </a:pPr>
            <a:r>
              <a:rPr lang="en-US" sz="1600" b="1" dirty="0" smtClean="0">
                <a:latin typeface="Tempus Sans ITC" panose="04020404030D07020202" pitchFamily="82" charset="0"/>
              </a:rPr>
              <a:t>However, if you insist, persist and focused you are bound to make it to the top.</a:t>
            </a:r>
          </a:p>
          <a:p>
            <a:pPr marL="0" indent="0">
              <a:buNone/>
            </a:pPr>
            <a:r>
              <a:rPr lang="en-US" sz="1600" b="1" dirty="0" smtClean="0">
                <a:latin typeface="Tempus Sans ITC" panose="04020404030D07020202" pitchFamily="82" charset="0"/>
              </a:rPr>
              <a:t>The pyramidal desires of man is rhetorically necessary for mention.</a:t>
            </a:r>
          </a:p>
          <a:p>
            <a:pPr marL="0" indent="0">
              <a:buNone/>
            </a:pPr>
            <a:r>
              <a:rPr lang="en-US" sz="1600" b="1" dirty="0" smtClean="0">
                <a:latin typeface="Tempus Sans ITC" panose="04020404030D07020202" pitchFamily="82" charset="0"/>
              </a:rPr>
              <a:t>Naturally, Human being has these four set goals in life;</a:t>
            </a:r>
          </a:p>
          <a:p>
            <a:pPr marL="0" indent="0">
              <a:buNone/>
            </a:pPr>
            <a:r>
              <a:rPr lang="en-US" sz="1600" b="1" dirty="0" smtClean="0">
                <a:latin typeface="Tempus Sans ITC" panose="04020404030D07020202" pitchFamily="82" charset="0"/>
              </a:rPr>
              <a:t>1) Survival</a:t>
            </a:r>
          </a:p>
          <a:p>
            <a:pPr marL="0" indent="0">
              <a:buNone/>
            </a:pPr>
            <a:r>
              <a:rPr lang="en-US" sz="1600" b="1" dirty="0" smtClean="0">
                <a:latin typeface="Tempus Sans ITC" panose="04020404030D07020202" pitchFamily="82" charset="0"/>
              </a:rPr>
              <a:t>2) success</a:t>
            </a:r>
          </a:p>
          <a:p>
            <a:pPr marL="0" indent="0">
              <a:buNone/>
            </a:pPr>
            <a:r>
              <a:rPr lang="en-US" sz="1600" b="1" dirty="0" smtClean="0">
                <a:latin typeface="Tempus Sans ITC" panose="04020404030D07020202" pitchFamily="82" charset="0"/>
              </a:rPr>
              <a:t>3) Riches</a:t>
            </a:r>
          </a:p>
          <a:p>
            <a:pPr marL="0" indent="0">
              <a:buNone/>
            </a:pPr>
            <a:r>
              <a:rPr lang="en-US" sz="1600" b="1" dirty="0" smtClean="0">
                <a:latin typeface="Tempus Sans ITC" panose="04020404030D07020202" pitchFamily="82" charset="0"/>
              </a:rPr>
              <a:t>4) Power</a:t>
            </a:r>
          </a:p>
          <a:p>
            <a:pPr marL="0" indent="0">
              <a:buNone/>
            </a:pPr>
            <a:r>
              <a:rPr lang="en-US" sz="1600" b="1" dirty="0" smtClean="0">
                <a:latin typeface="Tempus Sans ITC" panose="04020404030D07020202" pitchFamily="82" charset="0"/>
              </a:rPr>
              <a:t>These are four stages of man’s life </a:t>
            </a:r>
          </a:p>
          <a:p>
            <a:pPr marL="0" indent="0">
              <a:buNone/>
            </a:pPr>
            <a:endParaRPr lang="en-US" sz="1600" b="1" dirty="0" smtClean="0">
              <a:latin typeface="Tempus Sans ITC" panose="04020404030D07020202" pitchFamily="82" charset="0"/>
            </a:endParaRPr>
          </a:p>
          <a:p>
            <a:pPr marL="0" indent="0">
              <a:buNone/>
            </a:pPr>
            <a:r>
              <a:rPr lang="en-US" sz="1600" b="1" dirty="0" smtClean="0">
                <a:latin typeface="Tempus Sans ITC" panose="04020404030D07020202" pitchFamily="82" charset="0"/>
              </a:rPr>
              <a:t>Tunde Odunlade</a:t>
            </a:r>
          </a:p>
          <a:p>
            <a:pPr marL="0" indent="0">
              <a:buNone/>
            </a:pPr>
            <a:r>
              <a:rPr lang="en-US" sz="1600" b="1" dirty="0" smtClean="0">
                <a:latin typeface="Tempus Sans ITC" panose="04020404030D07020202" pitchFamily="82" charset="0"/>
              </a:rPr>
              <a:t>August 2019 </a:t>
            </a:r>
            <a:endParaRPr lang="en-US" sz="1600" b="1" dirty="0">
              <a:latin typeface="Tempus Sans ITC" panose="04020404030D07020202" pitchFamily="82" charset="0"/>
            </a:endParaRPr>
          </a:p>
        </p:txBody>
      </p:sp>
    </p:spTree>
    <p:extLst>
      <p:ext uri="{BB962C8B-B14F-4D97-AF65-F5344CB8AC3E}">
        <p14:creationId xmlns:p14="http://schemas.microsoft.com/office/powerpoint/2010/main" xmlns="" val="1938813796"/>
      </p:ext>
    </p:extLst>
  </p:cSld>
  <p:clrMapOvr>
    <a:masterClrMapping/>
  </p:clrMapOvr>
  <mc:AlternateContent xmlns:mc="http://schemas.openxmlformats.org/markup-compatibility/2006">
    <mc:Choice xmlns:p14="http://schemas.microsoft.com/office/powerpoint/2010/main" xmlns="" Requires="p14">
      <p:transition spd="slow" p14:dur="1500">
        <p:random/>
      </p:transition>
    </mc:Choice>
    <mc:Fallback>
      <p:transition spd="slow">
        <p:random/>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256034" y="3434225"/>
            <a:ext cx="3223912" cy="2994006"/>
          </a:xfrm>
        </p:spPr>
        <p:txBody>
          <a:bodyPr>
            <a:normAutofit/>
          </a:bodyPr>
          <a:lstStyle/>
          <a:p>
            <a:r>
              <a:rPr lang="en-US" b="1" dirty="0" smtClean="0">
                <a:latin typeface="Tempus Sans ITC" panose="04020404030D07020202" pitchFamily="82" charset="0"/>
              </a:rPr>
              <a:t>Title: </a:t>
            </a:r>
            <a:r>
              <a:rPr lang="en-US" b="1" dirty="0">
                <a:latin typeface="Tempus Sans ITC" panose="04020404030D07020202" pitchFamily="82" charset="0"/>
              </a:rPr>
              <a:t>Every mickle makes a muckle</a:t>
            </a:r>
          </a:p>
          <a:p>
            <a:r>
              <a:rPr lang="en-US" b="1" dirty="0">
                <a:latin typeface="Tempus Sans ITC" panose="04020404030D07020202" pitchFamily="82" charset="0"/>
              </a:rPr>
              <a:t>Medium: Beaded Batik Quilt Tapestry (BBQT)</a:t>
            </a:r>
          </a:p>
          <a:p>
            <a:r>
              <a:rPr lang="en-US" b="1" dirty="0">
                <a:latin typeface="Tempus Sans ITC" panose="04020404030D07020202" pitchFamily="82" charset="0"/>
              </a:rPr>
              <a:t>Year of Production: 2019</a:t>
            </a:r>
          </a:p>
          <a:p>
            <a:r>
              <a:rPr lang="en-US" b="1" dirty="0">
                <a:latin typeface="Tempus Sans ITC" panose="04020404030D07020202" pitchFamily="82" charset="0"/>
              </a:rPr>
              <a:t>artist: Tunde Odunlade</a:t>
            </a:r>
          </a:p>
          <a:p>
            <a:r>
              <a:rPr lang="en-US" b="1" dirty="0">
                <a:latin typeface="Tempus Sans ITC" panose="04020404030D07020202" pitchFamily="82" charset="0"/>
              </a:rPr>
              <a:t>Size: 6ft.-6ins by 4ft-3ins</a:t>
            </a:r>
          </a:p>
          <a:p>
            <a:r>
              <a:rPr lang="en-US" b="1" dirty="0">
                <a:latin typeface="Tempus Sans ITC" panose="04020404030D07020202" pitchFamily="82" charset="0"/>
              </a:rPr>
              <a:t>Collection: Estate of the Artist.</a:t>
            </a:r>
          </a:p>
          <a:p>
            <a:r>
              <a:rPr lang="en-US" b="1" dirty="0">
                <a:latin typeface="Tempus Sans ITC" panose="04020404030D07020202" pitchFamily="82" charset="0"/>
              </a:rPr>
              <a:t>Provenance: Has been exhibited in various galleries</a:t>
            </a:r>
            <a:r>
              <a:rPr lang="en-US" b="1" dirty="0" smtClean="0">
                <a:latin typeface="Tempus Sans ITC" panose="04020404030D07020202" pitchFamily="82" charset="0"/>
              </a:rPr>
              <a:t>.</a:t>
            </a:r>
            <a:endParaRPr lang="en-US" b="1" dirty="0">
              <a:latin typeface="Tempus Sans ITC" panose="04020404030D07020202" pitchFamily="82" charset="0"/>
            </a:endParaRPr>
          </a:p>
        </p:txBody>
      </p:sp>
      <p:pic>
        <p:nvPicPr>
          <p:cNvPr id="3" name="Content Placeholder 2"/>
          <p:cNvPicPr>
            <a:picLocks noGrp="1" noChangeAspect="1"/>
          </p:cNvPicPr>
          <p:nvPr>
            <p:ph idx="1"/>
          </p:nvPr>
        </p:nvPicPr>
        <p:blipFill>
          <a:blip r:embed="rId2" cstate="print">
            <a:extLst>
              <a:ext uri="{28A0092B-C50C-407E-A947-70E740481C1C}">
                <a14:useLocalDpi xmlns:a14="http://schemas.microsoft.com/office/drawing/2010/main" xmlns="" val="0"/>
              </a:ext>
            </a:extLst>
          </a:blip>
          <a:stretch>
            <a:fillRect/>
          </a:stretch>
        </p:blipFill>
        <p:spPr>
          <a:xfrm>
            <a:off x="6118642" y="158806"/>
            <a:ext cx="4315968" cy="6508729"/>
          </a:xfrm>
        </p:spPr>
      </p:pic>
    </p:spTree>
    <p:extLst>
      <p:ext uri="{BB962C8B-B14F-4D97-AF65-F5344CB8AC3E}">
        <p14:creationId xmlns:p14="http://schemas.microsoft.com/office/powerpoint/2010/main" xmlns="" val="3111333047"/>
      </p:ext>
    </p:extLst>
  </p:cSld>
  <p:clrMapOvr>
    <a:masterClrMapping/>
  </p:clrMapOvr>
  <mc:AlternateContent xmlns:mc="http://schemas.openxmlformats.org/markup-compatibility/2006">
    <mc:Choice xmlns:p14="http://schemas.microsoft.com/office/powerpoint/2010/main" xmlns="" Requires="p14">
      <p:transition spd="slow" p14:dur="1500">
        <p:random/>
      </p:transition>
    </mc:Choice>
    <mc:Fallback>
      <p:transition spd="slow">
        <p:random/>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4976" y="67291"/>
            <a:ext cx="11583865" cy="794857"/>
          </a:xfrm>
        </p:spPr>
        <p:txBody>
          <a:bodyPr>
            <a:noAutofit/>
          </a:bodyPr>
          <a:lstStyle/>
          <a:p>
            <a:pPr algn="ctr"/>
            <a:r>
              <a:rPr lang="en-US" sz="2400" b="1" dirty="0" smtClean="0">
                <a:latin typeface="Segoe Script" panose="030B0504020000000003" pitchFamily="66" charset="0"/>
              </a:rPr>
              <a:t>Every mickle makes a muckle</a:t>
            </a:r>
            <a:br>
              <a:rPr lang="en-US" sz="2400" b="1" dirty="0" smtClean="0">
                <a:latin typeface="Segoe Script" panose="030B0504020000000003" pitchFamily="66" charset="0"/>
              </a:rPr>
            </a:br>
            <a:r>
              <a:rPr lang="en-US" sz="2400" b="1" dirty="0" smtClean="0">
                <a:latin typeface="Segoe Script" panose="030B0504020000000003" pitchFamily="66" charset="0"/>
              </a:rPr>
              <a:t>Artist’s inspiration on the piece</a:t>
            </a:r>
            <a:endParaRPr lang="en-US" sz="2400" b="1" dirty="0">
              <a:latin typeface="Segoe Script" panose="030B0504020000000003" pitchFamily="66" charset="0"/>
            </a:endParaRPr>
          </a:p>
        </p:txBody>
      </p:sp>
      <p:sp>
        <p:nvSpPr>
          <p:cNvPr id="3" name="Content Placeholder 2"/>
          <p:cNvSpPr>
            <a:spLocks noGrp="1"/>
          </p:cNvSpPr>
          <p:nvPr>
            <p:ph idx="1"/>
          </p:nvPr>
        </p:nvSpPr>
        <p:spPr>
          <a:xfrm>
            <a:off x="70338" y="914400"/>
            <a:ext cx="12121662" cy="8581292"/>
          </a:xfrm>
        </p:spPr>
        <p:txBody>
          <a:bodyPr>
            <a:noAutofit/>
          </a:bodyPr>
          <a:lstStyle/>
          <a:p>
            <a:pPr marL="0" indent="0">
              <a:lnSpc>
                <a:spcPct val="100000"/>
              </a:lnSpc>
              <a:buNone/>
            </a:pPr>
            <a:r>
              <a:rPr lang="en-US" sz="1600" b="1" dirty="0" smtClean="0">
                <a:latin typeface="Tempus Sans ITC" panose="04020404030D07020202" pitchFamily="82" charset="0"/>
              </a:rPr>
              <a:t>Little drops of water, makes a mighty ocean. This piece accentuates the importance of every individual role in societies. How the role each individual plays builds the larger formidable society or if you like a virile nation.</a:t>
            </a:r>
            <a:r>
              <a:rPr lang="en-US" sz="1600" dirty="0">
                <a:latin typeface="Tempus Sans ITC" panose="04020404030D07020202" pitchFamily="82" charset="0"/>
              </a:rPr>
              <a:t> Every mickle make a muckle meaning, many small amounts accumulate to make a large amount. In other words, in “Bits and pieces” something whole can be derived. Likewise “Little drops of water make a mighty ocean” which the Yoruba says “</a:t>
            </a:r>
            <a:r>
              <a:rPr lang="en-US" sz="1600" dirty="0" err="1">
                <a:latin typeface="Tempus Sans ITC" panose="04020404030D07020202" pitchFamily="82" charset="0"/>
              </a:rPr>
              <a:t>esun</a:t>
            </a:r>
            <a:r>
              <a:rPr lang="en-US" sz="1600" dirty="0">
                <a:latin typeface="Tempus Sans ITC" panose="04020404030D07020202" pitchFamily="82" charset="0"/>
              </a:rPr>
              <a:t> </a:t>
            </a:r>
            <a:r>
              <a:rPr lang="en-US" sz="1600" dirty="0" err="1">
                <a:latin typeface="Tempus Sans ITC" panose="04020404030D07020202" pitchFamily="82" charset="0"/>
              </a:rPr>
              <a:t>tere</a:t>
            </a:r>
            <a:r>
              <a:rPr lang="en-US" sz="1600" dirty="0">
                <a:latin typeface="Tempus Sans ITC" panose="04020404030D07020202" pitchFamily="82" charset="0"/>
              </a:rPr>
              <a:t> </a:t>
            </a:r>
            <a:r>
              <a:rPr lang="en-US" sz="1600" dirty="0" err="1">
                <a:latin typeface="Tempus Sans ITC" panose="04020404030D07020202" pitchFamily="82" charset="0"/>
              </a:rPr>
              <a:t>tere</a:t>
            </a:r>
            <a:r>
              <a:rPr lang="en-US" sz="1600" dirty="0">
                <a:latin typeface="Tempus Sans ITC" panose="04020404030D07020202" pitchFamily="82" charset="0"/>
              </a:rPr>
              <a:t> lo </a:t>
            </a:r>
            <a:r>
              <a:rPr lang="en-US" sz="1600" dirty="0" err="1">
                <a:latin typeface="Tempus Sans ITC" panose="04020404030D07020202" pitchFamily="82" charset="0"/>
              </a:rPr>
              <a:t>ndibu</a:t>
            </a:r>
            <a:r>
              <a:rPr lang="en-US" sz="1600" dirty="0">
                <a:latin typeface="Tempus Sans ITC" panose="04020404030D07020202" pitchFamily="82" charset="0"/>
              </a:rPr>
              <a:t> </a:t>
            </a:r>
            <a:r>
              <a:rPr lang="en-US" sz="1600" dirty="0" err="1">
                <a:latin typeface="Tempus Sans ITC" panose="04020404030D07020202" pitchFamily="82" charset="0"/>
              </a:rPr>
              <a:t>nla</a:t>
            </a:r>
            <a:r>
              <a:rPr lang="en-US" sz="1600" dirty="0">
                <a:latin typeface="Tempus Sans ITC" panose="04020404030D07020202" pitchFamily="82" charset="0"/>
              </a:rPr>
              <a:t>”. This could be interpreted into various ways. </a:t>
            </a:r>
          </a:p>
          <a:p>
            <a:pPr>
              <a:lnSpc>
                <a:spcPct val="100000"/>
              </a:lnSpc>
            </a:pPr>
            <a:r>
              <a:rPr lang="en-US" sz="1600" dirty="0">
                <a:latin typeface="Tempus Sans ITC" panose="04020404030D07020202" pitchFamily="82" charset="0"/>
              </a:rPr>
              <a:t>Building a house, there are days when you could only afford half a bag of cement, especially if you are the struggling type and you are using your legitimate resources, but, when the house is finally completed no one can point to the part where half a bag was once used. When the building is completed and has become wholesome you cannot point to the day you could only afford two blocks. That is the exact example of how a nation is built.</a:t>
            </a:r>
          </a:p>
          <a:p>
            <a:pPr>
              <a:lnSpc>
                <a:spcPct val="100000"/>
              </a:lnSpc>
            </a:pPr>
            <a:r>
              <a:rPr lang="en-US" sz="1600" dirty="0">
                <a:latin typeface="Tempus Sans ITC" panose="04020404030D07020202" pitchFamily="82" charset="0"/>
              </a:rPr>
              <a:t>The old cliché, “Rome was not built in a </a:t>
            </a:r>
            <a:r>
              <a:rPr lang="en-US" sz="1600" dirty="0" smtClean="0">
                <a:latin typeface="Tempus Sans ITC" panose="04020404030D07020202" pitchFamily="82" charset="0"/>
              </a:rPr>
              <a:t>day”, </a:t>
            </a:r>
            <a:r>
              <a:rPr lang="en-US" sz="1600" dirty="0">
                <a:latin typeface="Tempus Sans ITC" panose="04020404030D07020202" pitchFamily="82" charset="0"/>
              </a:rPr>
              <a:t>but, it was built everyday. </a:t>
            </a:r>
          </a:p>
          <a:p>
            <a:pPr>
              <a:lnSpc>
                <a:spcPct val="100000"/>
              </a:lnSpc>
            </a:pPr>
            <a:r>
              <a:rPr lang="en-US" sz="1600" dirty="0">
                <a:latin typeface="Tempus Sans ITC" panose="04020404030D07020202" pitchFamily="82" charset="0"/>
              </a:rPr>
              <a:t>TEAM (Together Each Achieves More) work is desirable, its the only way we can develop to become a nation, when each and every little efforts are garnered and galvanized. Such is the task of Nation Building. </a:t>
            </a:r>
            <a:r>
              <a:rPr lang="en-US" sz="1600" b="1" dirty="0" smtClean="0">
                <a:latin typeface="Tempus Sans ITC" panose="04020404030D07020202" pitchFamily="82" charset="0"/>
              </a:rPr>
              <a:t>The message therefore is, no one must abdicate his/her responsibility</a:t>
            </a:r>
          </a:p>
          <a:p>
            <a:pPr marL="0" indent="0">
              <a:buNone/>
            </a:pPr>
            <a:r>
              <a:rPr lang="en-US" sz="1600" b="1" dirty="0" smtClean="0">
                <a:latin typeface="Tempus Sans ITC" panose="04020404030D07020202" pitchFamily="82" charset="0"/>
              </a:rPr>
              <a:t>No one is too small to make a difference. Like the old Saying, “If you think you are too small to make a difference, sleep next to a mosquito”</a:t>
            </a:r>
          </a:p>
          <a:p>
            <a:pPr marL="0" indent="0">
              <a:buNone/>
            </a:pPr>
            <a:r>
              <a:rPr lang="en-US" sz="1600" b="1" dirty="0" smtClean="0">
                <a:latin typeface="Tempus Sans ITC" panose="04020404030D07020202" pitchFamily="82" charset="0"/>
              </a:rPr>
              <a:t>Therefore, no one should be afraid to have an idea no matter how bad. What is bad is not to have any idea at all, and if you do and is seen to be bad, just don’t implement it. Then move on from there</a:t>
            </a:r>
          </a:p>
          <a:p>
            <a:pPr marL="0" indent="0">
              <a:buNone/>
            </a:pPr>
            <a:r>
              <a:rPr lang="en-US" sz="1600" b="1" dirty="0" smtClean="0">
                <a:latin typeface="Tempus Sans ITC" panose="04020404030D07020202" pitchFamily="82" charset="0"/>
              </a:rPr>
              <a:t>In bits and pieces a whole is formed.</a:t>
            </a:r>
          </a:p>
          <a:p>
            <a:pPr marL="0" indent="0">
              <a:buNone/>
            </a:pPr>
            <a:r>
              <a:rPr lang="en-US" sz="1600" b="1" dirty="0" smtClean="0">
                <a:latin typeface="Tempus Sans ITC" panose="04020404030D07020202" pitchFamily="82" charset="0"/>
              </a:rPr>
              <a:t>Tunde Odunlade</a:t>
            </a:r>
          </a:p>
          <a:p>
            <a:pPr marL="0" indent="0">
              <a:buNone/>
            </a:pPr>
            <a:r>
              <a:rPr lang="en-US" sz="1600" b="1" dirty="0" smtClean="0">
                <a:latin typeface="Tempus Sans ITC" panose="04020404030D07020202" pitchFamily="82" charset="0"/>
              </a:rPr>
              <a:t>June 2019</a:t>
            </a:r>
            <a:endParaRPr lang="en-US" sz="1600" b="1" dirty="0">
              <a:latin typeface="Tempus Sans ITC" panose="04020404030D07020202" pitchFamily="82" charset="0"/>
            </a:endParaRPr>
          </a:p>
        </p:txBody>
      </p:sp>
    </p:spTree>
    <p:extLst>
      <p:ext uri="{BB962C8B-B14F-4D97-AF65-F5344CB8AC3E}">
        <p14:creationId xmlns:p14="http://schemas.microsoft.com/office/powerpoint/2010/main" xmlns="" val="3553658855"/>
      </p:ext>
    </p:extLst>
  </p:cSld>
  <p:clrMapOvr>
    <a:masterClrMapping/>
  </p:clrMapOvr>
  <mc:AlternateContent xmlns:mc="http://schemas.openxmlformats.org/markup-compatibility/2006">
    <mc:Choice xmlns:p14="http://schemas.microsoft.com/office/powerpoint/2010/main" xmlns="" Requires="p14">
      <p:transition spd="slow" p14:dur="1500">
        <p:random/>
      </p:transition>
    </mc:Choice>
    <mc:Fallback>
      <p:transition spd="slow">
        <p:random/>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975946" y="3679581"/>
            <a:ext cx="3327889" cy="2734406"/>
          </a:xfrm>
        </p:spPr>
        <p:txBody>
          <a:bodyPr>
            <a:normAutofit fontScale="92500" lnSpcReduction="20000"/>
          </a:bodyPr>
          <a:lstStyle/>
          <a:p>
            <a:endParaRPr lang="en-US" b="1" dirty="0" smtClean="0">
              <a:latin typeface="Tempus Sans ITC" panose="04020404030D07020202" pitchFamily="82" charset="0"/>
            </a:endParaRPr>
          </a:p>
          <a:p>
            <a:endParaRPr lang="en-US" b="1" dirty="0">
              <a:latin typeface="Tempus Sans ITC" panose="04020404030D07020202" pitchFamily="82" charset="0"/>
            </a:endParaRPr>
          </a:p>
          <a:p>
            <a:endParaRPr lang="en-US" b="1" dirty="0" smtClean="0">
              <a:latin typeface="Tempus Sans ITC" panose="04020404030D07020202" pitchFamily="82" charset="0"/>
            </a:endParaRPr>
          </a:p>
          <a:p>
            <a:r>
              <a:rPr lang="en-US" b="1" dirty="0" smtClean="0">
                <a:latin typeface="Tempus Sans ITC" panose="04020404030D07020202" pitchFamily="82" charset="0"/>
              </a:rPr>
              <a:t>Title: </a:t>
            </a:r>
            <a:r>
              <a:rPr lang="en-US" b="1" i="1" dirty="0" smtClean="0">
                <a:latin typeface="Tempus Sans ITC" panose="04020404030D07020202" pitchFamily="82" charset="0"/>
              </a:rPr>
              <a:t>Royal Bird: </a:t>
            </a:r>
          </a:p>
          <a:p>
            <a:r>
              <a:rPr lang="en-US" b="1" dirty="0" smtClean="0">
                <a:latin typeface="Tempus Sans ITC" panose="04020404030D07020202" pitchFamily="82" charset="0"/>
              </a:rPr>
              <a:t>Medium: Beaded Batik Quilt Tapestry</a:t>
            </a:r>
          </a:p>
          <a:p>
            <a:r>
              <a:rPr lang="en-US" b="1" dirty="0" smtClean="0">
                <a:latin typeface="Tempus Sans ITC" panose="04020404030D07020202" pitchFamily="82" charset="0"/>
              </a:rPr>
              <a:t>Year of Production:</a:t>
            </a:r>
          </a:p>
          <a:p>
            <a:r>
              <a:rPr lang="en-US" b="1" dirty="0" smtClean="0">
                <a:latin typeface="Tempus Sans ITC" panose="04020404030D07020202" pitchFamily="82" charset="0"/>
              </a:rPr>
              <a:t>Artist: Tunde Odunlade</a:t>
            </a:r>
          </a:p>
          <a:p>
            <a:r>
              <a:rPr lang="en-US" b="1" dirty="0" smtClean="0">
                <a:latin typeface="Tempus Sans ITC" panose="04020404030D07020202" pitchFamily="82" charset="0"/>
              </a:rPr>
              <a:t>Size: </a:t>
            </a:r>
          </a:p>
          <a:p>
            <a:r>
              <a:rPr lang="en-US" b="1" dirty="0" smtClean="0">
                <a:latin typeface="Tempus Sans ITC" panose="04020404030D07020202" pitchFamily="82" charset="0"/>
              </a:rPr>
              <a:t>Collection: Estate of the artist</a:t>
            </a:r>
          </a:p>
          <a:p>
            <a:endParaRPr lang="en-US" b="1" dirty="0">
              <a:latin typeface="Tempus Sans ITC" panose="04020404030D07020202" pitchFamily="82" charset="0"/>
            </a:endParaRPr>
          </a:p>
        </p:txBody>
      </p:sp>
      <p:pic>
        <p:nvPicPr>
          <p:cNvPr id="5" name="Content Placeholder 4"/>
          <p:cNvPicPr>
            <a:picLocks noGrp="1" noChangeAspect="1"/>
          </p:cNvPicPr>
          <p:nvPr>
            <p:ph idx="1"/>
          </p:nvPr>
        </p:nvPicPr>
        <p:blipFill>
          <a:blip r:embed="rId2" cstate="print">
            <a:extLst>
              <a:ext uri="{28A0092B-C50C-407E-A947-70E740481C1C}">
                <a14:useLocalDpi xmlns:a14="http://schemas.microsoft.com/office/drawing/2010/main" xmlns="" val="0"/>
              </a:ext>
            </a:extLst>
          </a:blip>
          <a:stretch>
            <a:fillRect/>
          </a:stretch>
        </p:blipFill>
        <p:spPr>
          <a:xfrm>
            <a:off x="7033042" y="138187"/>
            <a:ext cx="2487168" cy="6533546"/>
          </a:xfrm>
        </p:spPr>
      </p:pic>
    </p:spTree>
    <p:extLst>
      <p:ext uri="{BB962C8B-B14F-4D97-AF65-F5344CB8AC3E}">
        <p14:creationId xmlns:p14="http://schemas.microsoft.com/office/powerpoint/2010/main" xmlns="" val="2661488144"/>
      </p:ext>
    </p:extLst>
  </p:cSld>
  <p:clrMapOvr>
    <a:masterClrMapping/>
  </p:clrMapOvr>
  <mc:AlternateContent xmlns:mc="http://schemas.openxmlformats.org/markup-compatibility/2006">
    <mc:Choice xmlns:p14="http://schemas.microsoft.com/office/powerpoint/2010/main" xmlns="" Requires="p14">
      <p:transition spd="slow" p14:dur="1500">
        <p:random/>
      </p:transition>
    </mc:Choice>
    <mc:Fallback>
      <p:transition spd="slow">
        <p:random/>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0841" y="67291"/>
            <a:ext cx="10515600" cy="794857"/>
          </a:xfrm>
        </p:spPr>
        <p:txBody>
          <a:bodyPr>
            <a:normAutofit fontScale="90000"/>
          </a:bodyPr>
          <a:lstStyle/>
          <a:p>
            <a:pPr algn="ctr"/>
            <a:r>
              <a:rPr lang="en-US" sz="3100" b="1" dirty="0" smtClean="0">
                <a:latin typeface="Tempus Sans ITC" panose="04020404030D07020202" pitchFamily="82" charset="0"/>
              </a:rPr>
              <a:t>Royal Bird: Beaded Batik Quilt Tapestry</a:t>
            </a:r>
            <a:r>
              <a:rPr lang="en-US" b="1" dirty="0" smtClean="0">
                <a:latin typeface="Tempus Sans ITC" panose="04020404030D07020202" pitchFamily="82" charset="0"/>
              </a:rPr>
              <a:t/>
            </a:r>
            <a:br>
              <a:rPr lang="en-US" b="1" dirty="0" smtClean="0">
                <a:latin typeface="Tempus Sans ITC" panose="04020404030D07020202" pitchFamily="82" charset="0"/>
              </a:rPr>
            </a:br>
            <a:r>
              <a:rPr lang="en-US" sz="3100" b="1" dirty="0" smtClean="0">
                <a:latin typeface="Tempus Sans ITC" panose="04020404030D07020202" pitchFamily="82" charset="0"/>
              </a:rPr>
              <a:t>Artist’s inspiration on the piece</a:t>
            </a:r>
            <a:endParaRPr lang="en-US" sz="3100" b="1" dirty="0">
              <a:latin typeface="Tempus Sans ITC" panose="04020404030D07020202" pitchFamily="82" charset="0"/>
            </a:endParaRPr>
          </a:p>
        </p:txBody>
      </p:sp>
      <p:sp>
        <p:nvSpPr>
          <p:cNvPr id="3" name="Content Placeholder 2"/>
          <p:cNvSpPr>
            <a:spLocks noGrp="1"/>
          </p:cNvSpPr>
          <p:nvPr>
            <p:ph idx="1"/>
          </p:nvPr>
        </p:nvSpPr>
        <p:spPr>
          <a:xfrm>
            <a:off x="219455" y="910005"/>
            <a:ext cx="11798373" cy="6836018"/>
          </a:xfrm>
        </p:spPr>
        <p:txBody>
          <a:bodyPr>
            <a:noAutofit/>
          </a:bodyPr>
          <a:lstStyle/>
          <a:p>
            <a:pPr marL="0" indent="0" algn="ctr">
              <a:buNone/>
            </a:pPr>
            <a:r>
              <a:rPr lang="en-US" sz="1650" b="1" dirty="0" smtClean="0">
                <a:latin typeface="Tempus Sans ITC" panose="04020404030D07020202" pitchFamily="82" charset="0"/>
              </a:rPr>
              <a:t>Royal Bird is a piece I cherish a lot, largely because, the bird exhibits the importance of nature in its essence.</a:t>
            </a:r>
            <a:endParaRPr lang="en-US" sz="1650" b="1" dirty="0">
              <a:latin typeface="Tempus Sans ITC" panose="04020404030D07020202" pitchFamily="82" charset="0"/>
            </a:endParaRPr>
          </a:p>
          <a:p>
            <a:pPr marL="0" indent="0" algn="ctr">
              <a:buNone/>
            </a:pPr>
            <a:r>
              <a:rPr lang="en-US" sz="1650" b="1" dirty="0" smtClean="0">
                <a:latin typeface="Tempus Sans ITC" panose="04020404030D07020202" pitchFamily="82" charset="0"/>
              </a:rPr>
              <a:t>The bird stands resplendently on the royal pedestal, wrapped round it, is its chick under its care.</a:t>
            </a:r>
          </a:p>
          <a:p>
            <a:pPr marL="0" indent="0" algn="ctr">
              <a:buNone/>
            </a:pPr>
            <a:r>
              <a:rPr lang="en-US" sz="1650" b="1" dirty="0" smtClean="0">
                <a:latin typeface="Tempus Sans ITC" panose="04020404030D07020202" pitchFamily="82" charset="0"/>
              </a:rPr>
              <a:t>Cows they show much responsibility for their calves.</a:t>
            </a:r>
          </a:p>
          <a:p>
            <a:pPr marL="0" indent="0" algn="ctr">
              <a:buNone/>
            </a:pPr>
            <a:r>
              <a:rPr lang="en-US" sz="1650" b="1" dirty="0" smtClean="0">
                <a:latin typeface="Tempus Sans ITC" panose="04020404030D07020202" pitchFamily="82" charset="0"/>
              </a:rPr>
              <a:t>Eagles for their eaglets</a:t>
            </a:r>
          </a:p>
          <a:p>
            <a:pPr marL="0" indent="0" algn="ctr">
              <a:buNone/>
            </a:pPr>
            <a:r>
              <a:rPr lang="en-US" sz="1650" b="1" dirty="0" smtClean="0">
                <a:latin typeface="Tempus Sans ITC" panose="04020404030D07020202" pitchFamily="82" charset="0"/>
              </a:rPr>
              <a:t>Lioness for their cubs</a:t>
            </a:r>
          </a:p>
          <a:p>
            <a:pPr marL="0" indent="0" algn="ctr">
              <a:buNone/>
            </a:pPr>
            <a:r>
              <a:rPr lang="en-US" sz="1650" b="1" dirty="0" smtClean="0">
                <a:latin typeface="Tempus Sans ITC" panose="04020404030D07020202" pitchFamily="82" charset="0"/>
              </a:rPr>
              <a:t>Leopardess for their cubs</a:t>
            </a:r>
          </a:p>
          <a:p>
            <a:pPr marL="0" indent="0" algn="ctr">
              <a:buNone/>
            </a:pPr>
            <a:r>
              <a:rPr lang="en-US" sz="1650" b="1" dirty="0" smtClean="0">
                <a:latin typeface="Tempus Sans ITC" panose="04020404030D07020202" pitchFamily="82" charset="0"/>
              </a:rPr>
              <a:t>Goats for their kid-</a:t>
            </a:r>
            <a:r>
              <a:rPr lang="en-US" sz="1650" b="1" dirty="0" err="1" smtClean="0">
                <a:latin typeface="Tempus Sans ITC" panose="04020404030D07020202" pitchFamily="82" charset="0"/>
              </a:rPr>
              <a:t>billy</a:t>
            </a:r>
            <a:endParaRPr lang="en-US" sz="1650" b="1" dirty="0" smtClean="0">
              <a:latin typeface="Tempus Sans ITC" panose="04020404030D07020202" pitchFamily="82" charset="0"/>
            </a:endParaRPr>
          </a:p>
          <a:p>
            <a:pPr marL="0" indent="0" algn="ctr">
              <a:buNone/>
            </a:pPr>
            <a:r>
              <a:rPr lang="en-US" sz="1650" b="1" dirty="0" smtClean="0">
                <a:latin typeface="Tempus Sans ITC" panose="04020404030D07020202" pitchFamily="82" charset="0"/>
              </a:rPr>
              <a:t>Tigress for their whelp</a:t>
            </a:r>
          </a:p>
          <a:p>
            <a:pPr marL="0" indent="0" algn="ctr">
              <a:buNone/>
            </a:pPr>
            <a:r>
              <a:rPr lang="en-US" sz="1650" b="1" dirty="0" smtClean="0">
                <a:latin typeface="Tempus Sans ITC" panose="04020404030D07020202" pitchFamily="82" charset="0"/>
              </a:rPr>
              <a:t>Sheep for their lamb </a:t>
            </a:r>
          </a:p>
          <a:p>
            <a:pPr marL="0" indent="0" algn="ctr">
              <a:buNone/>
            </a:pPr>
            <a:r>
              <a:rPr lang="en-US" sz="1650" b="1" dirty="0" smtClean="0">
                <a:latin typeface="Tempus Sans ITC" panose="04020404030D07020202" pitchFamily="82" charset="0"/>
              </a:rPr>
              <a:t>Snakes for their little snakes</a:t>
            </a:r>
          </a:p>
          <a:p>
            <a:pPr marL="0" indent="0" algn="ctr">
              <a:buNone/>
            </a:pPr>
            <a:r>
              <a:rPr lang="en-US" sz="1650" b="1" dirty="0" smtClean="0">
                <a:latin typeface="Tempus Sans ITC" panose="04020404030D07020202" pitchFamily="82" charset="0"/>
              </a:rPr>
              <a:t>Snakes die for their little snakes to live</a:t>
            </a:r>
          </a:p>
          <a:p>
            <a:pPr marL="0" indent="0" algn="ctr">
              <a:buNone/>
            </a:pPr>
            <a:r>
              <a:rPr lang="en-US" sz="1650" b="1" dirty="0" smtClean="0">
                <a:latin typeface="Tempus Sans ITC" panose="04020404030D07020202" pitchFamily="82" charset="0"/>
              </a:rPr>
              <a:t>May we live for our own children to live</a:t>
            </a:r>
          </a:p>
          <a:p>
            <a:pPr marL="0" indent="0" algn="ctr">
              <a:buNone/>
            </a:pPr>
            <a:r>
              <a:rPr lang="en-US" sz="1650" b="1" dirty="0" smtClean="0">
                <a:latin typeface="Tempus Sans ITC" panose="04020404030D07020202" pitchFamily="82" charset="0"/>
              </a:rPr>
              <a:t>And we pray they outlive us.</a:t>
            </a:r>
          </a:p>
          <a:p>
            <a:pPr marL="0" indent="0" algn="ctr">
              <a:buNone/>
            </a:pPr>
            <a:r>
              <a:rPr lang="en-US" sz="1650" b="1" dirty="0" smtClean="0">
                <a:latin typeface="Tempus Sans ITC" panose="04020404030D07020202" pitchFamily="82" charset="0"/>
              </a:rPr>
              <a:t>Together, we all fulfill our purpose for life</a:t>
            </a:r>
          </a:p>
          <a:p>
            <a:pPr marL="0" indent="0" algn="ctr">
              <a:buNone/>
            </a:pPr>
            <a:r>
              <a:rPr lang="en-US" sz="1650" b="1" dirty="0" smtClean="0">
                <a:latin typeface="Tempus Sans ITC" panose="04020404030D07020202" pitchFamily="82" charset="0"/>
              </a:rPr>
              <a:t>After leading a fulfilled life to complete the cycle of our destiny. </a:t>
            </a:r>
          </a:p>
          <a:p>
            <a:pPr marL="0" indent="0" algn="ctr">
              <a:buNone/>
            </a:pPr>
            <a:r>
              <a:rPr lang="en-US" sz="1650" b="1" dirty="0" err="1" smtClean="0">
                <a:latin typeface="Tempus Sans ITC" panose="04020404030D07020202" pitchFamily="82" charset="0"/>
              </a:rPr>
              <a:t>Ase</a:t>
            </a:r>
            <a:r>
              <a:rPr lang="en-US" sz="1650" b="1" dirty="0" smtClean="0">
                <a:latin typeface="Tempus Sans ITC" panose="04020404030D07020202" pitchFamily="82" charset="0"/>
              </a:rPr>
              <a:t>.</a:t>
            </a:r>
          </a:p>
          <a:p>
            <a:pPr marL="0" indent="0" algn="ctr">
              <a:buNone/>
            </a:pPr>
            <a:r>
              <a:rPr lang="en-US" sz="1650" b="1" dirty="0" smtClean="0">
                <a:latin typeface="Tempus Sans ITC" panose="04020404030D07020202" pitchFamily="82" charset="0"/>
              </a:rPr>
              <a:t>Tunde Odunlade</a:t>
            </a:r>
          </a:p>
          <a:p>
            <a:pPr marL="0" indent="0" algn="ctr">
              <a:buNone/>
            </a:pPr>
            <a:r>
              <a:rPr lang="en-US" sz="1600" b="1" dirty="0" smtClean="0">
                <a:latin typeface="Tempus Sans ITC" panose="04020404030D07020202" pitchFamily="82" charset="0"/>
              </a:rPr>
              <a:t>September</a:t>
            </a:r>
            <a:r>
              <a:rPr lang="en-US" sz="1650" b="1" dirty="0" smtClean="0">
                <a:latin typeface="Tempus Sans ITC" panose="04020404030D07020202" pitchFamily="82" charset="0"/>
              </a:rPr>
              <a:t> 2019 </a:t>
            </a:r>
          </a:p>
          <a:p>
            <a:pPr marL="0" indent="0">
              <a:buNone/>
            </a:pPr>
            <a:endParaRPr lang="en-US" sz="1800" b="1" dirty="0" smtClean="0">
              <a:latin typeface="Tempus Sans ITC" panose="04020404030D07020202" pitchFamily="82" charset="0"/>
            </a:endParaRPr>
          </a:p>
          <a:p>
            <a:pPr marL="0" indent="0">
              <a:buNone/>
            </a:pPr>
            <a:endParaRPr lang="en-US" sz="2000" b="1" dirty="0">
              <a:latin typeface="Tempus Sans ITC" panose="04020404030D07020202" pitchFamily="82" charset="0"/>
            </a:endParaRPr>
          </a:p>
        </p:txBody>
      </p:sp>
    </p:spTree>
    <p:extLst>
      <p:ext uri="{BB962C8B-B14F-4D97-AF65-F5344CB8AC3E}">
        <p14:creationId xmlns:p14="http://schemas.microsoft.com/office/powerpoint/2010/main" xmlns="" val="3568401552"/>
      </p:ext>
    </p:extLst>
  </p:cSld>
  <p:clrMapOvr>
    <a:masterClrMapping/>
  </p:clrMapOvr>
  <mc:AlternateContent xmlns:mc="http://schemas.openxmlformats.org/markup-compatibility/2006">
    <mc:Choice xmlns:p14="http://schemas.microsoft.com/office/powerpoint/2010/main" xmlns="" Requires="p14">
      <p:transition spd="slow" p14:dur="1500">
        <p:random/>
      </p:transition>
    </mc:Choice>
    <mc:Fallback>
      <p:transition spd="slow">
        <p:random/>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256034" y="3434225"/>
            <a:ext cx="3223912" cy="2994006"/>
          </a:xfrm>
        </p:spPr>
        <p:txBody>
          <a:bodyPr>
            <a:normAutofit lnSpcReduction="10000"/>
          </a:bodyPr>
          <a:lstStyle/>
          <a:p>
            <a:r>
              <a:rPr lang="en-US" b="1" dirty="0" smtClean="0">
                <a:latin typeface="Tempus Sans ITC" panose="04020404030D07020202" pitchFamily="82" charset="0"/>
              </a:rPr>
              <a:t>Title of Work: “Our World From above”</a:t>
            </a:r>
          </a:p>
          <a:p>
            <a:r>
              <a:rPr lang="en-US" b="1" dirty="0" smtClean="0">
                <a:latin typeface="Tempus Sans ITC" panose="04020404030D07020202" pitchFamily="82" charset="0"/>
              </a:rPr>
              <a:t>Medium: Beaded Batik Quilt tapestry</a:t>
            </a:r>
          </a:p>
          <a:p>
            <a:r>
              <a:rPr lang="en-US" b="1" dirty="0" smtClean="0">
                <a:latin typeface="Tempus Sans ITC" panose="04020404030D07020202" pitchFamily="82" charset="0"/>
              </a:rPr>
              <a:t>Year of Production: 2012-2018</a:t>
            </a:r>
          </a:p>
          <a:p>
            <a:r>
              <a:rPr lang="en-US" b="1" dirty="0" smtClean="0">
                <a:latin typeface="Tempus Sans ITC" panose="04020404030D07020202" pitchFamily="82" charset="0"/>
              </a:rPr>
              <a:t>Artist: Tunde Odunlade.</a:t>
            </a:r>
          </a:p>
          <a:p>
            <a:r>
              <a:rPr lang="en-US" b="1" dirty="0" smtClean="0">
                <a:latin typeface="Tempus Sans ITC" panose="04020404030D07020202" pitchFamily="82" charset="0"/>
              </a:rPr>
              <a:t>Size: 13ft-4ins by 9ft-9ins</a:t>
            </a:r>
          </a:p>
          <a:p>
            <a:r>
              <a:rPr lang="en-US" b="1" dirty="0" smtClean="0">
                <a:latin typeface="Tempus Sans ITC" panose="04020404030D07020202" pitchFamily="82" charset="0"/>
              </a:rPr>
              <a:t>Collection: Estate of the Artist</a:t>
            </a:r>
          </a:p>
          <a:p>
            <a:r>
              <a:rPr lang="en-US" b="1" dirty="0" smtClean="0">
                <a:latin typeface="Tempus Sans ITC" panose="04020404030D07020202" pitchFamily="82" charset="0"/>
              </a:rPr>
              <a:t>Provenance: Has been exhibited in </a:t>
            </a:r>
            <a:r>
              <a:rPr lang="en-US" b="1" dirty="0" err="1" smtClean="0">
                <a:latin typeface="Tempus Sans ITC" panose="04020404030D07020202" pitchFamily="82" charset="0"/>
              </a:rPr>
              <a:t>variuos</a:t>
            </a:r>
            <a:r>
              <a:rPr lang="en-US" b="1" dirty="0" smtClean="0">
                <a:latin typeface="Tempus Sans ITC" panose="04020404030D07020202" pitchFamily="82" charset="0"/>
              </a:rPr>
              <a:t> galleries</a:t>
            </a:r>
          </a:p>
        </p:txBody>
      </p:sp>
      <p:pic>
        <p:nvPicPr>
          <p:cNvPr id="5" name="Content Placeholder 4"/>
          <p:cNvPicPr>
            <a:picLocks noGrp="1" noChangeAspect="1"/>
          </p:cNvPicPr>
          <p:nvPr>
            <p:ph idx="1"/>
          </p:nvPr>
        </p:nvPicPr>
        <p:blipFill>
          <a:blip r:embed="rId2" cstate="print">
            <a:extLst>
              <a:ext uri="{28A0092B-C50C-407E-A947-70E740481C1C}">
                <a14:useLocalDpi xmlns:a14="http://schemas.microsoft.com/office/drawing/2010/main" xmlns="" val="0"/>
              </a:ext>
            </a:extLst>
          </a:blip>
          <a:stretch>
            <a:fillRect/>
          </a:stretch>
        </p:blipFill>
        <p:spPr>
          <a:xfrm>
            <a:off x="3751032" y="125402"/>
            <a:ext cx="8260396" cy="6562781"/>
          </a:xfrm>
        </p:spPr>
      </p:pic>
    </p:spTree>
    <p:extLst>
      <p:ext uri="{BB962C8B-B14F-4D97-AF65-F5344CB8AC3E}">
        <p14:creationId xmlns:p14="http://schemas.microsoft.com/office/powerpoint/2010/main" xmlns="" val="2382202400"/>
      </p:ext>
    </p:extLst>
  </p:cSld>
  <p:clrMapOvr>
    <a:masterClrMapping/>
  </p:clrMapOvr>
  <mc:AlternateContent xmlns:mc="http://schemas.openxmlformats.org/markup-compatibility/2006">
    <mc:Choice xmlns:p14="http://schemas.microsoft.com/office/powerpoint/2010/main" xmlns="" Requires="p14">
      <p:transition spd="slow" p14:dur="1500">
        <p:random/>
      </p:transition>
    </mc:Choice>
    <mc:Fallback>
      <p:transition spd="slow">
        <p:random/>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0841" y="67291"/>
            <a:ext cx="10515600" cy="794857"/>
          </a:xfrm>
        </p:spPr>
        <p:txBody>
          <a:bodyPr>
            <a:normAutofit fontScale="90000"/>
          </a:bodyPr>
          <a:lstStyle/>
          <a:p>
            <a:pPr algn="ctr"/>
            <a:r>
              <a:rPr lang="en-US" b="1" dirty="0" smtClean="0">
                <a:latin typeface="Tempus Sans ITC" panose="04020404030D07020202" pitchFamily="82" charset="0"/>
              </a:rPr>
              <a:t>Our World From above</a:t>
            </a:r>
            <a:r>
              <a:rPr lang="en-US" sz="3100" b="1" dirty="0" smtClean="0">
                <a:latin typeface="Tempus Sans ITC" panose="04020404030D07020202" pitchFamily="82" charset="0"/>
              </a:rPr>
              <a:t/>
            </a:r>
            <a:br>
              <a:rPr lang="en-US" sz="3100" b="1" dirty="0" smtClean="0">
                <a:latin typeface="Tempus Sans ITC" panose="04020404030D07020202" pitchFamily="82" charset="0"/>
              </a:rPr>
            </a:br>
            <a:r>
              <a:rPr lang="en-US" sz="3100" b="1" dirty="0" smtClean="0">
                <a:latin typeface="Tempus Sans ITC" panose="04020404030D07020202" pitchFamily="82" charset="0"/>
              </a:rPr>
              <a:t>Artist’s inspiration on the piece</a:t>
            </a:r>
            <a:endParaRPr lang="en-US" sz="3100" b="1" dirty="0">
              <a:latin typeface="Tempus Sans ITC" panose="04020404030D07020202" pitchFamily="82" charset="0"/>
            </a:endParaRPr>
          </a:p>
        </p:txBody>
      </p:sp>
      <p:sp>
        <p:nvSpPr>
          <p:cNvPr id="3" name="Content Placeholder 2"/>
          <p:cNvSpPr>
            <a:spLocks noGrp="1"/>
          </p:cNvSpPr>
          <p:nvPr>
            <p:ph idx="1"/>
          </p:nvPr>
        </p:nvSpPr>
        <p:spPr>
          <a:xfrm>
            <a:off x="219455" y="1029354"/>
            <a:ext cx="11798373" cy="5502075"/>
          </a:xfrm>
        </p:spPr>
        <p:txBody>
          <a:bodyPr>
            <a:noAutofit/>
          </a:bodyPr>
          <a:lstStyle/>
          <a:p>
            <a:pPr marL="0" indent="0">
              <a:buNone/>
            </a:pPr>
            <a:r>
              <a:rPr lang="en-US" sz="1400" b="1" dirty="0" smtClean="0">
                <a:latin typeface="Tempus Sans ITC" panose="04020404030D07020202" pitchFamily="82" charset="0"/>
              </a:rPr>
              <a:t>Flying on KLM into </a:t>
            </a:r>
            <a:r>
              <a:rPr lang="en-US" sz="1400" b="1" dirty="0" err="1" smtClean="0">
                <a:latin typeface="Tempus Sans ITC" panose="04020404030D07020202" pitchFamily="82" charset="0"/>
              </a:rPr>
              <a:t>Schippol</a:t>
            </a:r>
            <a:r>
              <a:rPr lang="en-US" sz="1400" b="1" dirty="0" smtClean="0">
                <a:latin typeface="Tempus Sans ITC" panose="04020404030D07020202" pitchFamily="82" charset="0"/>
              </a:rPr>
              <a:t> International Airport in Amsterdam is quite revealing of the beauty inherent in our world from above. A glance from the aircraft window on the flower plantations-landscaping is worth many looks.</a:t>
            </a:r>
          </a:p>
          <a:p>
            <a:pPr marL="0" indent="0">
              <a:buNone/>
            </a:pPr>
            <a:r>
              <a:rPr lang="en-US" sz="1400" b="1" dirty="0" smtClean="0">
                <a:latin typeface="Tempus Sans ITC" panose="04020404030D07020202" pitchFamily="82" charset="0"/>
              </a:rPr>
              <a:t>Holland exports to the world flowers worth over 5 billion Euros in auctions added to their foreign exchange earner and a sustainable GDP.</a:t>
            </a:r>
          </a:p>
          <a:p>
            <a:pPr marL="0" indent="0">
              <a:buNone/>
            </a:pPr>
            <a:r>
              <a:rPr lang="en-US" sz="1400" b="1" dirty="0" smtClean="0">
                <a:latin typeface="Tempus Sans ITC" panose="04020404030D07020202" pitchFamily="82" charset="0"/>
              </a:rPr>
              <a:t>The Dutch are reputable for exporting Tulips around the world fresh. Apart from the economic values, it’s also a value added to the landscaping beauty that tourists from all over the world make a must see destination. Is it the cynosure or the scintillating aroma of the flower plantations? especially the tulips. </a:t>
            </a:r>
          </a:p>
          <a:p>
            <a:pPr marL="0" indent="0">
              <a:buNone/>
            </a:pPr>
            <a:r>
              <a:rPr lang="en-US" sz="1400" b="1" dirty="0" smtClean="0">
                <a:latin typeface="Tempus Sans ITC" panose="04020404030D07020202" pitchFamily="82" charset="0"/>
              </a:rPr>
              <a:t>No wonder why Cleveland said, “Give me my flower now that I can smell it” Without question flower radiates infinite-agape-love. </a:t>
            </a:r>
          </a:p>
          <a:p>
            <a:pPr marL="0" indent="0">
              <a:buNone/>
            </a:pPr>
            <a:r>
              <a:rPr lang="en-US" sz="1400" b="1" dirty="0" smtClean="0">
                <a:latin typeface="Tempus Sans ITC" panose="04020404030D07020202" pitchFamily="82" charset="0"/>
              </a:rPr>
              <a:t>Georgia O’Keefe says “Nobody sees a flower really, it is so small. We haven’t time to see it, and to see takes time – like to have a friend takes time...” Well, the Dutch defy this statement by bringing to the fore the beauty in flowers for all to see, even at a distant.</a:t>
            </a:r>
          </a:p>
          <a:p>
            <a:pPr marL="0" indent="0">
              <a:buNone/>
            </a:pPr>
            <a:r>
              <a:rPr lang="en-US" sz="1400" b="1" dirty="0" smtClean="0">
                <a:latin typeface="Tempus Sans ITC" panose="04020404030D07020202" pitchFamily="82" charset="0"/>
              </a:rPr>
              <a:t>A deep look into the world of Claude Monet the </a:t>
            </a:r>
            <a:r>
              <a:rPr lang="en-US" sz="1400" b="1" dirty="0" err="1" smtClean="0">
                <a:latin typeface="Tempus Sans ITC" panose="04020404030D07020202" pitchFamily="82" charset="0"/>
              </a:rPr>
              <a:t>french</a:t>
            </a:r>
            <a:r>
              <a:rPr lang="en-US" sz="1400" b="1" dirty="0" smtClean="0">
                <a:latin typeface="Tempus Sans ITC" panose="04020404030D07020202" pitchFamily="82" charset="0"/>
              </a:rPr>
              <a:t> painter of flowers is also more encouraging to really further fall in love with flowers, as he says “I must have flowers always and always” </a:t>
            </a:r>
          </a:p>
          <a:p>
            <a:pPr marL="0" indent="0">
              <a:buNone/>
            </a:pPr>
            <a:r>
              <a:rPr lang="en-US" sz="1400" b="1" dirty="0" smtClean="0">
                <a:latin typeface="Tempus Sans ITC" panose="04020404030D07020202" pitchFamily="82" charset="0"/>
              </a:rPr>
              <a:t>No wonder why the Dutch Renaissance artist Van Gogh also says, </a:t>
            </a:r>
          </a:p>
          <a:p>
            <a:pPr marL="0" indent="0">
              <a:buNone/>
            </a:pPr>
            <a:r>
              <a:rPr lang="en-US" sz="1400" b="1" dirty="0" smtClean="0">
                <a:latin typeface="Tempus Sans ITC" panose="04020404030D07020202" pitchFamily="82" charset="0"/>
              </a:rPr>
              <a:t>“How right it is to love flowers and the greenery of pines and ivy and hawthorn hedges; they have been with us from the beginning” All of these go to show nature’s endowment that must never be taken with levity and must be an integral part of our world, always. I love flowers. Think about the lovely perfumes made out of flowers.</a:t>
            </a:r>
          </a:p>
          <a:p>
            <a:pPr marL="0" indent="0">
              <a:buNone/>
            </a:pPr>
            <a:r>
              <a:rPr lang="en-US" sz="1400" b="1" dirty="0" smtClean="0">
                <a:latin typeface="Tempus Sans ITC" panose="04020404030D07020202" pitchFamily="82" charset="0"/>
              </a:rPr>
              <a:t>This piece also takes a swipe into a picture you can find at the United States Geological Survey (US-GS) building-headquarters in Virginia USA, which shows the picture of the earth taken from the space.</a:t>
            </a:r>
          </a:p>
          <a:p>
            <a:pPr marL="0" indent="0">
              <a:buNone/>
            </a:pPr>
            <a:r>
              <a:rPr lang="en-US" sz="1400" b="1" dirty="0" smtClean="0">
                <a:latin typeface="Tempus Sans ITC" panose="04020404030D07020202" pitchFamily="82" charset="0"/>
              </a:rPr>
              <a:t>Looking at the picture down from the atrium of the building, all you could see is a solid picture without an easily identifiable region or continent but the different colors depicting nature’s essence. </a:t>
            </a:r>
          </a:p>
          <a:p>
            <a:pPr marL="0" indent="0">
              <a:buNone/>
            </a:pPr>
            <a:r>
              <a:rPr lang="en-US" sz="1400" b="1" dirty="0" smtClean="0">
                <a:latin typeface="Tempus Sans ITC" panose="04020404030D07020202" pitchFamily="82" charset="0"/>
              </a:rPr>
              <a:t>If only we understood nature’s essence-oneness, we will see life in a unifying whole and therefore be humble to respect other creatures as subject to co-habitation. </a:t>
            </a:r>
          </a:p>
          <a:p>
            <a:pPr marL="0" indent="0">
              <a:buNone/>
            </a:pPr>
            <a:r>
              <a:rPr lang="en-US" sz="1400" b="1" dirty="0" smtClean="0">
                <a:latin typeface="Tempus Sans ITC" panose="04020404030D07020202" pitchFamily="82" charset="0"/>
              </a:rPr>
              <a:t>Tunde Odunlade</a:t>
            </a:r>
          </a:p>
          <a:p>
            <a:pPr marL="0" indent="0">
              <a:buNone/>
            </a:pPr>
            <a:r>
              <a:rPr lang="en-US" sz="1400" b="1" dirty="0" smtClean="0">
                <a:latin typeface="Tempus Sans ITC" panose="04020404030D07020202" pitchFamily="82" charset="0"/>
              </a:rPr>
              <a:t>August 2019.</a:t>
            </a:r>
            <a:endParaRPr lang="en-US" sz="1400" b="1" dirty="0">
              <a:latin typeface="Tempus Sans ITC" panose="04020404030D07020202" pitchFamily="82" charset="0"/>
            </a:endParaRPr>
          </a:p>
        </p:txBody>
      </p:sp>
    </p:spTree>
    <p:extLst>
      <p:ext uri="{BB962C8B-B14F-4D97-AF65-F5344CB8AC3E}">
        <p14:creationId xmlns:p14="http://schemas.microsoft.com/office/powerpoint/2010/main" xmlns="" val="3881469255"/>
      </p:ext>
    </p:extLst>
  </p:cSld>
  <p:clrMapOvr>
    <a:masterClrMapping/>
  </p:clrMapOvr>
  <mc:AlternateContent xmlns:mc="http://schemas.openxmlformats.org/markup-compatibility/2006">
    <mc:Choice xmlns:p14="http://schemas.microsoft.com/office/powerpoint/2010/main" xmlns="" Requires="p14">
      <p:transition spd="slow" p14:dur="1500">
        <p:random/>
      </p:transition>
    </mc:Choice>
    <mc:Fallback>
      <p:transition spd="slow">
        <p:random/>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256034" y="3434225"/>
            <a:ext cx="3223912" cy="2994006"/>
          </a:xfrm>
        </p:spPr>
        <p:txBody>
          <a:bodyPr>
            <a:normAutofit/>
          </a:bodyPr>
          <a:lstStyle/>
          <a:p>
            <a:r>
              <a:rPr lang="en-US" b="1" dirty="0" smtClean="0">
                <a:latin typeface="Tempus Sans ITC" panose="04020404030D07020202" pitchFamily="82" charset="0"/>
              </a:rPr>
              <a:t>Title of Work: Seleru </a:t>
            </a:r>
            <a:r>
              <a:rPr lang="en-US" b="1" dirty="0" err="1" smtClean="0">
                <a:latin typeface="Tempus Sans ITC" panose="04020404030D07020202" pitchFamily="82" charset="0"/>
              </a:rPr>
              <a:t>Agbo</a:t>
            </a:r>
            <a:endParaRPr lang="en-US" b="1" dirty="0" smtClean="0">
              <a:latin typeface="Tempus Sans ITC" panose="04020404030D07020202" pitchFamily="82" charset="0"/>
            </a:endParaRPr>
          </a:p>
          <a:p>
            <a:r>
              <a:rPr lang="en-US" b="1" dirty="0" smtClean="0">
                <a:latin typeface="Tempus Sans ITC" panose="04020404030D07020202" pitchFamily="82" charset="0"/>
              </a:rPr>
              <a:t>Medium: Beaded Batik Quilt tapestry</a:t>
            </a:r>
          </a:p>
          <a:p>
            <a:r>
              <a:rPr lang="en-US" b="1" dirty="0" smtClean="0">
                <a:latin typeface="Tempus Sans ITC" panose="04020404030D07020202" pitchFamily="82" charset="0"/>
              </a:rPr>
              <a:t>Year of </a:t>
            </a:r>
            <a:r>
              <a:rPr lang="en-US" b="1" dirty="0" err="1" smtClean="0">
                <a:latin typeface="Tempus Sans ITC" panose="04020404030D07020202" pitchFamily="82" charset="0"/>
              </a:rPr>
              <a:t>Prodution</a:t>
            </a:r>
            <a:r>
              <a:rPr lang="en-US" b="1" dirty="0" smtClean="0">
                <a:latin typeface="Tempus Sans ITC" panose="04020404030D07020202" pitchFamily="82" charset="0"/>
              </a:rPr>
              <a:t>: 2011-2018</a:t>
            </a:r>
          </a:p>
          <a:p>
            <a:r>
              <a:rPr lang="en-US" b="1" dirty="0" smtClean="0">
                <a:latin typeface="Tempus Sans ITC" panose="04020404030D07020202" pitchFamily="82" charset="0"/>
              </a:rPr>
              <a:t>Artist: Tunde Odunlade</a:t>
            </a:r>
          </a:p>
          <a:p>
            <a:r>
              <a:rPr lang="en-US" b="1" dirty="0" smtClean="0">
                <a:latin typeface="Tempus Sans ITC" panose="04020404030D07020202" pitchFamily="82" charset="0"/>
              </a:rPr>
              <a:t>Size: 9ft.31ns by 14ft </a:t>
            </a:r>
          </a:p>
          <a:p>
            <a:r>
              <a:rPr lang="en-US" b="1" dirty="0" smtClean="0">
                <a:latin typeface="Tempus Sans ITC" panose="04020404030D07020202" pitchFamily="82" charset="0"/>
              </a:rPr>
              <a:t>Collection: Estate of the Artist.</a:t>
            </a:r>
          </a:p>
          <a:p>
            <a:r>
              <a:rPr lang="en-US" b="1" dirty="0" smtClean="0">
                <a:latin typeface="Tempus Sans ITC" panose="04020404030D07020202" pitchFamily="82" charset="0"/>
              </a:rPr>
              <a:t>Provenance: Was exhibited in various galleries</a:t>
            </a:r>
          </a:p>
        </p:txBody>
      </p:sp>
      <p:pic>
        <p:nvPicPr>
          <p:cNvPr id="3" name="Content Placeholder 2"/>
          <p:cNvPicPr>
            <a:picLocks noGrp="1" noChangeAspect="1"/>
          </p:cNvPicPr>
          <p:nvPr>
            <p:ph idx="1"/>
          </p:nvPr>
        </p:nvPicPr>
        <p:blipFill>
          <a:blip r:embed="rId2" cstate="print">
            <a:extLst>
              <a:ext uri="{28A0092B-C50C-407E-A947-70E740481C1C}">
                <a14:useLocalDpi xmlns:a14="http://schemas.microsoft.com/office/drawing/2010/main" xmlns="" val="0"/>
              </a:ext>
            </a:extLst>
          </a:blip>
          <a:stretch>
            <a:fillRect/>
          </a:stretch>
        </p:blipFill>
        <p:spPr>
          <a:xfrm>
            <a:off x="3479946" y="104503"/>
            <a:ext cx="8457648" cy="6437376"/>
          </a:xfrm>
        </p:spPr>
      </p:pic>
    </p:spTree>
    <p:extLst>
      <p:ext uri="{BB962C8B-B14F-4D97-AF65-F5344CB8AC3E}">
        <p14:creationId xmlns:p14="http://schemas.microsoft.com/office/powerpoint/2010/main" xmlns="" val="1726928341"/>
      </p:ext>
    </p:extLst>
  </p:cSld>
  <p:clrMapOvr>
    <a:masterClrMapping/>
  </p:clrMapOvr>
  <mc:AlternateContent xmlns:mc="http://schemas.openxmlformats.org/markup-compatibility/2006">
    <mc:Choice xmlns:p14="http://schemas.microsoft.com/office/powerpoint/2010/main" xmlns="" Requires="p14">
      <p:transition spd="slow" p14:dur="1500">
        <p:random/>
      </p:transition>
    </mc:Choice>
    <mc:Fallback>
      <p:transition spd="slow">
        <p:random/>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0841" y="67291"/>
            <a:ext cx="10515600" cy="794857"/>
          </a:xfrm>
        </p:spPr>
        <p:txBody>
          <a:bodyPr>
            <a:normAutofit fontScale="90000"/>
          </a:bodyPr>
          <a:lstStyle/>
          <a:p>
            <a:pPr algn="ctr"/>
            <a:r>
              <a:rPr lang="en-US" b="1" dirty="0" smtClean="0">
                <a:latin typeface="Tempus Sans ITC" panose="04020404030D07020202" pitchFamily="82" charset="0"/>
              </a:rPr>
              <a:t>Seleru </a:t>
            </a:r>
            <a:r>
              <a:rPr lang="en-US" b="1" dirty="0" err="1" smtClean="0">
                <a:latin typeface="Tempus Sans ITC" panose="04020404030D07020202" pitchFamily="82" charset="0"/>
              </a:rPr>
              <a:t>Agbo</a:t>
            </a:r>
            <a:r>
              <a:rPr lang="en-US" sz="3100" b="1" dirty="0" smtClean="0">
                <a:latin typeface="Tempus Sans ITC" panose="04020404030D07020202" pitchFamily="82" charset="0"/>
              </a:rPr>
              <a:t/>
            </a:r>
            <a:br>
              <a:rPr lang="en-US" sz="3100" b="1" dirty="0" smtClean="0">
                <a:latin typeface="Tempus Sans ITC" panose="04020404030D07020202" pitchFamily="82" charset="0"/>
              </a:rPr>
            </a:br>
            <a:r>
              <a:rPr lang="en-US" sz="3100" b="1" dirty="0" smtClean="0">
                <a:latin typeface="Tempus Sans ITC" panose="04020404030D07020202" pitchFamily="82" charset="0"/>
              </a:rPr>
              <a:t>Artist’s inspiration on the piece</a:t>
            </a:r>
            <a:endParaRPr lang="en-US" sz="3100" b="1" dirty="0">
              <a:latin typeface="Tempus Sans ITC" panose="04020404030D07020202" pitchFamily="82" charset="0"/>
            </a:endParaRPr>
          </a:p>
        </p:txBody>
      </p:sp>
      <p:sp>
        <p:nvSpPr>
          <p:cNvPr id="3" name="Content Placeholder 2"/>
          <p:cNvSpPr>
            <a:spLocks noGrp="1"/>
          </p:cNvSpPr>
          <p:nvPr>
            <p:ph idx="1"/>
          </p:nvPr>
        </p:nvSpPr>
        <p:spPr>
          <a:xfrm>
            <a:off x="219455" y="1029354"/>
            <a:ext cx="11798373" cy="5502075"/>
          </a:xfrm>
        </p:spPr>
        <p:txBody>
          <a:bodyPr>
            <a:noAutofit/>
          </a:bodyPr>
          <a:lstStyle/>
          <a:p>
            <a:pPr marL="0" indent="0">
              <a:buNone/>
            </a:pPr>
            <a:r>
              <a:rPr lang="en-US" sz="2000" b="1" dirty="0" smtClean="0">
                <a:latin typeface="Tempus Sans ITC" panose="04020404030D07020202" pitchFamily="82" charset="0"/>
              </a:rPr>
              <a:t>The central focal point of this piece “Seleru </a:t>
            </a:r>
            <a:r>
              <a:rPr lang="en-US" sz="2000" b="1" dirty="0" err="1" smtClean="0">
                <a:latin typeface="Tempus Sans ITC" panose="04020404030D07020202" pitchFamily="82" charset="0"/>
              </a:rPr>
              <a:t>Agbo</a:t>
            </a:r>
            <a:r>
              <a:rPr lang="en-US" sz="2000" b="1" dirty="0" smtClean="0">
                <a:latin typeface="Tempus Sans ITC" panose="04020404030D07020202" pitchFamily="82" charset="0"/>
              </a:rPr>
              <a:t>” is the potency underlying in herbal medicine. Like the popular song, Seleru </a:t>
            </a:r>
            <a:r>
              <a:rPr lang="en-US" sz="2000" b="1" dirty="0" err="1" smtClean="0">
                <a:latin typeface="Tempus Sans ITC" panose="04020404030D07020202" pitchFamily="82" charset="0"/>
              </a:rPr>
              <a:t>agbo</a:t>
            </a:r>
            <a:r>
              <a:rPr lang="en-US" sz="2000" b="1" dirty="0" smtClean="0">
                <a:latin typeface="Tempus Sans ITC" panose="04020404030D07020202" pitchFamily="82" charset="0"/>
              </a:rPr>
              <a:t>, </a:t>
            </a:r>
            <a:r>
              <a:rPr lang="en-US" sz="2000" b="1" dirty="0" err="1" smtClean="0">
                <a:latin typeface="Tempus Sans ITC" panose="04020404030D07020202" pitchFamily="82" charset="0"/>
              </a:rPr>
              <a:t>agbara</a:t>
            </a:r>
            <a:r>
              <a:rPr lang="en-US" sz="2000" b="1" dirty="0" smtClean="0">
                <a:latin typeface="Tempus Sans ITC" panose="04020404030D07020202" pitchFamily="82" charset="0"/>
              </a:rPr>
              <a:t> </a:t>
            </a:r>
            <a:r>
              <a:rPr lang="en-US" sz="2000" b="1" dirty="0" err="1" smtClean="0">
                <a:latin typeface="Tempus Sans ITC" panose="04020404030D07020202" pitchFamily="82" charset="0"/>
              </a:rPr>
              <a:t>agbo</a:t>
            </a:r>
            <a:r>
              <a:rPr lang="en-US" sz="2000" b="1" dirty="0" smtClean="0">
                <a:latin typeface="Tempus Sans ITC" panose="04020404030D07020202" pitchFamily="82" charset="0"/>
              </a:rPr>
              <a:t>, </a:t>
            </a:r>
            <a:r>
              <a:rPr lang="en-US" sz="2000" b="1" dirty="0" err="1" smtClean="0">
                <a:latin typeface="Tempus Sans ITC" panose="04020404030D07020202" pitchFamily="82" charset="0"/>
              </a:rPr>
              <a:t>l’Osun</a:t>
            </a:r>
            <a:r>
              <a:rPr lang="en-US" sz="2000" b="1" dirty="0" smtClean="0">
                <a:latin typeface="Tempus Sans ITC" panose="04020404030D07020202" pitchFamily="82" charset="0"/>
              </a:rPr>
              <a:t> fi </a:t>
            </a:r>
            <a:r>
              <a:rPr lang="en-US" sz="2000" b="1" dirty="0" err="1" smtClean="0">
                <a:latin typeface="Tempus Sans ITC" panose="04020404030D07020202" pitchFamily="82" charset="0"/>
              </a:rPr>
              <a:t>nwo’mo</a:t>
            </a:r>
            <a:r>
              <a:rPr lang="en-US" sz="2000" b="1" dirty="0" smtClean="0">
                <a:latin typeface="Tempus Sans ITC" panose="04020404030D07020202" pitchFamily="82" charset="0"/>
              </a:rPr>
              <a:t> re </a:t>
            </a:r>
            <a:r>
              <a:rPr lang="en-US" sz="2000" b="1" dirty="0" err="1" smtClean="0">
                <a:latin typeface="Tempus Sans ITC" panose="04020404030D07020202" pitchFamily="82" charset="0"/>
              </a:rPr>
              <a:t>ki</a:t>
            </a:r>
            <a:r>
              <a:rPr lang="en-US" sz="2000" b="1" dirty="0" smtClean="0">
                <a:latin typeface="Tempus Sans ITC" panose="04020404030D07020202" pitchFamily="82" charset="0"/>
              </a:rPr>
              <a:t> </a:t>
            </a:r>
            <a:r>
              <a:rPr lang="en-US" sz="2000" b="1" dirty="0" err="1" smtClean="0">
                <a:latin typeface="Tempus Sans ITC" panose="04020404030D07020202" pitchFamily="82" charset="0"/>
              </a:rPr>
              <a:t>dokita</a:t>
            </a:r>
            <a:r>
              <a:rPr lang="en-US" sz="2000" b="1" dirty="0" smtClean="0">
                <a:latin typeface="Tempus Sans ITC" panose="04020404030D07020202" pitchFamily="82" charset="0"/>
              </a:rPr>
              <a:t> o to de, literally translates as; the natural medicinal spring, the medicinal stream were administered by Osun before the advent of western orthodox medicine. </a:t>
            </a:r>
          </a:p>
          <a:p>
            <a:pPr marL="0" indent="0">
              <a:buNone/>
            </a:pPr>
            <a:r>
              <a:rPr lang="en-US" sz="2000" b="1" dirty="0" smtClean="0">
                <a:latin typeface="Tempus Sans ITC" panose="04020404030D07020202" pitchFamily="82" charset="0"/>
              </a:rPr>
              <a:t>Osun goddess of fertility, a deity whose prowess is synonymous with healing and blessings for its believers, that which now cuts across borders. The annual Legendary Osun Oshogbo carnival is now a Global inheritance.</a:t>
            </a:r>
          </a:p>
          <a:p>
            <a:pPr marL="0" indent="0">
              <a:buNone/>
            </a:pPr>
            <a:r>
              <a:rPr lang="en-US" sz="2000" b="1" dirty="0" smtClean="0">
                <a:latin typeface="Tempus Sans ITC" panose="04020404030D07020202" pitchFamily="82" charset="0"/>
              </a:rPr>
              <a:t>Roots, leaves and barks of trees and shrubs form the basis of our medicinal recipe, both western and homeopathic drugs. It is however regrettably noted that synthetic materials now used for modern medicine are the cause of all the strange adverse effects people get out of modern day drug administration.</a:t>
            </a:r>
          </a:p>
          <a:p>
            <a:pPr marL="0" indent="0">
              <a:buNone/>
            </a:pPr>
            <a:r>
              <a:rPr lang="en-US" sz="2000" b="1" dirty="0" smtClean="0">
                <a:latin typeface="Tempus Sans ITC" panose="04020404030D07020202" pitchFamily="82" charset="0"/>
              </a:rPr>
              <a:t>Without question, the contributions Africa has made to human civilization, especially the endowment of raw medicinal substance God gave us, is immense, but doesn’t get talked about. </a:t>
            </a:r>
          </a:p>
          <a:p>
            <a:pPr marL="0" indent="0">
              <a:buNone/>
            </a:pPr>
            <a:r>
              <a:rPr lang="en-US" sz="2000" b="1" dirty="0" smtClean="0">
                <a:latin typeface="Tempus Sans ITC" panose="04020404030D07020202" pitchFamily="82" charset="0"/>
              </a:rPr>
              <a:t>Thank goodness, our people have become more conscious of this gift for a healthier us. Having said that, my advice therefore is to ensure that we monitor the proliferation of all sorts of medicine making the round these days, to ascertain their proficiency and efficacy.</a:t>
            </a:r>
          </a:p>
          <a:p>
            <a:pPr marL="0" indent="0">
              <a:buNone/>
            </a:pPr>
            <a:r>
              <a:rPr lang="en-US" sz="2000" b="1" dirty="0" smtClean="0">
                <a:latin typeface="Tempus Sans ITC" panose="04020404030D07020202" pitchFamily="82" charset="0"/>
              </a:rPr>
              <a:t>Tunde Odunlade</a:t>
            </a:r>
          </a:p>
          <a:p>
            <a:pPr marL="0" indent="0">
              <a:buNone/>
            </a:pPr>
            <a:r>
              <a:rPr lang="en-US" sz="2000" b="1" dirty="0" smtClean="0">
                <a:latin typeface="Tempus Sans ITC" panose="04020404030D07020202" pitchFamily="82" charset="0"/>
              </a:rPr>
              <a:t>June 2019.</a:t>
            </a:r>
            <a:endParaRPr lang="en-US" sz="2000" b="1" dirty="0">
              <a:latin typeface="Tempus Sans ITC" panose="04020404030D07020202" pitchFamily="82" charset="0"/>
            </a:endParaRPr>
          </a:p>
        </p:txBody>
      </p:sp>
    </p:spTree>
    <p:extLst>
      <p:ext uri="{BB962C8B-B14F-4D97-AF65-F5344CB8AC3E}">
        <p14:creationId xmlns:p14="http://schemas.microsoft.com/office/powerpoint/2010/main" xmlns="" val="924150549"/>
      </p:ext>
    </p:extLst>
  </p:cSld>
  <p:clrMapOvr>
    <a:masterClrMapping/>
  </p:clrMapOvr>
  <mc:AlternateContent xmlns:mc="http://schemas.openxmlformats.org/markup-compatibility/2006">
    <mc:Choice xmlns:p14="http://schemas.microsoft.com/office/powerpoint/2010/main" xmlns="" Requires="p14">
      <p:transition spd="slow" p14:dur="1500">
        <p:random/>
      </p:transition>
    </mc:Choice>
    <mc:Fallback>
      <p:transition spd="slow">
        <p:random/>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256034" y="3434225"/>
            <a:ext cx="3223912" cy="2994006"/>
          </a:xfrm>
        </p:spPr>
        <p:txBody>
          <a:bodyPr>
            <a:normAutofit/>
          </a:bodyPr>
          <a:lstStyle/>
          <a:p>
            <a:r>
              <a:rPr lang="en-US" b="1" dirty="0">
                <a:latin typeface="Tempus Sans ITC" panose="04020404030D07020202" pitchFamily="82" charset="0"/>
              </a:rPr>
              <a:t>Title of Work: </a:t>
            </a:r>
            <a:r>
              <a:rPr lang="en-US" b="1" dirty="0" smtClean="0">
                <a:latin typeface="Tempus Sans ITC" panose="04020404030D07020202" pitchFamily="82" charset="0"/>
              </a:rPr>
              <a:t>The </a:t>
            </a:r>
            <a:r>
              <a:rPr lang="en-US" b="1" dirty="0">
                <a:latin typeface="Tempus Sans ITC" panose="04020404030D07020202" pitchFamily="82" charset="0"/>
              </a:rPr>
              <a:t>way we </a:t>
            </a:r>
            <a:r>
              <a:rPr lang="en-US" b="1" dirty="0" smtClean="0">
                <a:latin typeface="Tempus Sans ITC" panose="04020404030D07020202" pitchFamily="82" charset="0"/>
              </a:rPr>
              <a:t>Are</a:t>
            </a:r>
            <a:endParaRPr lang="en-US" b="1" dirty="0">
              <a:latin typeface="Tempus Sans ITC" panose="04020404030D07020202" pitchFamily="82" charset="0"/>
            </a:endParaRPr>
          </a:p>
          <a:p>
            <a:r>
              <a:rPr lang="en-US" b="1" dirty="0">
                <a:latin typeface="Tempus Sans ITC" panose="04020404030D07020202" pitchFamily="82" charset="0"/>
              </a:rPr>
              <a:t>Medium: Beaded Batik quilt Tapestry</a:t>
            </a:r>
          </a:p>
          <a:p>
            <a:r>
              <a:rPr lang="en-US" b="1" dirty="0">
                <a:latin typeface="Tempus Sans ITC" panose="04020404030D07020202" pitchFamily="82" charset="0"/>
              </a:rPr>
              <a:t>Year of Production 2011-2017</a:t>
            </a:r>
          </a:p>
          <a:p>
            <a:r>
              <a:rPr lang="en-US" b="1" dirty="0">
                <a:latin typeface="Tempus Sans ITC" panose="04020404030D07020202" pitchFamily="82" charset="0"/>
              </a:rPr>
              <a:t>Artist: Tunde Odunlade</a:t>
            </a:r>
          </a:p>
          <a:p>
            <a:r>
              <a:rPr lang="en-US" b="1" dirty="0">
                <a:latin typeface="Tempus Sans ITC" panose="04020404030D07020202" pitchFamily="82" charset="0"/>
              </a:rPr>
              <a:t>Size:</a:t>
            </a:r>
          </a:p>
          <a:p>
            <a:r>
              <a:rPr lang="en-US" b="1" dirty="0">
                <a:latin typeface="Tempus Sans ITC" panose="04020404030D07020202" pitchFamily="82" charset="0"/>
              </a:rPr>
              <a:t>Collection: Estate of the Artist</a:t>
            </a:r>
          </a:p>
          <a:p>
            <a:r>
              <a:rPr lang="en-US" b="1" dirty="0">
                <a:latin typeface="Tempus Sans ITC" panose="04020404030D07020202" pitchFamily="82" charset="0"/>
              </a:rPr>
              <a:t>Provenance: Has been exhibited in Art venues.</a:t>
            </a:r>
          </a:p>
        </p:txBody>
      </p:sp>
      <p:pic>
        <p:nvPicPr>
          <p:cNvPr id="5" name="Content Placeholder 4"/>
          <p:cNvPicPr>
            <a:picLocks noGrp="1" noChangeAspect="1"/>
          </p:cNvPicPr>
          <p:nvPr>
            <p:ph idx="1"/>
          </p:nvPr>
        </p:nvPicPr>
        <p:blipFill>
          <a:blip r:embed="rId2" cstate="print">
            <a:extLst>
              <a:ext uri="{28A0092B-C50C-407E-A947-70E740481C1C}">
                <a14:useLocalDpi xmlns:a14="http://schemas.microsoft.com/office/drawing/2010/main" xmlns="" val="0"/>
              </a:ext>
            </a:extLst>
          </a:blip>
          <a:stretch>
            <a:fillRect/>
          </a:stretch>
        </p:blipFill>
        <p:spPr>
          <a:xfrm flipV="1">
            <a:off x="5136315" y="102141"/>
            <a:ext cx="6233595" cy="6678853"/>
          </a:xfrm>
        </p:spPr>
      </p:pic>
    </p:spTree>
    <p:extLst>
      <p:ext uri="{BB962C8B-B14F-4D97-AF65-F5344CB8AC3E}">
        <p14:creationId xmlns:p14="http://schemas.microsoft.com/office/powerpoint/2010/main" xmlns="" val="2911476230"/>
      </p:ext>
    </p:extLst>
  </p:cSld>
  <p:clrMapOvr>
    <a:masterClrMapping/>
  </p:clrMapOvr>
  <mc:AlternateContent xmlns:mc="http://schemas.openxmlformats.org/markup-compatibility/2006">
    <mc:Choice xmlns:p14="http://schemas.microsoft.com/office/powerpoint/2010/main" xmlns="" Requires="p14">
      <p:transition spd="slow" p14:dur="1500">
        <p:random/>
      </p:transition>
    </mc:Choice>
    <mc:Fallback>
      <p:transition spd="slow">
        <p:random/>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0841" y="67291"/>
            <a:ext cx="10515600" cy="794857"/>
          </a:xfrm>
        </p:spPr>
        <p:txBody>
          <a:bodyPr>
            <a:normAutofit fontScale="90000"/>
          </a:bodyPr>
          <a:lstStyle/>
          <a:p>
            <a:pPr algn="ctr"/>
            <a:r>
              <a:rPr lang="en-US" b="1" dirty="0" smtClean="0">
                <a:latin typeface="Tempus Sans ITC" panose="04020404030D07020202" pitchFamily="82" charset="0"/>
              </a:rPr>
              <a:t>The way we Are</a:t>
            </a:r>
            <a:br>
              <a:rPr lang="en-US" b="1" dirty="0" smtClean="0">
                <a:latin typeface="Tempus Sans ITC" panose="04020404030D07020202" pitchFamily="82" charset="0"/>
              </a:rPr>
            </a:br>
            <a:r>
              <a:rPr lang="en-US" sz="3100" b="1" dirty="0" smtClean="0">
                <a:latin typeface="Tempus Sans ITC" panose="04020404030D07020202" pitchFamily="82" charset="0"/>
              </a:rPr>
              <a:t>Artist’s inspiration on the piece</a:t>
            </a:r>
            <a:endParaRPr lang="en-US" sz="3100" b="1" dirty="0">
              <a:latin typeface="Tempus Sans ITC" panose="04020404030D07020202" pitchFamily="82" charset="0"/>
            </a:endParaRPr>
          </a:p>
        </p:txBody>
      </p:sp>
      <p:sp>
        <p:nvSpPr>
          <p:cNvPr id="3" name="Content Placeholder 2"/>
          <p:cNvSpPr>
            <a:spLocks noGrp="1"/>
          </p:cNvSpPr>
          <p:nvPr>
            <p:ph idx="1"/>
          </p:nvPr>
        </p:nvSpPr>
        <p:spPr>
          <a:xfrm>
            <a:off x="219455" y="992778"/>
            <a:ext cx="11798373" cy="5538652"/>
          </a:xfrm>
        </p:spPr>
        <p:txBody>
          <a:bodyPr>
            <a:noAutofit/>
          </a:bodyPr>
          <a:lstStyle/>
          <a:p>
            <a:pPr marL="0" indent="0">
              <a:buNone/>
            </a:pPr>
            <a:r>
              <a:rPr lang="en-US" sz="1400" b="1" dirty="0" smtClean="0">
                <a:latin typeface="Tempus Sans ITC" panose="04020404030D07020202" pitchFamily="82" charset="0"/>
              </a:rPr>
              <a:t>The way we are, is an ultimate description of the inter connectivity of our world. While I was traveling in New Mexico, USA, little did I know I was going to come up with this gargantuan piece highlighting our inter dependency and connectivity. Until I got to San Antonio, Texas where my sister, Ms. Robin </a:t>
            </a:r>
            <a:r>
              <a:rPr lang="en-US" sz="1400" b="1" dirty="0" err="1" smtClean="0">
                <a:latin typeface="Tempus Sans ITC" panose="04020404030D07020202" pitchFamily="82" charset="0"/>
              </a:rPr>
              <a:t>Raquet</a:t>
            </a:r>
            <a:r>
              <a:rPr lang="en-US" sz="1400" b="1" dirty="0" smtClean="0">
                <a:latin typeface="Tempus Sans ITC" panose="04020404030D07020202" pitchFamily="82" charset="0"/>
              </a:rPr>
              <a:t>. out of the blue offered to give me a large commercial fabric that contained images of Hopi </a:t>
            </a:r>
            <a:r>
              <a:rPr lang="en-US" sz="1400" b="1" dirty="0" err="1" smtClean="0">
                <a:latin typeface="Tempus Sans ITC" panose="04020404030D07020202" pitchFamily="82" charset="0"/>
              </a:rPr>
              <a:t>Kachina</a:t>
            </a:r>
            <a:r>
              <a:rPr lang="en-US" sz="1400" b="1" dirty="0" smtClean="0">
                <a:latin typeface="Tempus Sans ITC" panose="04020404030D07020202" pitchFamily="82" charset="0"/>
              </a:rPr>
              <a:t> Dolls, a subject I’ve just been recently fascinated by. I quickly reached out for this offer and couldn’t wait to return back home into my studio in Nigeria.</a:t>
            </a:r>
          </a:p>
          <a:p>
            <a:pPr marL="0" indent="0">
              <a:buNone/>
            </a:pPr>
            <a:r>
              <a:rPr lang="en-US" sz="1400" b="1" dirty="0" smtClean="0">
                <a:latin typeface="Tempus Sans ITC" panose="04020404030D07020202" pitchFamily="82" charset="0"/>
              </a:rPr>
              <a:t>I’d had a huge piece of East Indian fabric which I’ve cherished for a long time, a piece that was in fact traded for in a friend’s art gallery Worldly Possession Gallery in Santa Fe, New Mexico. This gallery was owned by </a:t>
            </a:r>
            <a:r>
              <a:rPr lang="en-US" sz="1400" b="1" dirty="0" err="1" smtClean="0">
                <a:latin typeface="Tempus Sans ITC" panose="04020404030D07020202" pitchFamily="82" charset="0"/>
              </a:rPr>
              <a:t>Elinor</a:t>
            </a:r>
            <a:r>
              <a:rPr lang="en-US" sz="1400" b="1" dirty="0" smtClean="0">
                <a:latin typeface="Tempus Sans ITC" panose="04020404030D07020202" pitchFamily="82" charset="0"/>
              </a:rPr>
              <a:t> </a:t>
            </a:r>
            <a:r>
              <a:rPr lang="en-US" sz="1400" b="1" dirty="0" err="1" smtClean="0">
                <a:latin typeface="Tempus Sans ITC" panose="04020404030D07020202" pitchFamily="82" charset="0"/>
              </a:rPr>
              <a:t>Gollay</a:t>
            </a:r>
            <a:r>
              <a:rPr lang="en-US" sz="1400" b="1" dirty="0" smtClean="0">
                <a:latin typeface="Tempus Sans ITC" panose="04020404030D07020202" pitchFamily="82" charset="0"/>
              </a:rPr>
              <a:t> a very close friend. </a:t>
            </a:r>
          </a:p>
          <a:p>
            <a:pPr marL="0" indent="0">
              <a:buNone/>
            </a:pPr>
            <a:r>
              <a:rPr lang="en-US" sz="1400" b="1" dirty="0" smtClean="0">
                <a:latin typeface="Tempus Sans ITC" panose="04020404030D07020202" pitchFamily="82" charset="0"/>
              </a:rPr>
              <a:t>Without much ado, I quilted the two fabrics together, waxed and dyed it, in my usual methodology of Batik process. The African aesthetics incorporated on the piece clearly shows how our world together can be peaceful and loving, just by understanding each other better. </a:t>
            </a:r>
          </a:p>
          <a:p>
            <a:pPr marL="0" indent="0">
              <a:buNone/>
            </a:pPr>
            <a:r>
              <a:rPr lang="en-US" sz="1400" b="1" dirty="0" smtClean="0">
                <a:latin typeface="Tempus Sans ITC" panose="04020404030D07020202" pitchFamily="82" charset="0"/>
              </a:rPr>
              <a:t>I took the finished product back to the US and the curators at the Smithsonian, National Museum of African Art, (NMAFA) Washington DC immediately fell in love with it and they offered to acquire it for their permanent collection because, according to the assistant director of the museum, Chris </a:t>
            </a:r>
            <a:r>
              <a:rPr lang="en-US" sz="1400" b="1" dirty="0" err="1" smtClean="0">
                <a:latin typeface="Tempus Sans ITC" panose="04020404030D07020202" pitchFamily="82" charset="0"/>
              </a:rPr>
              <a:t>Kreamer</a:t>
            </a:r>
            <a:r>
              <a:rPr lang="en-US" sz="1400" b="1" dirty="0" smtClean="0">
                <a:latin typeface="Tempus Sans ITC" panose="04020404030D07020202" pitchFamily="82" charset="0"/>
              </a:rPr>
              <a:t> PHD, “I’ve never seen an African artist doing such a cross cultural piece in this way”.  But few weeks later when my </a:t>
            </a:r>
            <a:r>
              <a:rPr lang="en-US" sz="1400" b="1" dirty="0" err="1" smtClean="0">
                <a:latin typeface="Tempus Sans ITC" panose="04020404030D07020202" pitchFamily="82" charset="0"/>
              </a:rPr>
              <a:t>cheque</a:t>
            </a:r>
            <a:r>
              <a:rPr lang="en-US" sz="1400" b="1" dirty="0" smtClean="0">
                <a:latin typeface="Tempus Sans ITC" panose="04020404030D07020202" pitchFamily="82" charset="0"/>
              </a:rPr>
              <a:t> ought to have been ready, a message came from one senior curator of the museum saying that, they can’t continue with the purchase of the piece, because, they had consulted an expert at the Native American Indian Museum, Smithsonian, who advised they should not acquire the piece because Hopi </a:t>
            </a:r>
            <a:r>
              <a:rPr lang="en-US" sz="1400" b="1" dirty="0" err="1" smtClean="0">
                <a:latin typeface="Tempus Sans ITC" panose="04020404030D07020202" pitchFamily="82" charset="0"/>
              </a:rPr>
              <a:t>Kachina</a:t>
            </a:r>
            <a:r>
              <a:rPr lang="en-US" sz="1400" b="1" dirty="0" smtClean="0">
                <a:latin typeface="Tempus Sans ITC" panose="04020404030D07020202" pitchFamily="82" charset="0"/>
              </a:rPr>
              <a:t> Doll should not be touched under any context by a non native. It would have been a different story if NMAFA were to be a State or privately owned museum but because it is a Federal establishment, they shouldn't touch it, she reiterated, “it is sacred to the Hopi people”. </a:t>
            </a:r>
          </a:p>
          <a:p>
            <a:pPr marL="0" indent="0">
              <a:buNone/>
            </a:pPr>
            <a:r>
              <a:rPr lang="en-US" sz="1400" b="1" dirty="0" smtClean="0">
                <a:latin typeface="Tempus Sans ITC" panose="04020404030D07020202" pitchFamily="82" charset="0"/>
              </a:rPr>
              <a:t>Having gotten this message, I was taken aback, that first and foremost, it’s a commercial fabric bought from a market by the giver, why should it now be an issue? I queried.</a:t>
            </a:r>
          </a:p>
          <a:p>
            <a:pPr marL="0" indent="0">
              <a:buNone/>
            </a:pPr>
            <a:r>
              <a:rPr lang="en-US" sz="1400" b="1" dirty="0" smtClean="0">
                <a:latin typeface="Tempus Sans ITC" panose="04020404030D07020202" pitchFamily="82" charset="0"/>
              </a:rPr>
              <a:t>It was this declining that spurred my interest in finding out more about this special specie Hopis. It turned out that, Hopi people have suffered sour experience in the hands of some European entrepreneurs with whom they entrusted and gave the right to this vibrant cultural icons but they were treated with disdain in return for their trust. Henceforth, they no longer trust anyone using these images.</a:t>
            </a:r>
          </a:p>
          <a:p>
            <a:pPr marL="0" indent="0">
              <a:buNone/>
            </a:pPr>
            <a:r>
              <a:rPr lang="en-US" sz="1400" b="1" dirty="0" smtClean="0">
                <a:latin typeface="Tempus Sans ITC" panose="04020404030D07020202" pitchFamily="82" charset="0"/>
              </a:rPr>
              <a:t>The good news however, is that, mine was seen from a positive point of view. So, it is permitted, because, I’m using the images to showcase the positive vibes of our world. Here we are, having the world uniting on fabrics which can surely rub off on the practicality of our real world; as the Yoruba says, “</a:t>
            </a:r>
            <a:r>
              <a:rPr lang="en-US" sz="1400" b="1" dirty="0" err="1" smtClean="0">
                <a:latin typeface="Tempus Sans ITC" panose="04020404030D07020202" pitchFamily="82" charset="0"/>
              </a:rPr>
              <a:t>Eniyan</a:t>
            </a:r>
            <a:r>
              <a:rPr lang="en-US" sz="1400" b="1" dirty="0" smtClean="0">
                <a:latin typeface="Tempus Sans ITC" panose="04020404030D07020202" pitchFamily="82" charset="0"/>
              </a:rPr>
              <a:t> </a:t>
            </a:r>
            <a:r>
              <a:rPr lang="en-US" sz="1400" b="1" dirty="0" err="1" smtClean="0">
                <a:latin typeface="Tempus Sans ITC" panose="04020404030D07020202" pitchFamily="82" charset="0"/>
              </a:rPr>
              <a:t>laso</a:t>
            </a:r>
            <a:r>
              <a:rPr lang="en-US" sz="1400" b="1" dirty="0" smtClean="0">
                <a:latin typeface="Tempus Sans ITC" panose="04020404030D07020202" pitchFamily="82" charset="0"/>
              </a:rPr>
              <a:t> mi”.  </a:t>
            </a:r>
          </a:p>
          <a:p>
            <a:pPr marL="0" indent="0">
              <a:buNone/>
            </a:pPr>
            <a:r>
              <a:rPr lang="en-US" sz="1400" b="1" dirty="0" smtClean="0">
                <a:latin typeface="Tempus Sans ITC" panose="04020404030D07020202" pitchFamily="82" charset="0"/>
              </a:rPr>
              <a:t>I love Hopi </a:t>
            </a:r>
            <a:r>
              <a:rPr lang="en-US" sz="1400" b="1" dirty="0" err="1" smtClean="0">
                <a:latin typeface="Tempus Sans ITC" panose="04020404030D07020202" pitchFamily="82" charset="0"/>
              </a:rPr>
              <a:t>Kachina</a:t>
            </a:r>
            <a:r>
              <a:rPr lang="en-US" sz="1400" b="1" dirty="0" smtClean="0">
                <a:latin typeface="Tempus Sans ITC" panose="04020404030D07020202" pitchFamily="82" charset="0"/>
              </a:rPr>
              <a:t> Dolls.  world is but one</a:t>
            </a:r>
          </a:p>
          <a:p>
            <a:pPr marL="0" indent="0">
              <a:buNone/>
            </a:pPr>
            <a:r>
              <a:rPr lang="en-US" sz="1400" b="1" dirty="0" smtClean="0">
                <a:latin typeface="Tempus Sans ITC" panose="04020404030D07020202" pitchFamily="82" charset="0"/>
              </a:rPr>
              <a:t>Tunde Odunlade</a:t>
            </a:r>
          </a:p>
          <a:p>
            <a:pPr marL="0" indent="0">
              <a:buNone/>
            </a:pPr>
            <a:r>
              <a:rPr lang="en-US" sz="1400" b="1" dirty="0" smtClean="0">
                <a:latin typeface="Tempus Sans ITC" panose="04020404030D07020202" pitchFamily="82" charset="0"/>
              </a:rPr>
              <a:t>June 2019</a:t>
            </a:r>
            <a:endParaRPr lang="en-US" sz="1400" b="1" dirty="0">
              <a:latin typeface="Tempus Sans ITC" panose="04020404030D07020202" pitchFamily="82" charset="0"/>
            </a:endParaRPr>
          </a:p>
        </p:txBody>
      </p:sp>
    </p:spTree>
    <p:extLst>
      <p:ext uri="{BB962C8B-B14F-4D97-AF65-F5344CB8AC3E}">
        <p14:creationId xmlns:p14="http://schemas.microsoft.com/office/powerpoint/2010/main" xmlns="" val="2537628477"/>
      </p:ext>
    </p:extLst>
  </p:cSld>
  <p:clrMapOvr>
    <a:masterClrMapping/>
  </p:clrMapOvr>
  <mc:AlternateContent xmlns:mc="http://schemas.openxmlformats.org/markup-compatibility/2006">
    <mc:Choice xmlns:p14="http://schemas.microsoft.com/office/powerpoint/2010/main" xmlns="" Requires="p14">
      <p:transition spd="slow" p14:dur="1500">
        <p:random/>
      </p:transition>
    </mc:Choice>
    <mc:Fallback>
      <p:transition spd="slow">
        <p:random/>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256034" y="3434225"/>
            <a:ext cx="3223912" cy="2994006"/>
          </a:xfrm>
        </p:spPr>
        <p:txBody>
          <a:bodyPr>
            <a:normAutofit/>
          </a:bodyPr>
          <a:lstStyle/>
          <a:p>
            <a:r>
              <a:rPr lang="en-US" b="1" dirty="0" smtClean="0">
                <a:latin typeface="Tempus Sans ITC" panose="04020404030D07020202" pitchFamily="82" charset="0"/>
              </a:rPr>
              <a:t>Title: Concrete Jungle</a:t>
            </a:r>
          </a:p>
          <a:p>
            <a:r>
              <a:rPr lang="en-US" b="1" dirty="0" smtClean="0">
                <a:latin typeface="Tempus Sans ITC" panose="04020404030D07020202" pitchFamily="82" charset="0"/>
              </a:rPr>
              <a:t>Medium; Batik Quilt Tapestry</a:t>
            </a:r>
          </a:p>
          <a:p>
            <a:r>
              <a:rPr lang="en-US" b="1" dirty="0" smtClean="0">
                <a:latin typeface="Tempus Sans ITC" panose="04020404030D07020202" pitchFamily="82" charset="0"/>
              </a:rPr>
              <a:t>Year of Production: 2014</a:t>
            </a:r>
          </a:p>
          <a:p>
            <a:r>
              <a:rPr lang="en-US" b="1" dirty="0" smtClean="0">
                <a:latin typeface="Tempus Sans ITC" panose="04020404030D07020202" pitchFamily="82" charset="0"/>
              </a:rPr>
              <a:t>Artist: Tunde Odunlade</a:t>
            </a:r>
          </a:p>
          <a:p>
            <a:r>
              <a:rPr lang="en-US" b="1" dirty="0" smtClean="0">
                <a:latin typeface="Tempus Sans ITC" panose="04020404030D07020202" pitchFamily="82" charset="0"/>
              </a:rPr>
              <a:t>Size: 5ft.10-1/2ins</a:t>
            </a:r>
          </a:p>
          <a:p>
            <a:r>
              <a:rPr lang="en-US" b="1" dirty="0" smtClean="0">
                <a:latin typeface="Tempus Sans ITC" panose="04020404030D07020202" pitchFamily="82" charset="0"/>
              </a:rPr>
              <a:t>Collection: Estate of the Artist </a:t>
            </a:r>
          </a:p>
          <a:p>
            <a:r>
              <a:rPr lang="en-US" b="1" dirty="0" smtClean="0">
                <a:latin typeface="Tempus Sans ITC" panose="04020404030D07020202" pitchFamily="82" charset="0"/>
              </a:rPr>
              <a:t>Provenance: Has been exhibited in Museums and Galleries</a:t>
            </a:r>
          </a:p>
        </p:txBody>
      </p:sp>
      <p:pic>
        <p:nvPicPr>
          <p:cNvPr id="7" name="Content Placeholder 6"/>
          <p:cNvPicPr>
            <a:picLocks noGrp="1" noChangeAspect="1"/>
          </p:cNvPicPr>
          <p:nvPr>
            <p:ph idx="1"/>
          </p:nvPr>
        </p:nvPicPr>
        <p:blipFill>
          <a:blip r:embed="rId2" cstate="print">
            <a:extLst>
              <a:ext uri="{28A0092B-C50C-407E-A947-70E740481C1C}">
                <a14:useLocalDpi xmlns:a14="http://schemas.microsoft.com/office/drawing/2010/main" xmlns="" val="0"/>
              </a:ext>
            </a:extLst>
          </a:blip>
          <a:stretch>
            <a:fillRect/>
          </a:stretch>
        </p:blipFill>
        <p:spPr>
          <a:xfrm>
            <a:off x="3713043" y="752421"/>
            <a:ext cx="8234859" cy="5935762"/>
          </a:xfrm>
        </p:spPr>
      </p:pic>
    </p:spTree>
    <p:extLst>
      <p:ext uri="{BB962C8B-B14F-4D97-AF65-F5344CB8AC3E}">
        <p14:creationId xmlns:p14="http://schemas.microsoft.com/office/powerpoint/2010/main" xmlns="" val="1243777060"/>
      </p:ext>
    </p:extLst>
  </p:cSld>
  <p:clrMapOvr>
    <a:masterClrMapping/>
  </p:clrMapOvr>
  <mc:AlternateContent xmlns:mc="http://schemas.openxmlformats.org/markup-compatibility/2006">
    <mc:Choice xmlns:p14="http://schemas.microsoft.com/office/powerpoint/2010/main" xmlns="" Requires="p14">
      <p:transition spd="slow" p14:dur="1500">
        <p:random/>
      </p:transition>
    </mc:Choice>
    <mc:Fallback>
      <p:transition spd="slow">
        <p:random/>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0841" y="67291"/>
            <a:ext cx="10515600" cy="794857"/>
          </a:xfrm>
        </p:spPr>
        <p:txBody>
          <a:bodyPr>
            <a:normAutofit fontScale="90000"/>
          </a:bodyPr>
          <a:lstStyle/>
          <a:p>
            <a:pPr algn="ctr"/>
            <a:r>
              <a:rPr lang="en-US" b="1" dirty="0" smtClean="0">
                <a:latin typeface="Tempus Sans ITC" panose="04020404030D07020202" pitchFamily="82" charset="0"/>
              </a:rPr>
              <a:t>Concrete Jungle</a:t>
            </a:r>
            <a:r>
              <a:rPr lang="en-US" sz="3100" b="1" dirty="0" smtClean="0">
                <a:latin typeface="Tempus Sans ITC" panose="04020404030D07020202" pitchFamily="82" charset="0"/>
              </a:rPr>
              <a:t/>
            </a:r>
            <a:br>
              <a:rPr lang="en-US" sz="3100" b="1" dirty="0" smtClean="0">
                <a:latin typeface="Tempus Sans ITC" panose="04020404030D07020202" pitchFamily="82" charset="0"/>
              </a:rPr>
            </a:br>
            <a:r>
              <a:rPr lang="en-US" sz="3100" b="1" dirty="0" smtClean="0">
                <a:latin typeface="Tempus Sans ITC" panose="04020404030D07020202" pitchFamily="82" charset="0"/>
              </a:rPr>
              <a:t>Artist’s inspiration on the piece</a:t>
            </a:r>
            <a:endParaRPr lang="en-US" sz="3100" b="1" dirty="0">
              <a:latin typeface="Tempus Sans ITC" panose="04020404030D07020202" pitchFamily="82" charset="0"/>
            </a:endParaRPr>
          </a:p>
        </p:txBody>
      </p:sp>
      <p:sp>
        <p:nvSpPr>
          <p:cNvPr id="3" name="Content Placeholder 2"/>
          <p:cNvSpPr>
            <a:spLocks noGrp="1"/>
          </p:cNvSpPr>
          <p:nvPr>
            <p:ph idx="1"/>
          </p:nvPr>
        </p:nvSpPr>
        <p:spPr>
          <a:xfrm>
            <a:off x="219455" y="1029354"/>
            <a:ext cx="11798373" cy="5502075"/>
          </a:xfrm>
        </p:spPr>
        <p:txBody>
          <a:bodyPr>
            <a:noAutofit/>
          </a:bodyPr>
          <a:lstStyle/>
          <a:p>
            <a:pPr marL="0" indent="0">
              <a:buNone/>
            </a:pPr>
            <a:r>
              <a:rPr lang="en-US" b="1" dirty="0" smtClean="0">
                <a:latin typeface="Tempus Sans ITC" panose="04020404030D07020202" pitchFamily="82" charset="0"/>
              </a:rPr>
              <a:t>Concrete Jungle is a reflection on the life in big cities where people in the community are just a part of the economic system, which could almost be described as a vicious cycle.</a:t>
            </a:r>
          </a:p>
          <a:p>
            <a:pPr marL="0" indent="0">
              <a:buNone/>
            </a:pPr>
            <a:r>
              <a:rPr lang="en-US" b="1" dirty="0" smtClean="0">
                <a:latin typeface="Tempus Sans ITC" panose="04020404030D07020202" pitchFamily="82" charset="0"/>
              </a:rPr>
              <a:t>People are basically acting to help the corporate world grow, just for their own mere survival as if they don’t have a mind of their own. That is the price you pay living in big cities.</a:t>
            </a:r>
          </a:p>
          <a:p>
            <a:pPr marL="0" indent="0">
              <a:buNone/>
            </a:pPr>
            <a:r>
              <a:rPr lang="en-US" b="1" dirty="0" smtClean="0">
                <a:latin typeface="Tempus Sans ITC" panose="04020404030D07020202" pitchFamily="82" charset="0"/>
              </a:rPr>
              <a:t>Thanks to some cities who integrate green-parks for the people to refresh. I love the Central Park in New York City, without it New-Yonkers would have gone ballistic. Central Park in the heart of New York City is a life saver.</a:t>
            </a:r>
          </a:p>
          <a:p>
            <a:pPr marL="0" indent="0">
              <a:buNone/>
            </a:pPr>
            <a:endParaRPr lang="en-US" b="1" dirty="0" smtClean="0">
              <a:latin typeface="Tempus Sans ITC" panose="04020404030D07020202" pitchFamily="82" charset="0"/>
            </a:endParaRPr>
          </a:p>
          <a:p>
            <a:pPr marL="0" indent="0">
              <a:buNone/>
            </a:pPr>
            <a:r>
              <a:rPr lang="en-US" b="1" dirty="0" smtClean="0">
                <a:latin typeface="Tempus Sans ITC" panose="04020404030D07020202" pitchFamily="82" charset="0"/>
              </a:rPr>
              <a:t>Tunde Odunlade</a:t>
            </a:r>
          </a:p>
          <a:p>
            <a:pPr marL="0" indent="0">
              <a:buNone/>
            </a:pPr>
            <a:r>
              <a:rPr lang="en-US" b="1" dirty="0" smtClean="0">
                <a:latin typeface="Tempus Sans ITC" panose="04020404030D07020202" pitchFamily="82" charset="0"/>
              </a:rPr>
              <a:t>September 2019.</a:t>
            </a:r>
            <a:endParaRPr lang="en-US" b="1" dirty="0">
              <a:latin typeface="Tempus Sans ITC" panose="04020404030D07020202" pitchFamily="82" charset="0"/>
            </a:endParaRPr>
          </a:p>
        </p:txBody>
      </p:sp>
    </p:spTree>
    <p:extLst>
      <p:ext uri="{BB962C8B-B14F-4D97-AF65-F5344CB8AC3E}">
        <p14:creationId xmlns:p14="http://schemas.microsoft.com/office/powerpoint/2010/main" xmlns="" val="1422440850"/>
      </p:ext>
    </p:extLst>
  </p:cSld>
  <p:clrMapOvr>
    <a:masterClrMapping/>
  </p:clrMapOvr>
  <mc:AlternateContent xmlns:mc="http://schemas.openxmlformats.org/markup-compatibility/2006">
    <mc:Choice xmlns:p14="http://schemas.microsoft.com/office/powerpoint/2010/main" xmlns="" Requires="p14">
      <p:transition spd="slow" p14:dur="1500">
        <p:random/>
      </p:transition>
    </mc:Choice>
    <mc:Fallback>
      <p:transition spd="slow">
        <p:random/>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256034" y="3434225"/>
            <a:ext cx="3223912" cy="2994006"/>
          </a:xfrm>
        </p:spPr>
        <p:txBody>
          <a:bodyPr>
            <a:normAutofit/>
          </a:bodyPr>
          <a:lstStyle/>
          <a:p>
            <a:r>
              <a:rPr lang="en-US" b="1" dirty="0" smtClean="0">
                <a:latin typeface="Tempus Sans ITC" panose="04020404030D07020202" pitchFamily="82" charset="0"/>
              </a:rPr>
              <a:t>Title: </a:t>
            </a:r>
            <a:r>
              <a:rPr lang="en-US" b="1" dirty="0" err="1" smtClean="0">
                <a:latin typeface="Tempus Sans ITC" panose="04020404030D07020202" pitchFamily="82" charset="0"/>
              </a:rPr>
              <a:t>Bawo</a:t>
            </a:r>
            <a:r>
              <a:rPr lang="en-US" b="1" dirty="0" smtClean="0">
                <a:latin typeface="Tempus Sans ITC" panose="04020404030D07020202" pitchFamily="82" charset="0"/>
              </a:rPr>
              <a:t> o </a:t>
            </a:r>
            <a:r>
              <a:rPr lang="en-US" b="1" dirty="0" err="1" smtClean="0">
                <a:latin typeface="Tempus Sans ITC" panose="04020404030D07020202" pitchFamily="82" charset="0"/>
              </a:rPr>
              <a:t>ka’ju</a:t>
            </a:r>
            <a:r>
              <a:rPr lang="en-US" b="1" dirty="0" smtClean="0">
                <a:latin typeface="Tempus Sans ITC" panose="04020404030D07020202" pitchFamily="82" charset="0"/>
              </a:rPr>
              <a:t> </a:t>
            </a:r>
            <a:r>
              <a:rPr lang="en-US" b="1" dirty="0" err="1" smtClean="0">
                <a:latin typeface="Tempus Sans ITC" panose="04020404030D07020202" pitchFamily="82" charset="0"/>
              </a:rPr>
              <a:t>ilu</a:t>
            </a:r>
            <a:r>
              <a:rPr lang="en-US" b="1" dirty="0" smtClean="0">
                <a:latin typeface="Tempus Sans ITC" panose="04020404030D07020202" pitchFamily="82" charset="0"/>
              </a:rPr>
              <a:t>, </a:t>
            </a:r>
            <a:r>
              <a:rPr lang="en-US" b="1" dirty="0" err="1" smtClean="0">
                <a:latin typeface="Tempus Sans ITC" panose="04020404030D07020202" pitchFamily="82" charset="0"/>
              </a:rPr>
              <a:t>yiya</a:t>
            </a:r>
            <a:r>
              <a:rPr lang="en-US" b="1" dirty="0" smtClean="0">
                <a:latin typeface="Tempus Sans ITC" panose="04020404030D07020202" pitchFamily="82" charset="0"/>
              </a:rPr>
              <a:t> </a:t>
            </a:r>
            <a:r>
              <a:rPr lang="en-US" b="1" dirty="0" err="1" smtClean="0">
                <a:latin typeface="Tempus Sans ITC" panose="04020404030D07020202" pitchFamily="82" charset="0"/>
              </a:rPr>
              <a:t>nii</a:t>
            </a:r>
            <a:r>
              <a:rPr lang="en-US" b="1" dirty="0" smtClean="0">
                <a:latin typeface="Tempus Sans ITC" panose="04020404030D07020202" pitchFamily="82" charset="0"/>
              </a:rPr>
              <a:t> </a:t>
            </a:r>
            <a:r>
              <a:rPr lang="en-US" b="1" dirty="0" err="1" smtClean="0">
                <a:latin typeface="Tempus Sans ITC" panose="04020404030D07020202" pitchFamily="82" charset="0"/>
              </a:rPr>
              <a:t>ya</a:t>
            </a:r>
            <a:endParaRPr lang="en-US" b="1" dirty="0" smtClean="0">
              <a:latin typeface="Tempus Sans ITC" panose="04020404030D07020202" pitchFamily="82" charset="0"/>
            </a:endParaRPr>
          </a:p>
          <a:p>
            <a:r>
              <a:rPr lang="en-US" b="1" dirty="0" smtClean="0">
                <a:latin typeface="Tempus Sans ITC" panose="04020404030D07020202" pitchFamily="82" charset="0"/>
              </a:rPr>
              <a:t>Medium: Batik Quilt Tapestry</a:t>
            </a:r>
          </a:p>
          <a:p>
            <a:r>
              <a:rPr lang="en-US" b="1" dirty="0" smtClean="0">
                <a:latin typeface="Tempus Sans ITC" panose="04020404030D07020202" pitchFamily="82" charset="0"/>
              </a:rPr>
              <a:t>Year of Production: 2017</a:t>
            </a:r>
          </a:p>
          <a:p>
            <a:r>
              <a:rPr lang="en-US" b="1" dirty="0" smtClean="0">
                <a:latin typeface="Tempus Sans ITC" panose="04020404030D07020202" pitchFamily="82" charset="0"/>
              </a:rPr>
              <a:t>Artist: Tunde Odunlade</a:t>
            </a:r>
          </a:p>
          <a:p>
            <a:r>
              <a:rPr lang="en-US" b="1" dirty="0" smtClean="0">
                <a:latin typeface="Tempus Sans ITC" panose="04020404030D07020202" pitchFamily="82" charset="0"/>
              </a:rPr>
              <a:t>Size: 4ft by 7ft.31/2.</a:t>
            </a:r>
          </a:p>
          <a:p>
            <a:r>
              <a:rPr lang="en-US" b="1" dirty="0" smtClean="0">
                <a:latin typeface="Tempus Sans ITC" panose="04020404030D07020202" pitchFamily="82" charset="0"/>
              </a:rPr>
              <a:t>Collection: Estate of the Artist</a:t>
            </a:r>
          </a:p>
        </p:txBody>
      </p:sp>
      <p:pic>
        <p:nvPicPr>
          <p:cNvPr id="3" name="Content Placeholder 2"/>
          <p:cNvPicPr>
            <a:picLocks noGrp="1" noChangeAspect="1"/>
          </p:cNvPicPr>
          <p:nvPr>
            <p:ph idx="1"/>
          </p:nvPr>
        </p:nvPicPr>
        <p:blipFill>
          <a:blip r:embed="rId2" cstate="print">
            <a:extLst>
              <a:ext uri="{28A0092B-C50C-407E-A947-70E740481C1C}">
                <a14:useLocalDpi xmlns:a14="http://schemas.microsoft.com/office/drawing/2010/main" xmlns="" val="0"/>
              </a:ext>
            </a:extLst>
          </a:blip>
          <a:stretch>
            <a:fillRect/>
          </a:stretch>
        </p:blipFill>
        <p:spPr>
          <a:xfrm>
            <a:off x="3678502" y="1207010"/>
            <a:ext cx="8309130" cy="4277670"/>
          </a:xfrm>
        </p:spPr>
      </p:pic>
    </p:spTree>
    <p:extLst>
      <p:ext uri="{BB962C8B-B14F-4D97-AF65-F5344CB8AC3E}">
        <p14:creationId xmlns:p14="http://schemas.microsoft.com/office/powerpoint/2010/main" xmlns="" val="3548201147"/>
      </p:ext>
    </p:extLst>
  </p:cSld>
  <p:clrMapOvr>
    <a:masterClrMapping/>
  </p:clrMapOvr>
  <mc:AlternateContent xmlns:mc="http://schemas.openxmlformats.org/markup-compatibility/2006">
    <mc:Choice xmlns:p14="http://schemas.microsoft.com/office/powerpoint/2010/main" xmlns="" Requires="p14">
      <p:transition spd="slow" p14:dur="1500">
        <p:random/>
      </p:transition>
    </mc:Choice>
    <mc:Fallback>
      <p:transition spd="slow">
        <p:random/>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0841" y="67291"/>
            <a:ext cx="10515600" cy="794857"/>
          </a:xfrm>
        </p:spPr>
        <p:txBody>
          <a:bodyPr>
            <a:normAutofit fontScale="90000"/>
          </a:bodyPr>
          <a:lstStyle/>
          <a:p>
            <a:pPr algn="ctr"/>
            <a:r>
              <a:rPr lang="en-US" b="1" dirty="0" err="1" smtClean="0">
                <a:latin typeface="Tempus Sans ITC" panose="04020404030D07020202" pitchFamily="82" charset="0"/>
              </a:rPr>
              <a:t>Bawo</a:t>
            </a:r>
            <a:r>
              <a:rPr lang="en-US" b="1" dirty="0" smtClean="0">
                <a:latin typeface="Tempus Sans ITC" panose="04020404030D07020202" pitchFamily="82" charset="0"/>
              </a:rPr>
              <a:t> o </a:t>
            </a:r>
            <a:r>
              <a:rPr lang="en-US" b="1" dirty="0" err="1" smtClean="0">
                <a:latin typeface="Tempus Sans ITC" panose="04020404030D07020202" pitchFamily="82" charset="0"/>
              </a:rPr>
              <a:t>ka’ju</a:t>
            </a:r>
            <a:r>
              <a:rPr lang="en-US" b="1" dirty="0" smtClean="0">
                <a:latin typeface="Tempus Sans ITC" panose="04020404030D07020202" pitchFamily="82" charset="0"/>
              </a:rPr>
              <a:t> </a:t>
            </a:r>
            <a:r>
              <a:rPr lang="en-US" b="1" dirty="0" err="1" smtClean="0">
                <a:latin typeface="Tempus Sans ITC" panose="04020404030D07020202" pitchFamily="82" charset="0"/>
              </a:rPr>
              <a:t>ilu</a:t>
            </a:r>
            <a:r>
              <a:rPr lang="en-US" b="1" dirty="0" smtClean="0">
                <a:latin typeface="Tempus Sans ITC" panose="04020404030D07020202" pitchFamily="82" charset="0"/>
              </a:rPr>
              <a:t>, </a:t>
            </a:r>
            <a:r>
              <a:rPr lang="en-US" b="1" dirty="0" err="1" smtClean="0">
                <a:latin typeface="Tempus Sans ITC" panose="04020404030D07020202" pitchFamily="82" charset="0"/>
              </a:rPr>
              <a:t>yiya</a:t>
            </a:r>
            <a:r>
              <a:rPr lang="en-US" b="1" dirty="0" smtClean="0">
                <a:latin typeface="Tempus Sans ITC" panose="04020404030D07020202" pitchFamily="82" charset="0"/>
              </a:rPr>
              <a:t> </a:t>
            </a:r>
            <a:r>
              <a:rPr lang="en-US" b="1" dirty="0" err="1" smtClean="0">
                <a:latin typeface="Tempus Sans ITC" panose="04020404030D07020202" pitchFamily="82" charset="0"/>
              </a:rPr>
              <a:t>nii</a:t>
            </a:r>
            <a:r>
              <a:rPr lang="en-US" b="1" dirty="0" smtClean="0">
                <a:latin typeface="Tempus Sans ITC" panose="04020404030D07020202" pitchFamily="82" charset="0"/>
              </a:rPr>
              <a:t> </a:t>
            </a:r>
            <a:r>
              <a:rPr lang="en-US" b="1" dirty="0" err="1" smtClean="0">
                <a:latin typeface="Tempus Sans ITC" panose="04020404030D07020202" pitchFamily="82" charset="0"/>
              </a:rPr>
              <a:t>ya</a:t>
            </a:r>
            <a:r>
              <a:rPr lang="en-US" b="1" dirty="0" smtClean="0">
                <a:latin typeface="Tempus Sans ITC" panose="04020404030D07020202" pitchFamily="82" charset="0"/>
              </a:rPr>
              <a:t/>
            </a:r>
            <a:br>
              <a:rPr lang="en-US" b="1" dirty="0" smtClean="0">
                <a:latin typeface="Tempus Sans ITC" panose="04020404030D07020202" pitchFamily="82" charset="0"/>
              </a:rPr>
            </a:br>
            <a:r>
              <a:rPr lang="en-US" sz="3100" b="1" dirty="0" smtClean="0">
                <a:latin typeface="Tempus Sans ITC" panose="04020404030D07020202" pitchFamily="82" charset="0"/>
              </a:rPr>
              <a:t>Artist’s inspiration on the piece</a:t>
            </a:r>
            <a:endParaRPr lang="en-US" sz="3100" b="1" dirty="0">
              <a:latin typeface="Tempus Sans ITC" panose="04020404030D07020202" pitchFamily="82" charset="0"/>
            </a:endParaRPr>
          </a:p>
        </p:txBody>
      </p:sp>
      <p:sp>
        <p:nvSpPr>
          <p:cNvPr id="3" name="Content Placeholder 2"/>
          <p:cNvSpPr>
            <a:spLocks noGrp="1"/>
          </p:cNvSpPr>
          <p:nvPr>
            <p:ph idx="1"/>
          </p:nvPr>
        </p:nvSpPr>
        <p:spPr>
          <a:xfrm>
            <a:off x="219455" y="1029354"/>
            <a:ext cx="11798373" cy="5502075"/>
          </a:xfrm>
        </p:spPr>
        <p:txBody>
          <a:bodyPr>
            <a:noAutofit/>
          </a:bodyPr>
          <a:lstStyle/>
          <a:p>
            <a:pPr marL="0" indent="0">
              <a:buNone/>
            </a:pPr>
            <a:r>
              <a:rPr lang="en-US" sz="2200" b="1" dirty="0" smtClean="0">
                <a:latin typeface="Tempus Sans ITC" panose="04020404030D07020202" pitchFamily="82" charset="0"/>
              </a:rPr>
              <a:t>The Yoruba believes that one that is not competent should have no business taking a leadership role, otherwise, its going to be chaos and cantankerousness that will be the order of the day.</a:t>
            </a:r>
          </a:p>
          <a:p>
            <a:pPr marL="0" indent="0">
              <a:buNone/>
            </a:pPr>
            <a:r>
              <a:rPr lang="en-US" sz="2200" b="1" dirty="0" smtClean="0">
                <a:latin typeface="Tempus Sans ITC" panose="04020404030D07020202" pitchFamily="82" charset="0"/>
              </a:rPr>
              <a:t>Question: what are the attributes of good leadership”? good vision, the support from his subject and whatever he has to say are subject to debate and scrutiny. That means he has to be a good listener and good decision taker. He or she doesn’t have to be a genius </a:t>
            </a:r>
          </a:p>
          <a:p>
            <a:pPr marL="0" indent="0">
              <a:buNone/>
            </a:pPr>
            <a:r>
              <a:rPr lang="en-US" sz="2200" b="1" dirty="0" smtClean="0">
                <a:latin typeface="Tempus Sans ITC" panose="04020404030D07020202" pitchFamily="82" charset="0"/>
              </a:rPr>
              <a:t>The adage </a:t>
            </a:r>
            <a:r>
              <a:rPr lang="en-US" sz="2200" b="1" dirty="0" err="1" smtClean="0">
                <a:latin typeface="Tempus Sans ITC" panose="04020404030D07020202" pitchFamily="82" charset="0"/>
              </a:rPr>
              <a:t>b’awo</a:t>
            </a:r>
            <a:r>
              <a:rPr lang="en-US" sz="2200" b="1" dirty="0" smtClean="0">
                <a:latin typeface="Tempus Sans ITC" panose="04020404030D07020202" pitchFamily="82" charset="0"/>
              </a:rPr>
              <a:t> o </a:t>
            </a:r>
            <a:r>
              <a:rPr lang="en-US" sz="2200" b="1" dirty="0" err="1" smtClean="0">
                <a:latin typeface="Tempus Sans ITC" panose="04020404030D07020202" pitchFamily="82" charset="0"/>
              </a:rPr>
              <a:t>ka’ju</a:t>
            </a:r>
            <a:r>
              <a:rPr lang="en-US" sz="2200" b="1" dirty="0" smtClean="0">
                <a:latin typeface="Tempus Sans ITC" panose="04020404030D07020202" pitchFamily="82" charset="0"/>
              </a:rPr>
              <a:t> </a:t>
            </a:r>
            <a:r>
              <a:rPr lang="en-US" sz="2200" b="1" dirty="0" err="1" smtClean="0">
                <a:latin typeface="Tempus Sans ITC" panose="04020404030D07020202" pitchFamily="82" charset="0"/>
              </a:rPr>
              <a:t>ilu</a:t>
            </a:r>
            <a:r>
              <a:rPr lang="en-US" sz="2200" b="1" dirty="0" smtClean="0">
                <a:latin typeface="Tempus Sans ITC" panose="04020404030D07020202" pitchFamily="82" charset="0"/>
              </a:rPr>
              <a:t>, </a:t>
            </a:r>
            <a:r>
              <a:rPr lang="en-US" sz="2200" b="1" dirty="0" err="1" smtClean="0">
                <a:latin typeface="Tempus Sans ITC" panose="04020404030D07020202" pitchFamily="82" charset="0"/>
              </a:rPr>
              <a:t>yiya</a:t>
            </a:r>
            <a:r>
              <a:rPr lang="en-US" sz="2200" b="1" dirty="0" smtClean="0">
                <a:latin typeface="Tempus Sans ITC" panose="04020404030D07020202" pitchFamily="82" charset="0"/>
              </a:rPr>
              <a:t> </a:t>
            </a:r>
            <a:r>
              <a:rPr lang="en-US" sz="2200" b="1" dirty="0" err="1" smtClean="0">
                <a:latin typeface="Tempus Sans ITC" panose="04020404030D07020202" pitchFamily="82" charset="0"/>
              </a:rPr>
              <a:t>nii</a:t>
            </a:r>
            <a:r>
              <a:rPr lang="en-US" sz="2200" b="1" dirty="0" smtClean="0">
                <a:latin typeface="Tempus Sans ITC" panose="04020404030D07020202" pitchFamily="82" charset="0"/>
              </a:rPr>
              <a:t> </a:t>
            </a:r>
            <a:r>
              <a:rPr lang="en-US" sz="2200" b="1" dirty="0" err="1" smtClean="0">
                <a:latin typeface="Tempus Sans ITC" panose="04020404030D07020202" pitchFamily="82" charset="0"/>
              </a:rPr>
              <a:t>ya</a:t>
            </a:r>
            <a:r>
              <a:rPr lang="en-US" sz="2200" b="1" dirty="0" smtClean="0">
                <a:latin typeface="Tempus Sans ITC" panose="04020404030D07020202" pitchFamily="82" charset="0"/>
              </a:rPr>
              <a:t> literally translates as when the skin does not cover the face of the drum, it will tear and there will be no sound coming out of the wood.</a:t>
            </a:r>
          </a:p>
          <a:p>
            <a:pPr marL="0" indent="0">
              <a:buNone/>
            </a:pPr>
            <a:r>
              <a:rPr lang="en-US" sz="2200" b="1" dirty="0" smtClean="0">
                <a:latin typeface="Tempus Sans ITC" panose="04020404030D07020202" pitchFamily="82" charset="0"/>
              </a:rPr>
              <a:t>Ilu in Yoruba is drum. Its made out of the wood carved in a cylindrical shape and hollowed on the inside and then covered with goat skin which then produces sound that mimics the language of the </a:t>
            </a:r>
            <a:r>
              <a:rPr lang="en-US" sz="2200" b="1" dirty="0" err="1" smtClean="0">
                <a:latin typeface="Tempus Sans ITC" panose="04020404030D07020202" pitchFamily="82" charset="0"/>
              </a:rPr>
              <a:t>Yorubas</a:t>
            </a:r>
            <a:r>
              <a:rPr lang="en-US" sz="2200" b="1" dirty="0" smtClean="0">
                <a:latin typeface="Tempus Sans ITC" panose="04020404030D07020202" pitchFamily="82" charset="0"/>
              </a:rPr>
              <a:t> which is a tonal language of Do Re Mi. The leather straps wrapped the wood is skillfully squeezed to alternate the sound which produces sonorous and familiar tunes.</a:t>
            </a:r>
          </a:p>
          <a:p>
            <a:pPr marL="0" indent="0">
              <a:buNone/>
            </a:pPr>
            <a:r>
              <a:rPr lang="en-US" sz="2200" b="1" dirty="0" smtClean="0">
                <a:latin typeface="Tempus Sans ITC" panose="04020404030D07020202" pitchFamily="82" charset="0"/>
              </a:rPr>
              <a:t>The talking has drum no comparison in the world of music.</a:t>
            </a:r>
          </a:p>
          <a:p>
            <a:pPr marL="0" indent="0">
              <a:buNone/>
            </a:pPr>
            <a:endParaRPr lang="en-US" sz="2200" b="1" dirty="0" smtClean="0">
              <a:latin typeface="Tempus Sans ITC" panose="04020404030D07020202" pitchFamily="82" charset="0"/>
            </a:endParaRPr>
          </a:p>
          <a:p>
            <a:pPr marL="0" indent="0">
              <a:buNone/>
            </a:pPr>
            <a:r>
              <a:rPr lang="en-US" sz="2200" b="1" dirty="0" smtClean="0">
                <a:latin typeface="Tempus Sans ITC" panose="04020404030D07020202" pitchFamily="82" charset="0"/>
              </a:rPr>
              <a:t>Tunde Odunlade </a:t>
            </a:r>
          </a:p>
          <a:p>
            <a:pPr marL="0" indent="0">
              <a:buNone/>
            </a:pPr>
            <a:r>
              <a:rPr lang="en-US" sz="2200" b="1" dirty="0" smtClean="0">
                <a:latin typeface="Tempus Sans ITC" panose="04020404030D07020202" pitchFamily="82" charset="0"/>
              </a:rPr>
              <a:t>September 2019.</a:t>
            </a:r>
            <a:endParaRPr lang="en-US" sz="2200" b="1" dirty="0">
              <a:latin typeface="Tempus Sans ITC" panose="04020404030D07020202" pitchFamily="82" charset="0"/>
            </a:endParaRPr>
          </a:p>
        </p:txBody>
      </p:sp>
    </p:spTree>
    <p:extLst>
      <p:ext uri="{BB962C8B-B14F-4D97-AF65-F5344CB8AC3E}">
        <p14:creationId xmlns:p14="http://schemas.microsoft.com/office/powerpoint/2010/main" xmlns="" val="3359748689"/>
      </p:ext>
    </p:extLst>
  </p:cSld>
  <p:clrMapOvr>
    <a:masterClrMapping/>
  </p:clrMapOvr>
  <mc:AlternateContent xmlns:mc="http://schemas.openxmlformats.org/markup-compatibility/2006">
    <mc:Choice xmlns:p14="http://schemas.microsoft.com/office/powerpoint/2010/main" xmlns="" Requires="p14">
      <p:transition spd="slow" p14:dur="1500">
        <p:random/>
      </p:transition>
    </mc:Choice>
    <mc:Fallback>
      <p:transition spd="slow">
        <p:random/>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70985" y="237182"/>
            <a:ext cx="11469189" cy="4351338"/>
          </a:xfrm>
        </p:spPr>
        <p:txBody>
          <a:bodyPr>
            <a:noAutofit/>
          </a:bodyPr>
          <a:lstStyle/>
          <a:p>
            <a:pPr marL="0" indent="0">
              <a:buNone/>
            </a:pPr>
            <a:r>
              <a:rPr lang="en-US" sz="1800" dirty="0" smtClean="0"/>
              <a:t>Please note, that this price-list has two prices marked ‘ARP</a:t>
            </a:r>
            <a:r>
              <a:rPr lang="en-US" sz="1800" smtClean="0"/>
              <a:t>’ which stands </a:t>
            </a:r>
            <a:r>
              <a:rPr lang="en-US" sz="1800" dirty="0" smtClean="0"/>
              <a:t>for “Actual Retail Price “While ‘SLRP’ means “Suggested Local Retail Price”.</a:t>
            </a:r>
          </a:p>
        </p:txBody>
      </p:sp>
      <p:graphicFrame>
        <p:nvGraphicFramePr>
          <p:cNvPr id="4" name="Table 3"/>
          <p:cNvGraphicFramePr>
            <a:graphicFrameLocks noGrp="1"/>
          </p:cNvGraphicFramePr>
          <p:nvPr>
            <p:extLst>
              <p:ext uri="{D42A27DB-BD31-4B8C-83A1-F6EECF244321}">
                <p14:modId xmlns:p14="http://schemas.microsoft.com/office/powerpoint/2010/main" xmlns="" val="3255221056"/>
              </p:ext>
            </p:extLst>
          </p:nvPr>
        </p:nvGraphicFramePr>
        <p:xfrm>
          <a:off x="418010" y="896400"/>
          <a:ext cx="11484864" cy="5875382"/>
        </p:xfrm>
        <a:graphic>
          <a:graphicData uri="http://schemas.openxmlformats.org/drawingml/2006/table">
            <a:tbl>
              <a:tblPr firstRow="1" bandRow="1">
                <a:tableStyleId>{5C22544A-7EE6-4342-B048-85BDC9FD1C3A}</a:tableStyleId>
              </a:tblPr>
              <a:tblGrid>
                <a:gridCol w="4493624">
                  <a:extLst>
                    <a:ext uri="{9D8B030D-6E8A-4147-A177-3AD203B41FA5}">
                      <a16:colId xmlns:a16="http://schemas.microsoft.com/office/drawing/2014/main" xmlns="" val="2714712229"/>
                    </a:ext>
                  </a:extLst>
                </a:gridCol>
                <a:gridCol w="3856156">
                  <a:extLst>
                    <a:ext uri="{9D8B030D-6E8A-4147-A177-3AD203B41FA5}">
                      <a16:colId xmlns:a16="http://schemas.microsoft.com/office/drawing/2014/main" xmlns="" val="3423167367"/>
                    </a:ext>
                  </a:extLst>
                </a:gridCol>
                <a:gridCol w="1698171">
                  <a:extLst>
                    <a:ext uri="{9D8B030D-6E8A-4147-A177-3AD203B41FA5}">
                      <a16:colId xmlns:a16="http://schemas.microsoft.com/office/drawing/2014/main" xmlns="" val="4207583072"/>
                    </a:ext>
                  </a:extLst>
                </a:gridCol>
                <a:gridCol w="1436913">
                  <a:extLst>
                    <a:ext uri="{9D8B030D-6E8A-4147-A177-3AD203B41FA5}">
                      <a16:colId xmlns:a16="http://schemas.microsoft.com/office/drawing/2014/main" xmlns="" val="2640147486"/>
                    </a:ext>
                  </a:extLst>
                </a:gridCol>
              </a:tblGrid>
              <a:tr h="32022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smtClean="0"/>
                        <a:t>TITLE</a:t>
                      </a:r>
                      <a:endParaRPr lang="en-US" sz="1400" dirty="0"/>
                    </a:p>
                  </a:txBody>
                  <a:tcPr/>
                </a:tc>
                <a:tc>
                  <a:txBody>
                    <a:bodyPr/>
                    <a:lstStyle/>
                    <a:p>
                      <a:pPr algn="ctr"/>
                      <a:r>
                        <a:rPr lang="en-US" sz="1400" dirty="0" smtClean="0"/>
                        <a:t>MEDIUM</a:t>
                      </a:r>
                      <a:endParaRPr lang="en-US" sz="1400" dirty="0"/>
                    </a:p>
                  </a:txBody>
                  <a:tcPr/>
                </a:tc>
                <a:tc>
                  <a:txBody>
                    <a:bodyPr/>
                    <a:lstStyle/>
                    <a:p>
                      <a:pPr algn="ctr"/>
                      <a:r>
                        <a:rPr lang="en-US" sz="1400" dirty="0" smtClean="0"/>
                        <a:t>ARP USD</a:t>
                      </a:r>
                      <a:endParaRPr lang="en-US" sz="1400" dirty="0"/>
                    </a:p>
                  </a:txBody>
                  <a:tcPr/>
                </a:tc>
                <a:tc>
                  <a:txBody>
                    <a:bodyPr/>
                    <a:lstStyle/>
                    <a:p>
                      <a:pPr algn="ctr"/>
                      <a:r>
                        <a:rPr lang="en-US" sz="1400" dirty="0" smtClean="0"/>
                        <a:t>SLRP NGN</a:t>
                      </a:r>
                      <a:endParaRPr lang="en-US" sz="1400" dirty="0"/>
                    </a:p>
                  </a:txBody>
                  <a:tcPr/>
                </a:tc>
                <a:extLst>
                  <a:ext uri="{0D108BD9-81ED-4DB2-BD59-A6C34878D82A}">
                    <a16:rowId xmlns:a16="http://schemas.microsoft.com/office/drawing/2014/main" xmlns="" val="1069152326"/>
                  </a:ext>
                </a:extLst>
              </a:tr>
              <a:tr h="320220">
                <a:tc>
                  <a:txBody>
                    <a:bodyPr/>
                    <a:lstStyle/>
                    <a:p>
                      <a:pPr algn="l"/>
                      <a:r>
                        <a:rPr lang="en-US" sz="1400" dirty="0" err="1" smtClean="0"/>
                        <a:t>Ikorita</a:t>
                      </a:r>
                      <a:endParaRPr lang="en-US" sz="1400" dirty="0"/>
                    </a:p>
                  </a:txBody>
                  <a:tcPr/>
                </a:tc>
                <a:tc>
                  <a:txBody>
                    <a:bodyPr/>
                    <a:lstStyle/>
                    <a:p>
                      <a:pPr algn="l"/>
                      <a:r>
                        <a:rPr lang="en-US" sz="1400" dirty="0" smtClean="0"/>
                        <a:t>Beaded damask Tapestry           (BDT)</a:t>
                      </a:r>
                      <a:endParaRPr lang="en-US" sz="1400" dirty="0"/>
                    </a:p>
                  </a:txBody>
                  <a:tcPr/>
                </a:tc>
                <a:tc>
                  <a:txBody>
                    <a:bodyPr/>
                    <a:lstStyle/>
                    <a:p>
                      <a:pPr algn="r"/>
                      <a:r>
                        <a:rPr lang="en-US" sz="1400" dirty="0" smtClean="0"/>
                        <a:t>4000</a:t>
                      </a:r>
                      <a:endParaRPr lang="en-US" sz="1400" dirty="0"/>
                    </a:p>
                  </a:txBody>
                  <a:tcPr/>
                </a:tc>
                <a:tc>
                  <a:txBody>
                    <a:bodyPr/>
                    <a:lstStyle/>
                    <a:p>
                      <a:pPr algn="r"/>
                      <a:r>
                        <a:rPr lang="en-US" sz="1400" dirty="0" smtClean="0"/>
                        <a:t>650,000</a:t>
                      </a:r>
                      <a:endParaRPr lang="en-US" sz="1400" dirty="0"/>
                    </a:p>
                  </a:txBody>
                  <a:tcPr/>
                </a:tc>
                <a:extLst>
                  <a:ext uri="{0D108BD9-81ED-4DB2-BD59-A6C34878D82A}">
                    <a16:rowId xmlns:a16="http://schemas.microsoft.com/office/drawing/2014/main" xmlns="" val="3542935310"/>
                  </a:ext>
                </a:extLst>
              </a:tr>
              <a:tr h="320220">
                <a:tc>
                  <a:txBody>
                    <a:bodyPr/>
                    <a:lstStyle/>
                    <a:p>
                      <a:pPr algn="l"/>
                      <a:r>
                        <a:rPr lang="en-US" sz="1400" dirty="0" smtClean="0"/>
                        <a:t>WWW</a:t>
                      </a:r>
                      <a:endParaRPr lang="en-US"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t>Beaded Batik Quilt</a:t>
                      </a:r>
                      <a:r>
                        <a:rPr lang="en-US" sz="1400" baseline="0" dirty="0" smtClean="0"/>
                        <a:t> T</a:t>
                      </a:r>
                      <a:r>
                        <a:rPr lang="en-US" sz="1400" dirty="0" smtClean="0"/>
                        <a:t>apestry      (BBQT)</a:t>
                      </a:r>
                    </a:p>
                  </a:txBody>
                  <a:tcPr/>
                </a:tc>
                <a:tc>
                  <a:txBody>
                    <a:bodyPr/>
                    <a:lstStyle/>
                    <a:p>
                      <a:pPr algn="r"/>
                      <a:r>
                        <a:rPr lang="en-US" sz="1400" dirty="0" smtClean="0"/>
                        <a:t>4000</a:t>
                      </a:r>
                      <a:endParaRPr lang="en-US" sz="1400" dirty="0"/>
                    </a:p>
                  </a:txBody>
                  <a:tcPr/>
                </a:tc>
                <a:tc>
                  <a:txBody>
                    <a:bodyPr/>
                    <a:lstStyle/>
                    <a:p>
                      <a:pPr algn="r"/>
                      <a:r>
                        <a:rPr lang="en-US" sz="1400" dirty="0" smtClean="0"/>
                        <a:t>650,000</a:t>
                      </a:r>
                      <a:endParaRPr lang="en-US" sz="1400" dirty="0"/>
                    </a:p>
                  </a:txBody>
                  <a:tcPr/>
                </a:tc>
                <a:extLst>
                  <a:ext uri="{0D108BD9-81ED-4DB2-BD59-A6C34878D82A}">
                    <a16:rowId xmlns:a16="http://schemas.microsoft.com/office/drawing/2014/main" xmlns="" val="4215558515"/>
                  </a:ext>
                </a:extLst>
              </a:tr>
              <a:tr h="320220">
                <a:tc>
                  <a:txBody>
                    <a:bodyPr/>
                    <a:lstStyle/>
                    <a:p>
                      <a:pPr algn="l"/>
                      <a:r>
                        <a:rPr lang="en-US" sz="1400" dirty="0" smtClean="0"/>
                        <a:t>Royal Bird</a:t>
                      </a:r>
                      <a:endParaRPr lang="en-US" sz="1400" dirty="0"/>
                    </a:p>
                  </a:txBody>
                  <a:tcPr/>
                </a:tc>
                <a:tc>
                  <a:txBody>
                    <a:bodyPr/>
                    <a:lstStyle/>
                    <a:p>
                      <a:pPr algn="l"/>
                      <a:r>
                        <a:rPr lang="en-US" sz="1400" dirty="0" smtClean="0"/>
                        <a:t>Beaded Batik Quilt Tapestry      (BBQT)</a:t>
                      </a:r>
                      <a:endParaRPr lang="en-US" sz="1400" dirty="0"/>
                    </a:p>
                  </a:txBody>
                  <a:tcPr/>
                </a:tc>
                <a:tc>
                  <a:txBody>
                    <a:bodyPr/>
                    <a:lstStyle/>
                    <a:p>
                      <a:pPr algn="r"/>
                      <a:r>
                        <a:rPr lang="en-US" sz="1400" dirty="0" smtClean="0"/>
                        <a:t>4000</a:t>
                      </a:r>
                      <a:endParaRPr lang="en-US" sz="1400" dirty="0"/>
                    </a:p>
                  </a:txBody>
                  <a:tcPr/>
                </a:tc>
                <a:tc>
                  <a:txBody>
                    <a:bodyPr/>
                    <a:lstStyle/>
                    <a:p>
                      <a:pPr algn="r"/>
                      <a:r>
                        <a:rPr lang="en-US" sz="1400" dirty="0" smtClean="0"/>
                        <a:t>650,000</a:t>
                      </a:r>
                      <a:endParaRPr lang="en-US" sz="1400" dirty="0"/>
                    </a:p>
                  </a:txBody>
                  <a:tcPr/>
                </a:tc>
                <a:extLst>
                  <a:ext uri="{0D108BD9-81ED-4DB2-BD59-A6C34878D82A}">
                    <a16:rowId xmlns:a16="http://schemas.microsoft.com/office/drawing/2014/main" xmlns="" val="3353303423"/>
                  </a:ext>
                </a:extLst>
              </a:tr>
              <a:tr h="431642">
                <a:tc>
                  <a:txBody>
                    <a:bodyPr/>
                    <a:lstStyle/>
                    <a:p>
                      <a:r>
                        <a:rPr lang="en-US" sz="1400" dirty="0" smtClean="0"/>
                        <a:t>A compendium of knowledge transferred</a:t>
                      </a:r>
                      <a:endParaRPr lang="en-US"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t>Beaded Damask Tapestry            (BDT)</a:t>
                      </a:r>
                    </a:p>
                  </a:txBody>
                  <a:tcPr/>
                </a:tc>
                <a:tc>
                  <a:txBody>
                    <a:bodyPr/>
                    <a:lstStyle/>
                    <a:p>
                      <a:pPr algn="r"/>
                      <a:r>
                        <a:rPr lang="en-US" sz="1400" dirty="0" smtClean="0"/>
                        <a:t>4000</a:t>
                      </a:r>
                      <a:endParaRPr lang="en-US" sz="1400" dirty="0"/>
                    </a:p>
                  </a:txBody>
                  <a:tcPr/>
                </a:tc>
                <a:tc>
                  <a:txBody>
                    <a:bodyPr/>
                    <a:lstStyle/>
                    <a:p>
                      <a:pPr algn="r"/>
                      <a:r>
                        <a:rPr lang="en-US" sz="1400" dirty="0" smtClean="0"/>
                        <a:t>650,,000</a:t>
                      </a:r>
                      <a:endParaRPr lang="en-US" sz="1400" dirty="0"/>
                    </a:p>
                  </a:txBody>
                  <a:tcPr/>
                </a:tc>
                <a:extLst>
                  <a:ext uri="{0D108BD9-81ED-4DB2-BD59-A6C34878D82A}">
                    <a16:rowId xmlns:a16="http://schemas.microsoft.com/office/drawing/2014/main" xmlns="" val="2151616612"/>
                  </a:ext>
                </a:extLst>
              </a:tr>
              <a:tr h="320220">
                <a:tc>
                  <a:txBody>
                    <a:bodyPr/>
                    <a:lstStyle/>
                    <a:p>
                      <a:pPr algn="l"/>
                      <a:r>
                        <a:rPr lang="en-US" sz="1400" dirty="0" err="1" smtClean="0"/>
                        <a:t>Olugbodi</a:t>
                      </a:r>
                      <a:endParaRPr lang="en-US" sz="1400" dirty="0"/>
                    </a:p>
                  </a:txBody>
                  <a:tcPr/>
                </a:tc>
                <a:tc>
                  <a:txBody>
                    <a:bodyPr/>
                    <a:lstStyle/>
                    <a:p>
                      <a:pPr algn="l"/>
                      <a:r>
                        <a:rPr lang="en-US" sz="1400" dirty="0" smtClean="0"/>
                        <a:t>Beaded Damask tapestry             (BDT)</a:t>
                      </a:r>
                      <a:endParaRPr lang="en-US" sz="1400" dirty="0"/>
                    </a:p>
                  </a:txBody>
                  <a:tcPr/>
                </a:tc>
                <a:tc>
                  <a:txBody>
                    <a:bodyPr/>
                    <a:lstStyle/>
                    <a:p>
                      <a:pPr algn="r"/>
                      <a:r>
                        <a:rPr lang="en-US" sz="1400" dirty="0" smtClean="0"/>
                        <a:t>4000</a:t>
                      </a:r>
                      <a:endParaRPr lang="en-US" sz="1400" dirty="0"/>
                    </a:p>
                  </a:txBody>
                  <a:tcPr/>
                </a:tc>
                <a:tc>
                  <a:txBody>
                    <a:bodyPr/>
                    <a:lstStyle/>
                    <a:p>
                      <a:pPr algn="r"/>
                      <a:r>
                        <a:rPr lang="en-US" sz="1400" dirty="0" smtClean="0"/>
                        <a:t>650,000</a:t>
                      </a:r>
                      <a:endParaRPr lang="en-US" sz="1400" dirty="0"/>
                    </a:p>
                  </a:txBody>
                  <a:tcPr/>
                </a:tc>
                <a:extLst>
                  <a:ext uri="{0D108BD9-81ED-4DB2-BD59-A6C34878D82A}">
                    <a16:rowId xmlns:a16="http://schemas.microsoft.com/office/drawing/2014/main" xmlns="" val="3342643473"/>
                  </a:ext>
                </a:extLst>
              </a:tr>
              <a:tr h="320220">
                <a:tc>
                  <a:txBody>
                    <a:bodyPr/>
                    <a:lstStyle/>
                    <a:p>
                      <a:r>
                        <a:rPr lang="en-US" sz="1400" dirty="0" smtClean="0"/>
                        <a:t>Every Mickle makes a Muckle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t>Beaded Batik Quilt Tapestry       (BBQT)</a:t>
                      </a:r>
                    </a:p>
                  </a:txBody>
                  <a:tcPr/>
                </a:tc>
                <a:tc>
                  <a:txBody>
                    <a:bodyPr/>
                    <a:lstStyle/>
                    <a:p>
                      <a:pPr algn="r"/>
                      <a:r>
                        <a:rPr lang="en-US" sz="1400" dirty="0" smtClean="0"/>
                        <a:t>7500</a:t>
                      </a:r>
                      <a:endParaRPr lang="en-US" sz="1400" dirty="0"/>
                    </a:p>
                  </a:txBody>
                  <a:tcPr/>
                </a:tc>
                <a:tc>
                  <a:txBody>
                    <a:bodyPr/>
                    <a:lstStyle/>
                    <a:p>
                      <a:pPr algn="r"/>
                      <a:r>
                        <a:rPr lang="en-US" sz="1400" dirty="0" smtClean="0"/>
                        <a:t>2,000,000</a:t>
                      </a:r>
                      <a:endParaRPr lang="en-US" sz="1400" dirty="0"/>
                    </a:p>
                  </a:txBody>
                  <a:tcPr/>
                </a:tc>
                <a:extLst>
                  <a:ext uri="{0D108BD9-81ED-4DB2-BD59-A6C34878D82A}">
                    <a16:rowId xmlns:a16="http://schemas.microsoft.com/office/drawing/2014/main" xmlns="" val="461985025"/>
                  </a:ext>
                </a:extLst>
              </a:tr>
              <a:tr h="320220">
                <a:tc>
                  <a:txBody>
                    <a:bodyPr/>
                    <a:lstStyle/>
                    <a:p>
                      <a:r>
                        <a:rPr lang="en-US" sz="1400" dirty="0" smtClean="0"/>
                        <a:t>Reaching for the Stars</a:t>
                      </a:r>
                      <a:endParaRPr lang="en-US" sz="1400" dirty="0"/>
                    </a:p>
                  </a:txBody>
                  <a:tcPr/>
                </a:tc>
                <a:tc>
                  <a:txBody>
                    <a:bodyPr/>
                    <a:lstStyle/>
                    <a:p>
                      <a:pPr algn="l"/>
                      <a:r>
                        <a:rPr lang="en-US" sz="1400" dirty="0" smtClean="0"/>
                        <a:t>Beaded Batik Tapestry                  (BBT)</a:t>
                      </a:r>
                      <a:endParaRPr lang="en-US" sz="1400" dirty="0"/>
                    </a:p>
                  </a:txBody>
                  <a:tcPr/>
                </a:tc>
                <a:tc>
                  <a:txBody>
                    <a:bodyPr/>
                    <a:lstStyle/>
                    <a:p>
                      <a:pPr algn="r"/>
                      <a:r>
                        <a:rPr lang="en-US" sz="1400" dirty="0" smtClean="0"/>
                        <a:t>6500</a:t>
                      </a:r>
                      <a:endParaRPr lang="en-US" sz="1400" dirty="0"/>
                    </a:p>
                  </a:txBody>
                  <a:tcPr/>
                </a:tc>
                <a:tc>
                  <a:txBody>
                    <a:bodyPr/>
                    <a:lstStyle/>
                    <a:p>
                      <a:pPr algn="r"/>
                      <a:r>
                        <a:rPr lang="en-US" sz="1400" dirty="0" smtClean="0"/>
                        <a:t>1,800,000</a:t>
                      </a:r>
                    </a:p>
                  </a:txBody>
                  <a:tcPr/>
                </a:tc>
                <a:extLst>
                  <a:ext uri="{0D108BD9-81ED-4DB2-BD59-A6C34878D82A}">
                    <a16:rowId xmlns:a16="http://schemas.microsoft.com/office/drawing/2014/main" xmlns="" val="1514427026"/>
                  </a:ext>
                </a:extLst>
              </a:tr>
              <a:tr h="320220">
                <a:tc>
                  <a:txBody>
                    <a:bodyPr/>
                    <a:lstStyle/>
                    <a:p>
                      <a:r>
                        <a:rPr lang="en-US" sz="1400" dirty="0" smtClean="0"/>
                        <a:t>At the Calvary</a:t>
                      </a:r>
                      <a:endParaRPr lang="en-US" sz="1400" dirty="0"/>
                    </a:p>
                  </a:txBody>
                  <a:tcPr/>
                </a:tc>
                <a:tc>
                  <a:txBody>
                    <a:bodyPr/>
                    <a:lstStyle/>
                    <a:p>
                      <a:pPr algn="l"/>
                      <a:r>
                        <a:rPr lang="en-US" sz="1400" dirty="0" smtClean="0"/>
                        <a:t>Beaded Batik Tapestry                  (BBT)</a:t>
                      </a:r>
                      <a:endParaRPr lang="en-US" sz="1400" dirty="0"/>
                    </a:p>
                  </a:txBody>
                  <a:tcPr/>
                </a:tc>
                <a:tc>
                  <a:txBody>
                    <a:bodyPr/>
                    <a:lstStyle/>
                    <a:p>
                      <a:pPr algn="r"/>
                      <a:r>
                        <a:rPr lang="en-US" sz="1400" dirty="0" smtClean="0"/>
                        <a:t>6000</a:t>
                      </a:r>
                      <a:endParaRPr lang="en-US" sz="1400" dirty="0"/>
                    </a:p>
                  </a:txBody>
                  <a:tcPr/>
                </a:tc>
                <a:tc>
                  <a:txBody>
                    <a:bodyPr/>
                    <a:lstStyle/>
                    <a:p>
                      <a:pPr algn="r"/>
                      <a:r>
                        <a:rPr lang="en-US" sz="1400" dirty="0" smtClean="0"/>
                        <a:t>1,700,000</a:t>
                      </a:r>
                    </a:p>
                  </a:txBody>
                  <a:tcPr/>
                </a:tc>
                <a:extLst>
                  <a:ext uri="{0D108BD9-81ED-4DB2-BD59-A6C34878D82A}">
                    <a16:rowId xmlns:a16="http://schemas.microsoft.com/office/drawing/2014/main" xmlns="" val="3919813771"/>
                  </a:ext>
                </a:extLst>
              </a:tr>
              <a:tr h="320220">
                <a:tc>
                  <a:txBody>
                    <a:bodyPr/>
                    <a:lstStyle/>
                    <a:p>
                      <a:r>
                        <a:rPr lang="en-US" sz="1400" dirty="0" smtClean="0"/>
                        <a:t>Prayers</a:t>
                      </a:r>
                      <a:endParaRPr lang="en-US" sz="1400" dirty="0"/>
                    </a:p>
                  </a:txBody>
                  <a:tcPr/>
                </a:tc>
                <a:tc>
                  <a:txBody>
                    <a:bodyPr/>
                    <a:lstStyle/>
                    <a:p>
                      <a:pPr algn="l"/>
                      <a:r>
                        <a:rPr lang="en-US" sz="1400" dirty="0" smtClean="0"/>
                        <a:t>Beaded Damask Tapestry            (BDT)</a:t>
                      </a:r>
                      <a:endParaRPr lang="en-US" sz="1400" dirty="0"/>
                    </a:p>
                  </a:txBody>
                  <a:tcPr/>
                </a:tc>
                <a:tc>
                  <a:txBody>
                    <a:bodyPr/>
                    <a:lstStyle/>
                    <a:p>
                      <a:pPr algn="r"/>
                      <a:r>
                        <a:rPr lang="en-US" sz="1400" dirty="0" smtClean="0"/>
                        <a:t>4000</a:t>
                      </a:r>
                      <a:endParaRPr lang="en-US" sz="1400" dirty="0"/>
                    </a:p>
                  </a:txBody>
                  <a:tcPr/>
                </a:tc>
                <a:tc>
                  <a:txBody>
                    <a:bodyPr/>
                    <a:lstStyle/>
                    <a:p>
                      <a:pPr algn="r"/>
                      <a:r>
                        <a:rPr lang="en-US" sz="1400" dirty="0" smtClean="0"/>
                        <a:t>650,000</a:t>
                      </a:r>
                    </a:p>
                  </a:txBody>
                  <a:tcPr/>
                </a:tc>
                <a:extLst>
                  <a:ext uri="{0D108BD9-81ED-4DB2-BD59-A6C34878D82A}">
                    <a16:rowId xmlns:a16="http://schemas.microsoft.com/office/drawing/2014/main" xmlns="" val="2362355106"/>
                  </a:ext>
                </a:extLst>
              </a:tr>
              <a:tr h="320220">
                <a:tc>
                  <a:txBody>
                    <a:bodyPr/>
                    <a:lstStyle/>
                    <a:p>
                      <a:r>
                        <a:rPr lang="en-US" sz="1400" dirty="0" smtClean="0"/>
                        <a:t>Seleru </a:t>
                      </a:r>
                      <a:r>
                        <a:rPr lang="en-US" sz="1400" dirty="0" err="1" smtClean="0"/>
                        <a:t>Agbo</a:t>
                      </a:r>
                      <a:endParaRPr lang="en-US" sz="1400" dirty="0"/>
                    </a:p>
                  </a:txBody>
                  <a:tcPr/>
                </a:tc>
                <a:tc>
                  <a:txBody>
                    <a:bodyPr/>
                    <a:lstStyle/>
                    <a:p>
                      <a:pPr algn="l"/>
                      <a:r>
                        <a:rPr lang="en-US" sz="1400" dirty="0" smtClean="0"/>
                        <a:t>Beaded Batik Quilt Tapestry       (BBQT)</a:t>
                      </a:r>
                      <a:endParaRPr lang="en-US" sz="1400" dirty="0"/>
                    </a:p>
                  </a:txBody>
                  <a:tcPr/>
                </a:tc>
                <a:tc>
                  <a:txBody>
                    <a:bodyPr/>
                    <a:lstStyle/>
                    <a:p>
                      <a:pPr algn="r"/>
                      <a:r>
                        <a:rPr lang="en-US" sz="1400" dirty="0" smtClean="0"/>
                        <a:t>25000</a:t>
                      </a:r>
                      <a:endParaRPr lang="en-US" sz="1400" dirty="0"/>
                    </a:p>
                  </a:txBody>
                  <a:tcPr/>
                </a:tc>
                <a:tc>
                  <a:txBody>
                    <a:bodyPr/>
                    <a:lstStyle/>
                    <a:p>
                      <a:pPr algn="r"/>
                      <a:r>
                        <a:rPr lang="en-US" sz="1400" dirty="0" smtClean="0"/>
                        <a:t>6,000,000</a:t>
                      </a:r>
                    </a:p>
                  </a:txBody>
                  <a:tcPr/>
                </a:tc>
                <a:extLst>
                  <a:ext uri="{0D108BD9-81ED-4DB2-BD59-A6C34878D82A}">
                    <a16:rowId xmlns:a16="http://schemas.microsoft.com/office/drawing/2014/main" xmlns="" val="475664716"/>
                  </a:ext>
                </a:extLst>
              </a:tr>
              <a:tr h="320220">
                <a:tc>
                  <a:txBody>
                    <a:bodyPr/>
                    <a:lstStyle/>
                    <a:p>
                      <a:r>
                        <a:rPr lang="en-US" sz="1400" dirty="0" smtClean="0"/>
                        <a:t>Our world from above</a:t>
                      </a:r>
                      <a:endParaRPr lang="en-US" sz="1400" dirty="0"/>
                    </a:p>
                  </a:txBody>
                  <a:tcPr/>
                </a:tc>
                <a:tc>
                  <a:txBody>
                    <a:bodyPr/>
                    <a:lstStyle/>
                    <a:p>
                      <a:pPr algn="l"/>
                      <a:r>
                        <a:rPr lang="en-US" sz="1400" dirty="0" smtClean="0"/>
                        <a:t>Beaded Batik Quilt Tapestry        (BBQT)</a:t>
                      </a:r>
                      <a:endParaRPr lang="en-US" sz="1400" dirty="0"/>
                    </a:p>
                  </a:txBody>
                  <a:tcPr/>
                </a:tc>
                <a:tc>
                  <a:txBody>
                    <a:bodyPr/>
                    <a:lstStyle/>
                    <a:p>
                      <a:pPr algn="r"/>
                      <a:r>
                        <a:rPr lang="en-US" sz="1400" dirty="0" smtClean="0"/>
                        <a:t>25000</a:t>
                      </a:r>
                      <a:endParaRPr lang="en-US" sz="1400" dirty="0"/>
                    </a:p>
                  </a:txBody>
                  <a:tcPr/>
                </a:tc>
                <a:tc>
                  <a:txBody>
                    <a:bodyPr/>
                    <a:lstStyle/>
                    <a:p>
                      <a:pPr algn="r"/>
                      <a:r>
                        <a:rPr lang="en-US" sz="1400" dirty="0" smtClean="0"/>
                        <a:t>6,000,000</a:t>
                      </a:r>
                    </a:p>
                  </a:txBody>
                  <a:tcPr/>
                </a:tc>
                <a:extLst>
                  <a:ext uri="{0D108BD9-81ED-4DB2-BD59-A6C34878D82A}">
                    <a16:rowId xmlns:a16="http://schemas.microsoft.com/office/drawing/2014/main" xmlns="" val="127822470"/>
                  </a:ext>
                </a:extLst>
              </a:tr>
              <a:tr h="320220">
                <a:tc>
                  <a:txBody>
                    <a:bodyPr/>
                    <a:lstStyle/>
                    <a:p>
                      <a:r>
                        <a:rPr lang="en-US" sz="1400" dirty="0" smtClean="0"/>
                        <a:t>The Way We Are</a:t>
                      </a:r>
                      <a:endParaRPr lang="en-US" sz="1400" dirty="0"/>
                    </a:p>
                  </a:txBody>
                  <a:tcPr/>
                </a:tc>
                <a:tc>
                  <a:txBody>
                    <a:bodyPr/>
                    <a:lstStyle/>
                    <a:p>
                      <a:pPr algn="l"/>
                      <a:r>
                        <a:rPr lang="en-US" sz="1400" dirty="0" smtClean="0"/>
                        <a:t>Beaded Batik Quilt Tapestry        (BBQT)</a:t>
                      </a:r>
                      <a:endParaRPr lang="en-US" sz="1400" dirty="0"/>
                    </a:p>
                  </a:txBody>
                  <a:tcPr/>
                </a:tc>
                <a:tc>
                  <a:txBody>
                    <a:bodyPr/>
                    <a:lstStyle/>
                    <a:p>
                      <a:pPr algn="r"/>
                      <a:r>
                        <a:rPr lang="en-US" sz="1400" dirty="0" smtClean="0"/>
                        <a:t>24000</a:t>
                      </a:r>
                      <a:endParaRPr lang="en-US" sz="1400" dirty="0"/>
                    </a:p>
                  </a:txBody>
                  <a:tcPr/>
                </a:tc>
                <a:tc>
                  <a:txBody>
                    <a:bodyPr/>
                    <a:lstStyle/>
                    <a:p>
                      <a:pPr algn="r"/>
                      <a:r>
                        <a:rPr lang="en-US" sz="1400" dirty="0" smtClean="0"/>
                        <a:t>5,500,000</a:t>
                      </a:r>
                    </a:p>
                  </a:txBody>
                  <a:tcPr/>
                </a:tc>
                <a:extLst>
                  <a:ext uri="{0D108BD9-81ED-4DB2-BD59-A6C34878D82A}">
                    <a16:rowId xmlns:a16="http://schemas.microsoft.com/office/drawing/2014/main" xmlns="" val="1838863480"/>
                  </a:ext>
                </a:extLst>
              </a:tr>
              <a:tr h="320220">
                <a:tc>
                  <a:txBody>
                    <a:bodyPr/>
                    <a:lstStyle/>
                    <a:p>
                      <a:r>
                        <a:rPr lang="en-US" sz="1400" dirty="0" err="1" smtClean="0"/>
                        <a:t>Eiye</a:t>
                      </a:r>
                      <a:r>
                        <a:rPr lang="en-US" sz="1400" dirty="0" smtClean="0"/>
                        <a:t> </a:t>
                      </a:r>
                      <a:r>
                        <a:rPr lang="en-US" sz="1400" dirty="0" err="1" smtClean="0"/>
                        <a:t>t’o</a:t>
                      </a:r>
                      <a:r>
                        <a:rPr lang="en-US" sz="1400" dirty="0" smtClean="0"/>
                        <a:t> </a:t>
                      </a:r>
                      <a:r>
                        <a:rPr lang="en-US" sz="1400" dirty="0" err="1" smtClean="0"/>
                        <a:t>nj’eso</a:t>
                      </a:r>
                      <a:r>
                        <a:rPr lang="en-US" sz="1400" dirty="0" smtClean="0"/>
                        <a:t> </a:t>
                      </a:r>
                      <a:r>
                        <a:rPr lang="en-US" sz="1400" dirty="0" err="1" smtClean="0"/>
                        <a:t>kii</a:t>
                      </a:r>
                      <a:r>
                        <a:rPr lang="en-US" sz="1400" dirty="0" smtClean="0"/>
                        <a:t> </a:t>
                      </a:r>
                      <a:r>
                        <a:rPr lang="en-US" sz="1400" dirty="0" err="1" smtClean="0"/>
                        <a:t>ke</a:t>
                      </a:r>
                      <a:endParaRPr lang="en-US" sz="1400" dirty="0"/>
                    </a:p>
                  </a:txBody>
                  <a:tcPr/>
                </a:tc>
                <a:tc>
                  <a:txBody>
                    <a:bodyPr/>
                    <a:lstStyle/>
                    <a:p>
                      <a:pPr algn="l"/>
                      <a:r>
                        <a:rPr lang="en-US" sz="1400" dirty="0" smtClean="0"/>
                        <a:t>Beaded Batik Tapestry                   (BBT)</a:t>
                      </a:r>
                      <a:endParaRPr lang="en-US" sz="1400" dirty="0"/>
                    </a:p>
                  </a:txBody>
                  <a:tcPr/>
                </a:tc>
                <a:tc>
                  <a:txBody>
                    <a:bodyPr/>
                    <a:lstStyle/>
                    <a:p>
                      <a:pPr algn="r"/>
                      <a:r>
                        <a:rPr lang="en-US" sz="1400" dirty="0" smtClean="0"/>
                        <a:t>22000</a:t>
                      </a:r>
                      <a:endParaRPr lang="en-US" sz="1400" dirty="0"/>
                    </a:p>
                  </a:txBody>
                  <a:tcPr/>
                </a:tc>
                <a:tc>
                  <a:txBody>
                    <a:bodyPr/>
                    <a:lstStyle/>
                    <a:p>
                      <a:pPr algn="r"/>
                      <a:r>
                        <a:rPr lang="en-US" sz="1400" dirty="0" smtClean="0"/>
                        <a:t>5,000,000</a:t>
                      </a:r>
                    </a:p>
                  </a:txBody>
                  <a:tcPr/>
                </a:tc>
                <a:extLst>
                  <a:ext uri="{0D108BD9-81ED-4DB2-BD59-A6C34878D82A}">
                    <a16:rowId xmlns:a16="http://schemas.microsoft.com/office/drawing/2014/main" xmlns="" val="715716462"/>
                  </a:ext>
                </a:extLst>
              </a:tr>
              <a:tr h="320220">
                <a:tc>
                  <a:txBody>
                    <a:bodyPr/>
                    <a:lstStyle/>
                    <a:p>
                      <a:r>
                        <a:rPr lang="en-US" sz="1400" dirty="0" err="1" smtClean="0"/>
                        <a:t>B’awo</a:t>
                      </a:r>
                      <a:r>
                        <a:rPr lang="en-US" sz="1400" dirty="0" smtClean="0"/>
                        <a:t> o </a:t>
                      </a:r>
                      <a:r>
                        <a:rPr lang="en-US" sz="1400" dirty="0" err="1" smtClean="0"/>
                        <a:t>ka’ju</a:t>
                      </a:r>
                      <a:r>
                        <a:rPr lang="en-US" sz="1400" dirty="0" smtClean="0"/>
                        <a:t> </a:t>
                      </a:r>
                      <a:r>
                        <a:rPr lang="en-US" sz="1400" dirty="0" err="1" smtClean="0"/>
                        <a:t>ilu</a:t>
                      </a:r>
                      <a:endParaRPr lang="en-US" sz="1400" dirty="0" smtClean="0"/>
                    </a:p>
                  </a:txBody>
                  <a:tcPr/>
                </a:tc>
                <a:tc>
                  <a:txBody>
                    <a:bodyPr/>
                    <a:lstStyle/>
                    <a:p>
                      <a:pPr algn="l"/>
                      <a:r>
                        <a:rPr lang="en-US" sz="1400" dirty="0" smtClean="0"/>
                        <a:t>Batik Quilt Tapestry                        (BQT)</a:t>
                      </a:r>
                      <a:endParaRPr lang="en-US" sz="1400" dirty="0"/>
                    </a:p>
                  </a:txBody>
                  <a:tcPr/>
                </a:tc>
                <a:tc>
                  <a:txBody>
                    <a:bodyPr/>
                    <a:lstStyle/>
                    <a:p>
                      <a:pPr algn="r"/>
                      <a:r>
                        <a:rPr lang="en-US" sz="1400" dirty="0" smtClean="0"/>
                        <a:t>10000</a:t>
                      </a:r>
                      <a:endParaRPr lang="en-US" sz="1400" dirty="0"/>
                    </a:p>
                  </a:txBody>
                  <a:tcPr/>
                </a:tc>
                <a:tc>
                  <a:txBody>
                    <a:bodyPr/>
                    <a:lstStyle/>
                    <a:p>
                      <a:pPr algn="r"/>
                      <a:r>
                        <a:rPr lang="en-US" sz="1400" dirty="0" smtClean="0"/>
                        <a:t>1,750,000</a:t>
                      </a:r>
                    </a:p>
                  </a:txBody>
                  <a:tcPr/>
                </a:tc>
                <a:extLst>
                  <a:ext uri="{0D108BD9-81ED-4DB2-BD59-A6C34878D82A}">
                    <a16:rowId xmlns:a16="http://schemas.microsoft.com/office/drawing/2014/main" xmlns="" val="2436586354"/>
                  </a:ext>
                </a:extLst>
              </a:tr>
              <a:tr h="320220">
                <a:tc>
                  <a:txBody>
                    <a:bodyPr/>
                    <a:lstStyle/>
                    <a:p>
                      <a:r>
                        <a:rPr lang="en-US" sz="1400" dirty="0" smtClean="0"/>
                        <a:t>Concrete Jungle</a:t>
                      </a:r>
                      <a:endParaRPr lang="en-US" sz="1400" dirty="0"/>
                    </a:p>
                  </a:txBody>
                  <a:tcPr/>
                </a:tc>
                <a:tc>
                  <a:txBody>
                    <a:bodyPr/>
                    <a:lstStyle/>
                    <a:p>
                      <a:pPr algn="l"/>
                      <a:r>
                        <a:rPr lang="en-US" sz="1400" dirty="0" smtClean="0"/>
                        <a:t>Batik Quilt Tapestry                         (BQT)</a:t>
                      </a:r>
                      <a:endParaRPr lang="en-US" sz="1400" dirty="0"/>
                    </a:p>
                  </a:txBody>
                  <a:tcPr/>
                </a:tc>
                <a:tc>
                  <a:txBody>
                    <a:bodyPr/>
                    <a:lstStyle/>
                    <a:p>
                      <a:pPr algn="r"/>
                      <a:r>
                        <a:rPr lang="en-US" sz="1400" dirty="0" smtClean="0"/>
                        <a:t>12000</a:t>
                      </a:r>
                      <a:endParaRPr lang="en-US" sz="1400" dirty="0"/>
                    </a:p>
                  </a:txBody>
                  <a:tcPr/>
                </a:tc>
                <a:tc>
                  <a:txBody>
                    <a:bodyPr/>
                    <a:lstStyle/>
                    <a:p>
                      <a:pPr algn="r"/>
                      <a:r>
                        <a:rPr lang="en-US" sz="1400" dirty="0" smtClean="0"/>
                        <a:t>2,000,000</a:t>
                      </a:r>
                    </a:p>
                  </a:txBody>
                  <a:tcPr/>
                </a:tc>
                <a:extLst>
                  <a:ext uri="{0D108BD9-81ED-4DB2-BD59-A6C34878D82A}">
                    <a16:rowId xmlns:a16="http://schemas.microsoft.com/office/drawing/2014/main" xmlns="" val="2484528700"/>
                  </a:ext>
                </a:extLst>
              </a:tr>
              <a:tr h="320220">
                <a:tc>
                  <a:txBody>
                    <a:bodyPr/>
                    <a:lstStyle/>
                    <a:p>
                      <a:r>
                        <a:rPr lang="en-US" sz="1400" dirty="0" smtClean="0"/>
                        <a:t>This World Our World</a:t>
                      </a:r>
                      <a:endParaRPr lang="en-US" sz="1400" dirty="0"/>
                    </a:p>
                  </a:txBody>
                  <a:tcPr/>
                </a:tc>
                <a:tc>
                  <a:txBody>
                    <a:bodyPr/>
                    <a:lstStyle/>
                    <a:p>
                      <a:pPr algn="l"/>
                      <a:r>
                        <a:rPr lang="en-US" sz="1400" dirty="0" smtClean="0"/>
                        <a:t>Batik Quilt Tapestry                         (BQT)</a:t>
                      </a:r>
                      <a:endParaRPr lang="en-US" sz="1400" dirty="0"/>
                    </a:p>
                  </a:txBody>
                  <a:tcPr/>
                </a:tc>
                <a:tc>
                  <a:txBody>
                    <a:bodyPr/>
                    <a:lstStyle/>
                    <a:p>
                      <a:pPr algn="r"/>
                      <a:r>
                        <a:rPr lang="en-US" sz="1400" dirty="0" smtClean="0"/>
                        <a:t>25000</a:t>
                      </a:r>
                      <a:endParaRPr lang="en-US" sz="1400" dirty="0"/>
                    </a:p>
                  </a:txBody>
                  <a:tcPr/>
                </a:tc>
                <a:tc>
                  <a:txBody>
                    <a:bodyPr/>
                    <a:lstStyle/>
                    <a:p>
                      <a:pPr algn="r"/>
                      <a:r>
                        <a:rPr lang="en-US" sz="1400" dirty="0" smtClean="0"/>
                        <a:t>6,000,000</a:t>
                      </a:r>
                    </a:p>
                  </a:txBody>
                  <a:tcPr/>
                </a:tc>
                <a:extLst>
                  <a:ext uri="{0D108BD9-81ED-4DB2-BD59-A6C34878D82A}">
                    <a16:rowId xmlns:a16="http://schemas.microsoft.com/office/drawing/2014/main" xmlns="" val="1880792772"/>
                  </a:ext>
                </a:extLst>
              </a:tr>
              <a:tr h="320220">
                <a:tc>
                  <a:txBody>
                    <a:bodyPr/>
                    <a:lstStyle/>
                    <a:p>
                      <a:endParaRPr lang="en-US" sz="1400" dirty="0"/>
                    </a:p>
                  </a:txBody>
                  <a:tcPr/>
                </a:tc>
                <a:tc>
                  <a:txBody>
                    <a:bodyPr/>
                    <a:lstStyle/>
                    <a:p>
                      <a:pPr algn="l"/>
                      <a:endParaRPr lang="en-US" sz="1400" dirty="0"/>
                    </a:p>
                  </a:txBody>
                  <a:tcPr/>
                </a:tc>
                <a:tc>
                  <a:txBody>
                    <a:bodyPr/>
                    <a:lstStyle/>
                    <a:p>
                      <a:pPr algn="r"/>
                      <a:endParaRPr lang="en-US" sz="1400" dirty="0"/>
                    </a:p>
                  </a:txBody>
                  <a:tcPr/>
                </a:tc>
                <a:tc>
                  <a:txBody>
                    <a:bodyPr/>
                    <a:lstStyle/>
                    <a:p>
                      <a:pPr algn="r"/>
                      <a:endParaRPr lang="en-US" sz="1400" dirty="0" smtClean="0"/>
                    </a:p>
                  </a:txBody>
                  <a:tcPr/>
                </a:tc>
                <a:extLst>
                  <a:ext uri="{0D108BD9-81ED-4DB2-BD59-A6C34878D82A}">
                    <a16:rowId xmlns:a16="http://schemas.microsoft.com/office/drawing/2014/main" xmlns="" val="3175641896"/>
                  </a:ext>
                </a:extLst>
              </a:tr>
            </a:tbl>
          </a:graphicData>
        </a:graphic>
      </p:graphicFrame>
    </p:spTree>
    <p:extLst>
      <p:ext uri="{BB962C8B-B14F-4D97-AF65-F5344CB8AC3E}">
        <p14:creationId xmlns:p14="http://schemas.microsoft.com/office/powerpoint/2010/main" xmlns="" val="3032269745"/>
      </p:ext>
    </p:extLst>
  </p:cSld>
  <p:clrMapOvr>
    <a:masterClrMapping/>
  </p:clrMapOvr>
  <mc:AlternateContent xmlns:mc="http://schemas.openxmlformats.org/markup-compatibility/2006">
    <mc:Choice xmlns:p14="http://schemas.microsoft.com/office/powerpoint/2010/main" xmlns="" Requires="p14">
      <p:transition spd="slow" p14:dur="1500">
        <p:random/>
      </p:transition>
    </mc:Choice>
    <mc:Fallback>
      <p:transition spd="slow">
        <p:random/>
      </p:transition>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3306</TotalTime>
  <Words>5771</Words>
  <Application>Microsoft Office PowerPoint</Application>
  <PresentationFormat>Custom</PresentationFormat>
  <Paragraphs>366</Paragraphs>
  <Slides>32</Slides>
  <Notes>0</Notes>
  <HiddenSlides>0</HiddenSlides>
  <MMClips>0</MMClip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Office Theme</vt:lpstr>
      <vt:lpstr>TUNDE ODUNLADE  Nigerian Artist And Musician</vt:lpstr>
      <vt:lpstr>Slide 2</vt:lpstr>
      <vt:lpstr>At the Calvary Artist’s inspiration on the piece</vt:lpstr>
      <vt:lpstr>Slide 4</vt:lpstr>
      <vt:lpstr>Eiye t’o njeso kii ke Artist’s inspiration on the piece</vt:lpstr>
      <vt:lpstr>Slide 6</vt:lpstr>
      <vt:lpstr>Prayers Artist’s inspiration on the piece</vt:lpstr>
      <vt:lpstr>Slide 8</vt:lpstr>
      <vt:lpstr>Olugbodi Artist’s inspiration on the piece</vt:lpstr>
      <vt:lpstr>Slide 10</vt:lpstr>
      <vt:lpstr>Ikorita (Intersections) Artist’s inspiration on the piece</vt:lpstr>
      <vt:lpstr>Slide 12</vt:lpstr>
      <vt:lpstr>WWW Artist’s inspiration on the piece</vt:lpstr>
      <vt:lpstr>Slide 14</vt:lpstr>
      <vt:lpstr>A compendium of knowledge transfered Artist’s inspiration on the piece</vt:lpstr>
      <vt:lpstr>Slide 16</vt:lpstr>
      <vt:lpstr>Reaching for the star Artist’s inspiration on the piece</vt:lpstr>
      <vt:lpstr>Slide 18</vt:lpstr>
      <vt:lpstr>Every mickle makes a muckle Artist’s inspiration on the piece</vt:lpstr>
      <vt:lpstr>Slide 20</vt:lpstr>
      <vt:lpstr>Royal Bird: Beaded Batik Quilt Tapestry Artist’s inspiration on the piece</vt:lpstr>
      <vt:lpstr>Slide 22</vt:lpstr>
      <vt:lpstr>Our World From above Artist’s inspiration on the piece</vt:lpstr>
      <vt:lpstr>Slide 24</vt:lpstr>
      <vt:lpstr>Seleru Agbo Artist’s inspiration on the piece</vt:lpstr>
      <vt:lpstr>Slide 26</vt:lpstr>
      <vt:lpstr>The way we Are Artist’s inspiration on the piece</vt:lpstr>
      <vt:lpstr>Slide 28</vt:lpstr>
      <vt:lpstr>Concrete Jungle Artist’s inspiration on the piece</vt:lpstr>
      <vt:lpstr>Slide 30</vt:lpstr>
      <vt:lpstr>Bawo o ka’ju ilu, yiya nii ya Artist’s inspiration on the piece</vt:lpstr>
      <vt:lpstr>Slide 32</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tunde odunlade</dc:creator>
  <cp:lastModifiedBy>tundeodunlade</cp:lastModifiedBy>
  <cp:revision>45</cp:revision>
  <dcterms:created xsi:type="dcterms:W3CDTF">2019-09-19T16:48:27Z</dcterms:created>
  <dcterms:modified xsi:type="dcterms:W3CDTF">2024-07-29T07:29:19Z</dcterms:modified>
</cp:coreProperties>
</file>